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alibri (MS) Bold" charset="1" panose="020F0702030404030204"/>
      <p:regular r:id="rId28"/>
    </p:embeddedFont>
    <p:embeddedFont>
      <p:font typeface="Calibri (MS)" charset="1" panose="020F0502020204030204"/>
      <p:regular r:id="rId29"/>
    </p:embeddedFont>
    <p:embeddedFont>
      <p:font typeface="Calibri (MS) Italics" charset="1" panose="020F05020202040A0204"/>
      <p:regular r:id="rId31"/>
    </p:embeddedFont>
    <p:embeddedFont>
      <p:font typeface="Canva Sans" charset="1" panose="020B0503030501040103"/>
      <p:regular r:id="rId32"/>
    </p:embeddedFont>
    <p:embeddedFont>
      <p:font typeface="Arial Bold" charset="1" panose="020B0704020202020204"/>
      <p:regular r:id="rId36"/>
    </p:embeddedFont>
    <p:embeddedFont>
      <p:font typeface="Arial" charset="1" panose="020B0604020202020204"/>
      <p:regular r:id="rId37"/>
    </p:embeddedFont>
    <p:embeddedFont>
      <p:font typeface="Arial Italics" charset="1" panose="020B060402020209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notesSlides/notesSlide6.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[0:00 à 0:20] Bonjour Monsieur, bonjour à tous. Nous sommes l'équipe PipelineForge, huit étudiants. Notre projet est un assistant scientifique documentaire : on lui pose une question en langage naturel, et il répond en citant les passages d'articles biomédicaux sur lesquels il s'appuie. Nous allons vous montrer la chaîne complète, de la collecte des données jusqu'au déploiement, chacun présentant sa partie. (Ajouter « avec une démonstration en direct à la fin » seulement si elle est prévue.) Je commence par le problème, l'architecture d'ensemble et l'ingestion des données.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[0:20 à 1:05] Un modèle de langage seul a deux limites : ses connaissances s'arrêtent à sa date d'entraînement, et il peut halluciner, c'est-à-dire produire des réponses plausibles mais fausses. En biomédical, une réponse fausse est dangereuse. La solution s'appelle RAG : au moment de la question, on va chercher dans un index de documents les passages les plus proches, et on les donne au modèle. Notre objectif : un assistant qui répond en français et cite les passages d'articles sur lesquels il s'appuie. À droite, le parcours d'une question : récupération, génération, réponse sourcée. (Si possible, ajouter ici une capture de l'interface avec une vraie réponse.)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[1:05 à 2:10] Voici le pipeline complet. Le module en décrit les étapes : ingestion, stockage, transformations, tests qualité, orchestration, machine learning, suivi, service, conteneurisation, CI/CD, monitoring. Nous les avons toutes couvertes, avec quelques outils différents : dlt, DuckDB et dbt sont remplacés par l'API PubMed Central, des fichiers Parquet et un découpage en chunks ; Dagster par Prefect ; scikit-learn par un modèle d'embeddings, une base vectorielle Chroma et un modèle de langage via Groq. MLflow, FastAPI, Docker et GitHub Actions sont ceux du cours. Chaque sprint consomme le livrable du précédent : 700 articles, puis 32 146 chunks validés, puis des vecteurs de 768 dimensions, puis un service déployé. (À préparer : la vraie raison du choix de ces outils, si on vous la demande. Ne l'affirmer que si elle est exacte.)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[2:10 à 4:20] Ma partie : l'ingestion, c'est-à-dire la collecte du corpus. Notre source est PubMed Central en accès ouvert. J'ai interrogé l'API de la NCBI avec dix requêtes thématiques (cancer, vaccin, diabète, épidémiologie, etc.), en gardant seulement les articles open access ou manuscrits d'auteurs, jusqu'à 150 résultats par mot-clé et 700 articles au total. Le texte intégral et les métadonnées viennent du bucket S3 public de PMC. Le script respecte la limite de trois requêtes par seconde de la NCBI et réessaie après 2 puis 4 secondes en cas d'échec. Le livrable : 700 articles, soit 1 400 fichiers (le texte et ses métadonnées), plus un index CSV avec l'identifiant, le titre, la licence, le DOI, la taille et le mot-clé. La décision importante : garder la licence dès la source. Sur 700 articles, 367 sont en CC BY, 329 en licence non commerciale, et 4 sont marqués TDM, donc restreints. Ce champ suit tout le projet : l'indicateur restricted_license à la transformation, les tests qualité de Hanane, puis le filtre where de l'API. [4:20 à 4:45] Je passe la parole à Imane, qui transforme ces 700 articles en 32 146 passages.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Dans le Sprint 2, ma mission était l’orchestration du pipeline de données. Avant mon intervention, les différentes étapes existaient déjà, mais elles étaient exécutées séparément et manuellement. Mon objectif était donc de créer un workflow séquentiel, reproductible et observable.</a:t>
            </a:r>
          </a:p>
          <a:p>
            <a:r>
              <a:rPr lang="en-US"/>
              <a:t/>
            </a:r>
          </a:p>
          <a:p>
            <a:r>
              <a:rPr lang="en-US"/>
              <a:t>Pour cela, j’ai utilisé Prefect 3.8.4. J’ai créé un flow qui automatise toute la chaîne. La première étape vérifie que les données brutes sont bien disponibles. Ensuite, le pipeline lance le script de transformation qui convertit les articles en chunks. Après cela, il exécute automatiquement les tests de qualité avec Pytest. Si les tests passent, le pipeline lance la validation qualité du corpus. Ensuite, il vérifie que le fichier validé a bien été généré dans le dossier data/validated. Enfin, il confirme que les données sont prêtes à être transmises à l’étape suivante, c’est-à-dire les embeddings.</a:t>
            </a:r>
          </a:p>
          <a:p>
            <a:r>
              <a:rPr lang="en-US"/>
              <a:t/>
            </a:r>
          </a:p>
          <a:p>
            <a:r>
              <a:rPr lang="en-US"/>
              <a:t>J’ai également ajouté des mécanismes de retry sur certaines tâches. Cela permet à Prefect de relancer automatiquement une tâche en cas d’échec temporaire. Les logs Prefect permettent aussi de suivre l’état de chaque étape, par exemple si une tâche est en cours, terminée ou en échec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[0:00 à 0:20] Bonjour Monsieur, bonjour à tous. Nous sommes l'équipe PipelineForge, huit étudiants. Notre projet est un assistant scientifique documentaire : on lui pose une question en langage naturel, et il répond en citant les passages d'articles biomédicaux sur lesquels il s'appuie. Nous allons vous montrer la chaîne complète, de la collecte des données jusqu'au déploiement, chacun présentant sa partie. (Ajouter « avec une démonstration en direct à la fin » seulement si elle est prévue.) Je commence par le problème, l'architecture d'ensemble et l'ingestion des données.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A1C26"/>
            </a:solidFill>
          </p:spPr>
        </p:sp>
      </p:grpSp>
      <p:grpSp>
        <p:nvGrpSpPr>
          <p:cNvPr name="Group 4" id="4"/>
          <p:cNvGrpSpPr/>
          <p:nvPr/>
        </p:nvGrpSpPr>
        <p:grpSpPr>
          <a:xfrm rot="0">
            <a:off x="1181100" y="5810250"/>
            <a:ext cx="1905000" cy="57150"/>
            <a:chOff x="0" y="0"/>
            <a:chExt cx="2540000" cy="76200"/>
          </a:xfrm>
        </p:grpSpPr>
        <p:sp>
          <p:nvSpPr>
            <p:cNvPr name="Freeform 5" id="5"/>
            <p:cNvSpPr/>
            <p:nvPr/>
          </p:nvSpPr>
          <p:spPr>
            <a:xfrm flipH="false" flipV="false" rot="0">
              <a:off x="0" y="0"/>
              <a:ext cx="2539997" cy="76200"/>
            </a:xfrm>
            <a:custGeom>
              <a:avLst/>
              <a:gdLst/>
              <a:ahLst/>
              <a:cxnLst/>
              <a:rect r="r" b="b" t="t" l="l"/>
              <a:pathLst>
                <a:path h="76200" w="2539997">
                  <a:moveTo>
                    <a:pt x="0" y="0"/>
                  </a:moveTo>
                  <a:lnTo>
                    <a:pt x="2539997" y="0"/>
                  </a:lnTo>
                  <a:lnTo>
                    <a:pt x="2539997" y="76200"/>
                  </a:lnTo>
                  <a:lnTo>
                    <a:pt x="0" y="76200"/>
                  </a:lnTo>
                  <a:close/>
                </a:path>
              </a:pathLst>
            </a:custGeom>
            <a:solidFill>
              <a:srgbClr val="0D8F83"/>
            </a:solidFill>
          </p:spPr>
        </p:sp>
      </p:grpSp>
      <p:grpSp>
        <p:nvGrpSpPr>
          <p:cNvPr name="Group 6" id="6"/>
          <p:cNvGrpSpPr/>
          <p:nvPr/>
        </p:nvGrpSpPr>
        <p:grpSpPr>
          <a:xfrm rot="0">
            <a:off x="1190625" y="9048750"/>
            <a:ext cx="3810000" cy="609600"/>
            <a:chOff x="0" y="0"/>
            <a:chExt cx="5080000" cy="812800"/>
          </a:xfrm>
        </p:grpSpPr>
        <p:sp>
          <p:nvSpPr>
            <p:cNvPr name="Freeform 7" id="7"/>
            <p:cNvSpPr/>
            <p:nvPr/>
          </p:nvSpPr>
          <p:spPr>
            <a:xfrm flipH="false" flipV="false" rot="0">
              <a:off x="0" y="0"/>
              <a:ext cx="5080013" cy="812800"/>
            </a:xfrm>
            <a:custGeom>
              <a:avLst/>
              <a:gdLst/>
              <a:ahLst/>
              <a:cxnLst/>
              <a:rect r="r" b="b" t="t" l="l"/>
              <a:pathLst>
                <a:path h="812800" w="5080013">
                  <a:moveTo>
                    <a:pt x="0" y="0"/>
                  </a:moveTo>
                  <a:lnTo>
                    <a:pt x="5080013" y="0"/>
                  </a:lnTo>
                  <a:lnTo>
                    <a:pt x="5080013" y="812800"/>
                  </a:lnTo>
                  <a:lnTo>
                    <a:pt x="0" y="812800"/>
                  </a:lnTo>
                  <a:close/>
                </a:path>
              </a:pathLst>
            </a:custGeom>
            <a:solidFill>
              <a:srgbClr val="0D8F83"/>
            </a:solidFill>
          </p:spPr>
        </p:sp>
        <p:sp>
          <p:nvSpPr>
            <p:cNvPr name="TextBox 8" id="8"/>
            <p:cNvSpPr txBox="true"/>
            <p:nvPr/>
          </p:nvSpPr>
          <p:spPr>
            <a:xfrm>
              <a:off x="0" y="-19050"/>
              <a:ext cx="5080000" cy="831850"/>
            </a:xfrm>
            <a:prstGeom prst="rect">
              <a:avLst/>
            </a:prstGeom>
          </p:spPr>
          <p:txBody>
            <a:bodyPr anchor="ctr" rtlCol="false" tIns="50800" lIns="50800" bIns="50800" rIns="50800"/>
            <a:lstStyle/>
            <a:p>
              <a:pPr algn="ctr">
                <a:lnSpc>
                  <a:spcPts val="1889"/>
                </a:lnSpc>
              </a:pPr>
              <a:r>
                <a:rPr lang="en-US" sz="1575" b="true">
                  <a:solidFill>
                    <a:srgbClr val="FFFFFF"/>
                  </a:solidFill>
                  <a:latin typeface="Calibri (MS) Bold"/>
                  <a:ea typeface="Calibri (MS) Bold"/>
                  <a:cs typeface="Calibri (MS) Bold"/>
                  <a:sym typeface="Calibri (MS) Bold"/>
                </a:rPr>
                <a:t>Sprint 1 · Ingestion</a:t>
              </a:r>
            </a:p>
          </p:txBody>
        </p:sp>
      </p:grpSp>
      <p:grpSp>
        <p:nvGrpSpPr>
          <p:cNvPr name="Group 9" id="9"/>
          <p:cNvGrpSpPr/>
          <p:nvPr/>
        </p:nvGrpSpPr>
        <p:grpSpPr>
          <a:xfrm rot="0">
            <a:off x="5286375" y="9048750"/>
            <a:ext cx="3810000" cy="630096"/>
            <a:chOff x="0" y="0"/>
            <a:chExt cx="5080000" cy="840129"/>
          </a:xfrm>
        </p:grpSpPr>
        <p:sp>
          <p:nvSpPr>
            <p:cNvPr name="Freeform 10" id="10"/>
            <p:cNvSpPr/>
            <p:nvPr/>
          </p:nvSpPr>
          <p:spPr>
            <a:xfrm flipH="false" flipV="false" rot="0">
              <a:off x="0" y="0"/>
              <a:ext cx="5080051" cy="840129"/>
            </a:xfrm>
            <a:custGeom>
              <a:avLst/>
              <a:gdLst/>
              <a:ahLst/>
              <a:cxnLst/>
              <a:rect r="r" b="b" t="t" l="l"/>
              <a:pathLst>
                <a:path h="840129" w="5080051">
                  <a:moveTo>
                    <a:pt x="0" y="0"/>
                  </a:moveTo>
                  <a:lnTo>
                    <a:pt x="5080051" y="0"/>
                  </a:lnTo>
                  <a:lnTo>
                    <a:pt x="5080051" y="840129"/>
                  </a:lnTo>
                  <a:lnTo>
                    <a:pt x="0" y="840129"/>
                  </a:lnTo>
                  <a:close/>
                </a:path>
              </a:pathLst>
            </a:custGeom>
            <a:solidFill>
              <a:srgbClr val="E8B44C"/>
            </a:solidFill>
          </p:spPr>
        </p:sp>
        <p:sp>
          <p:nvSpPr>
            <p:cNvPr name="TextBox 11" id="11"/>
            <p:cNvSpPr txBox="true"/>
            <p:nvPr/>
          </p:nvSpPr>
          <p:spPr>
            <a:xfrm>
              <a:off x="0" y="-19050"/>
              <a:ext cx="5080000" cy="859179"/>
            </a:xfrm>
            <a:prstGeom prst="rect">
              <a:avLst/>
            </a:prstGeom>
          </p:spPr>
          <p:txBody>
            <a:bodyPr anchor="ctr" rtlCol="false" tIns="50800" lIns="50800" bIns="50800" rIns="50800"/>
            <a:lstStyle/>
            <a:p>
              <a:pPr algn="ctr">
                <a:lnSpc>
                  <a:spcPts val="1889"/>
                </a:lnSpc>
              </a:pPr>
              <a:r>
                <a:rPr lang="en-US" sz="1575" b="true">
                  <a:solidFill>
                    <a:srgbClr val="0A1C26"/>
                  </a:solidFill>
                  <a:latin typeface="Calibri (MS) Bold"/>
                  <a:ea typeface="Calibri (MS) Bold"/>
                  <a:cs typeface="Calibri (MS) Bold"/>
                  <a:sym typeface="Calibri (MS) Bold"/>
                </a:rPr>
                <a:t>Sprint 2 · Transformation, Qualité, Orchestration</a:t>
              </a:r>
            </a:p>
          </p:txBody>
        </p:sp>
      </p:grpSp>
      <p:grpSp>
        <p:nvGrpSpPr>
          <p:cNvPr name="Group 12" id="12"/>
          <p:cNvGrpSpPr/>
          <p:nvPr/>
        </p:nvGrpSpPr>
        <p:grpSpPr>
          <a:xfrm rot="0">
            <a:off x="9382125" y="9048750"/>
            <a:ext cx="3810000" cy="609600"/>
            <a:chOff x="0" y="0"/>
            <a:chExt cx="5080000" cy="812800"/>
          </a:xfrm>
        </p:grpSpPr>
        <p:sp>
          <p:nvSpPr>
            <p:cNvPr name="Freeform 13" id="13"/>
            <p:cNvSpPr/>
            <p:nvPr/>
          </p:nvSpPr>
          <p:spPr>
            <a:xfrm flipH="false" flipV="false" rot="0">
              <a:off x="0" y="0"/>
              <a:ext cx="5080038" cy="812800"/>
            </a:xfrm>
            <a:custGeom>
              <a:avLst/>
              <a:gdLst/>
              <a:ahLst/>
              <a:cxnLst/>
              <a:rect r="r" b="b" t="t" l="l"/>
              <a:pathLst>
                <a:path h="812800" w="5080038">
                  <a:moveTo>
                    <a:pt x="0" y="0"/>
                  </a:moveTo>
                  <a:lnTo>
                    <a:pt x="5080038" y="0"/>
                  </a:lnTo>
                  <a:lnTo>
                    <a:pt x="5080038" y="812800"/>
                  </a:lnTo>
                  <a:lnTo>
                    <a:pt x="0" y="812800"/>
                  </a:lnTo>
                  <a:close/>
                </a:path>
              </a:pathLst>
            </a:custGeom>
            <a:solidFill>
              <a:srgbClr val="5B59E0"/>
            </a:solidFill>
          </p:spPr>
        </p:sp>
        <p:sp>
          <p:nvSpPr>
            <p:cNvPr name="TextBox 14" id="14"/>
            <p:cNvSpPr txBox="true"/>
            <p:nvPr/>
          </p:nvSpPr>
          <p:spPr>
            <a:xfrm>
              <a:off x="0" y="-19050"/>
              <a:ext cx="5080000" cy="831850"/>
            </a:xfrm>
            <a:prstGeom prst="rect">
              <a:avLst/>
            </a:prstGeom>
          </p:spPr>
          <p:txBody>
            <a:bodyPr anchor="ctr" rtlCol="false" tIns="50800" lIns="50800" bIns="50800" rIns="50800"/>
            <a:lstStyle/>
            <a:p>
              <a:pPr algn="ctr">
                <a:lnSpc>
                  <a:spcPts val="1889"/>
                </a:lnSpc>
              </a:pPr>
              <a:r>
                <a:rPr lang="en-US" sz="1575" b="true">
                  <a:solidFill>
                    <a:srgbClr val="FFFFFF"/>
                  </a:solidFill>
                  <a:latin typeface="Calibri (MS) Bold"/>
                  <a:ea typeface="Calibri (MS) Bold"/>
                  <a:cs typeface="Calibri (MS) Bold"/>
                  <a:sym typeface="Calibri (MS) Bold"/>
                </a:rPr>
                <a:t>Sprint 3 · Embeddings &amp; Chaîne RAG</a:t>
              </a:r>
            </a:p>
          </p:txBody>
        </p:sp>
      </p:grpSp>
      <p:grpSp>
        <p:nvGrpSpPr>
          <p:cNvPr name="Group 15" id="15"/>
          <p:cNvGrpSpPr/>
          <p:nvPr/>
        </p:nvGrpSpPr>
        <p:grpSpPr>
          <a:xfrm rot="0">
            <a:off x="13477875" y="9048750"/>
            <a:ext cx="3810000" cy="609600"/>
            <a:chOff x="0" y="0"/>
            <a:chExt cx="5080000" cy="812800"/>
          </a:xfrm>
        </p:grpSpPr>
        <p:sp>
          <p:nvSpPr>
            <p:cNvPr name="Freeform 16" id="16"/>
            <p:cNvSpPr/>
            <p:nvPr/>
          </p:nvSpPr>
          <p:spPr>
            <a:xfrm flipH="false" flipV="false" rot="0">
              <a:off x="0" y="0"/>
              <a:ext cx="5080012" cy="812800"/>
            </a:xfrm>
            <a:custGeom>
              <a:avLst/>
              <a:gdLst/>
              <a:ahLst/>
              <a:cxnLst/>
              <a:rect r="r" b="b" t="t" l="l"/>
              <a:pathLst>
                <a:path h="812800" w="5080012">
                  <a:moveTo>
                    <a:pt x="0" y="0"/>
                  </a:moveTo>
                  <a:lnTo>
                    <a:pt x="5080012" y="0"/>
                  </a:lnTo>
                  <a:lnTo>
                    <a:pt x="5080012" y="812800"/>
                  </a:lnTo>
                  <a:lnTo>
                    <a:pt x="0" y="812800"/>
                  </a:lnTo>
                  <a:close/>
                </a:path>
              </a:pathLst>
            </a:custGeom>
            <a:solidFill>
              <a:srgbClr val="C2374F"/>
            </a:solidFill>
          </p:spPr>
        </p:sp>
        <p:sp>
          <p:nvSpPr>
            <p:cNvPr name="TextBox 17" id="17"/>
            <p:cNvSpPr txBox="true"/>
            <p:nvPr/>
          </p:nvSpPr>
          <p:spPr>
            <a:xfrm>
              <a:off x="0" y="-19050"/>
              <a:ext cx="5080000" cy="831850"/>
            </a:xfrm>
            <a:prstGeom prst="rect">
              <a:avLst/>
            </a:prstGeom>
          </p:spPr>
          <p:txBody>
            <a:bodyPr anchor="ctr" rtlCol="false" tIns="50800" lIns="50800" bIns="50800" rIns="50800"/>
            <a:lstStyle/>
            <a:p>
              <a:pPr algn="ctr">
                <a:lnSpc>
                  <a:spcPts val="1889"/>
                </a:lnSpc>
              </a:pPr>
              <a:r>
                <a:rPr lang="en-US" sz="1575" b="true">
                  <a:solidFill>
                    <a:srgbClr val="FFFFFF"/>
                  </a:solidFill>
                  <a:latin typeface="Calibri (MS) Bold"/>
                  <a:ea typeface="Calibri (MS) Bold"/>
                  <a:cs typeface="Calibri (MS) Bold"/>
                  <a:sym typeface="Calibri (MS) Bold"/>
                </a:rPr>
                <a:t>Sprint 4 · API, Docker, CI/CD, Déploiement</a:t>
              </a:r>
            </a:p>
          </p:txBody>
        </p:sp>
      </p:grpSp>
      <p:grpSp>
        <p:nvGrpSpPr>
          <p:cNvPr name="Group 18" id="18"/>
          <p:cNvGrpSpPr/>
          <p:nvPr/>
        </p:nvGrpSpPr>
        <p:grpSpPr>
          <a:xfrm rot="0">
            <a:off x="11239500" y="571500"/>
            <a:ext cx="6134100" cy="7658100"/>
            <a:chOff x="0" y="0"/>
            <a:chExt cx="8178800" cy="10210800"/>
          </a:xfrm>
        </p:grpSpPr>
        <p:sp>
          <p:nvSpPr>
            <p:cNvPr name="Freeform 19" id="19"/>
            <p:cNvSpPr/>
            <p:nvPr/>
          </p:nvSpPr>
          <p:spPr>
            <a:xfrm flipH="false" flipV="false" rot="0">
              <a:off x="0" y="0"/>
              <a:ext cx="8178800" cy="10210800"/>
            </a:xfrm>
            <a:custGeom>
              <a:avLst/>
              <a:gdLst/>
              <a:ahLst/>
              <a:cxnLst/>
              <a:rect r="r" b="b" t="t" l="l"/>
              <a:pathLst>
                <a:path h="10210800" w="8178800">
                  <a:moveTo>
                    <a:pt x="0" y="0"/>
                  </a:moveTo>
                  <a:lnTo>
                    <a:pt x="50800" y="0"/>
                  </a:lnTo>
                  <a:lnTo>
                    <a:pt x="50800" y="50800"/>
                  </a:lnTo>
                  <a:lnTo>
                    <a:pt x="0" y="50800"/>
                  </a:lnTo>
                  <a:close/>
                  <a:moveTo>
                    <a:pt x="0" y="1016000"/>
                  </a:moveTo>
                  <a:lnTo>
                    <a:pt x="50800" y="1016000"/>
                  </a:lnTo>
                  <a:lnTo>
                    <a:pt x="50800" y="1066800"/>
                  </a:lnTo>
                  <a:lnTo>
                    <a:pt x="0" y="1066800"/>
                  </a:lnTo>
                  <a:close/>
                  <a:moveTo>
                    <a:pt x="0" y="2032000"/>
                  </a:moveTo>
                  <a:lnTo>
                    <a:pt x="50800" y="2032000"/>
                  </a:lnTo>
                  <a:lnTo>
                    <a:pt x="50800" y="2082800"/>
                  </a:lnTo>
                  <a:lnTo>
                    <a:pt x="0" y="2082800"/>
                  </a:lnTo>
                  <a:close/>
                  <a:moveTo>
                    <a:pt x="0" y="3048000"/>
                  </a:moveTo>
                  <a:lnTo>
                    <a:pt x="50800" y="3048000"/>
                  </a:lnTo>
                  <a:lnTo>
                    <a:pt x="50800" y="3098800"/>
                  </a:lnTo>
                  <a:lnTo>
                    <a:pt x="0" y="3098800"/>
                  </a:lnTo>
                  <a:close/>
                  <a:moveTo>
                    <a:pt x="0" y="4064000"/>
                  </a:moveTo>
                  <a:lnTo>
                    <a:pt x="50800" y="4064000"/>
                  </a:lnTo>
                  <a:lnTo>
                    <a:pt x="50800" y="4114800"/>
                  </a:lnTo>
                  <a:lnTo>
                    <a:pt x="0" y="4114800"/>
                  </a:lnTo>
                  <a:close/>
                  <a:moveTo>
                    <a:pt x="0" y="5080000"/>
                  </a:moveTo>
                  <a:lnTo>
                    <a:pt x="50800" y="5080000"/>
                  </a:lnTo>
                  <a:lnTo>
                    <a:pt x="50800" y="5130800"/>
                  </a:lnTo>
                  <a:lnTo>
                    <a:pt x="0" y="5130800"/>
                  </a:lnTo>
                  <a:close/>
                  <a:moveTo>
                    <a:pt x="0" y="6096000"/>
                  </a:moveTo>
                  <a:lnTo>
                    <a:pt x="50800" y="6096000"/>
                  </a:lnTo>
                  <a:lnTo>
                    <a:pt x="50800" y="6146800"/>
                  </a:lnTo>
                  <a:lnTo>
                    <a:pt x="0" y="6146800"/>
                  </a:lnTo>
                  <a:close/>
                  <a:moveTo>
                    <a:pt x="0" y="7112000"/>
                  </a:moveTo>
                  <a:lnTo>
                    <a:pt x="50800" y="7112000"/>
                  </a:lnTo>
                  <a:lnTo>
                    <a:pt x="50800" y="7162800"/>
                  </a:lnTo>
                  <a:lnTo>
                    <a:pt x="0" y="7162800"/>
                  </a:lnTo>
                  <a:close/>
                  <a:moveTo>
                    <a:pt x="0" y="8128000"/>
                  </a:moveTo>
                  <a:lnTo>
                    <a:pt x="50800" y="8128000"/>
                  </a:lnTo>
                  <a:lnTo>
                    <a:pt x="50800" y="8178800"/>
                  </a:lnTo>
                  <a:lnTo>
                    <a:pt x="0" y="8178800"/>
                  </a:lnTo>
                  <a:close/>
                  <a:moveTo>
                    <a:pt x="0" y="9144000"/>
                  </a:moveTo>
                  <a:lnTo>
                    <a:pt x="50800" y="9144000"/>
                  </a:lnTo>
                  <a:lnTo>
                    <a:pt x="50800" y="9194800"/>
                  </a:lnTo>
                  <a:lnTo>
                    <a:pt x="0" y="9194800"/>
                  </a:lnTo>
                  <a:close/>
                  <a:moveTo>
                    <a:pt x="0" y="10160000"/>
                  </a:moveTo>
                  <a:lnTo>
                    <a:pt x="50800" y="10160000"/>
                  </a:lnTo>
                  <a:lnTo>
                    <a:pt x="50800" y="10210800"/>
                  </a:lnTo>
                  <a:lnTo>
                    <a:pt x="0" y="10210800"/>
                  </a:lnTo>
                  <a:close/>
                  <a:moveTo>
                    <a:pt x="1016000" y="0"/>
                  </a:moveTo>
                  <a:lnTo>
                    <a:pt x="1066800" y="0"/>
                  </a:lnTo>
                  <a:lnTo>
                    <a:pt x="1066800" y="50800"/>
                  </a:lnTo>
                  <a:lnTo>
                    <a:pt x="1016000" y="50800"/>
                  </a:lnTo>
                  <a:close/>
                  <a:moveTo>
                    <a:pt x="1016000" y="1016000"/>
                  </a:moveTo>
                  <a:lnTo>
                    <a:pt x="1066800" y="1016000"/>
                  </a:lnTo>
                  <a:lnTo>
                    <a:pt x="1066800" y="1066800"/>
                  </a:lnTo>
                  <a:lnTo>
                    <a:pt x="1016000" y="1066800"/>
                  </a:lnTo>
                  <a:close/>
                  <a:moveTo>
                    <a:pt x="1016000" y="2032000"/>
                  </a:moveTo>
                  <a:lnTo>
                    <a:pt x="1066800" y="2032000"/>
                  </a:lnTo>
                  <a:lnTo>
                    <a:pt x="1066800" y="2082800"/>
                  </a:lnTo>
                  <a:lnTo>
                    <a:pt x="1016000" y="2082800"/>
                  </a:lnTo>
                  <a:close/>
                  <a:moveTo>
                    <a:pt x="1016000" y="3048000"/>
                  </a:moveTo>
                  <a:lnTo>
                    <a:pt x="1066800" y="3048000"/>
                  </a:lnTo>
                  <a:lnTo>
                    <a:pt x="1066800" y="3098800"/>
                  </a:lnTo>
                  <a:lnTo>
                    <a:pt x="1016000" y="3098800"/>
                  </a:lnTo>
                  <a:close/>
                  <a:moveTo>
                    <a:pt x="1016000" y="4064000"/>
                  </a:moveTo>
                  <a:lnTo>
                    <a:pt x="1066800" y="4064000"/>
                  </a:lnTo>
                  <a:lnTo>
                    <a:pt x="1066800" y="4114800"/>
                  </a:lnTo>
                  <a:lnTo>
                    <a:pt x="1016000" y="4114800"/>
                  </a:lnTo>
                  <a:close/>
                  <a:moveTo>
                    <a:pt x="1016000" y="5080000"/>
                  </a:moveTo>
                  <a:lnTo>
                    <a:pt x="1066800" y="5080000"/>
                  </a:lnTo>
                  <a:lnTo>
                    <a:pt x="1066800" y="5130800"/>
                  </a:lnTo>
                  <a:lnTo>
                    <a:pt x="1016000" y="5130800"/>
                  </a:lnTo>
                  <a:close/>
                  <a:moveTo>
                    <a:pt x="1016000" y="6096000"/>
                  </a:moveTo>
                  <a:lnTo>
                    <a:pt x="1066800" y="6096000"/>
                  </a:lnTo>
                  <a:lnTo>
                    <a:pt x="1066800" y="6146800"/>
                  </a:lnTo>
                  <a:lnTo>
                    <a:pt x="1016000" y="6146800"/>
                  </a:lnTo>
                  <a:close/>
                  <a:moveTo>
                    <a:pt x="1016000" y="7112000"/>
                  </a:moveTo>
                  <a:lnTo>
                    <a:pt x="1066800" y="7112000"/>
                  </a:lnTo>
                  <a:lnTo>
                    <a:pt x="1066800" y="7162800"/>
                  </a:lnTo>
                  <a:lnTo>
                    <a:pt x="1016000" y="7162800"/>
                  </a:lnTo>
                  <a:close/>
                  <a:moveTo>
                    <a:pt x="1016000" y="8128000"/>
                  </a:moveTo>
                  <a:lnTo>
                    <a:pt x="1066800" y="8128000"/>
                  </a:lnTo>
                  <a:lnTo>
                    <a:pt x="1066800" y="8178800"/>
                  </a:lnTo>
                  <a:lnTo>
                    <a:pt x="1016000" y="8178800"/>
                  </a:lnTo>
                  <a:close/>
                  <a:moveTo>
                    <a:pt x="1016000" y="9144000"/>
                  </a:moveTo>
                  <a:lnTo>
                    <a:pt x="1066800" y="9144000"/>
                  </a:lnTo>
                  <a:lnTo>
                    <a:pt x="1066800" y="9194800"/>
                  </a:lnTo>
                  <a:lnTo>
                    <a:pt x="1016000" y="9194800"/>
                  </a:lnTo>
                  <a:close/>
                  <a:moveTo>
                    <a:pt x="1016000" y="10160000"/>
                  </a:moveTo>
                  <a:lnTo>
                    <a:pt x="1066800" y="10160000"/>
                  </a:lnTo>
                  <a:lnTo>
                    <a:pt x="1066800" y="10210800"/>
                  </a:lnTo>
                  <a:lnTo>
                    <a:pt x="1016000" y="10210800"/>
                  </a:lnTo>
                  <a:close/>
                  <a:moveTo>
                    <a:pt x="2032000" y="0"/>
                  </a:moveTo>
                  <a:lnTo>
                    <a:pt x="2082800" y="0"/>
                  </a:lnTo>
                  <a:lnTo>
                    <a:pt x="2082800" y="50800"/>
                  </a:lnTo>
                  <a:lnTo>
                    <a:pt x="2032000" y="50800"/>
                  </a:lnTo>
                  <a:close/>
                  <a:moveTo>
                    <a:pt x="2032000" y="1016000"/>
                  </a:moveTo>
                  <a:lnTo>
                    <a:pt x="2082800" y="1016000"/>
                  </a:lnTo>
                  <a:lnTo>
                    <a:pt x="2082800" y="1066800"/>
                  </a:lnTo>
                  <a:lnTo>
                    <a:pt x="2032000" y="1066800"/>
                  </a:lnTo>
                  <a:close/>
                  <a:moveTo>
                    <a:pt x="2032000" y="2032000"/>
                  </a:moveTo>
                  <a:lnTo>
                    <a:pt x="2082800" y="2032000"/>
                  </a:lnTo>
                  <a:lnTo>
                    <a:pt x="2082800" y="2082800"/>
                  </a:lnTo>
                  <a:lnTo>
                    <a:pt x="2032000" y="2082800"/>
                  </a:lnTo>
                  <a:close/>
                  <a:moveTo>
                    <a:pt x="2032000" y="3048000"/>
                  </a:moveTo>
                  <a:lnTo>
                    <a:pt x="2082800" y="3048000"/>
                  </a:lnTo>
                  <a:lnTo>
                    <a:pt x="2082800" y="3098800"/>
                  </a:lnTo>
                  <a:lnTo>
                    <a:pt x="2032000" y="3098800"/>
                  </a:lnTo>
                  <a:close/>
                  <a:moveTo>
                    <a:pt x="2032000" y="4064000"/>
                  </a:moveTo>
                  <a:lnTo>
                    <a:pt x="2082800" y="4064000"/>
                  </a:lnTo>
                  <a:lnTo>
                    <a:pt x="2082800" y="4114800"/>
                  </a:lnTo>
                  <a:lnTo>
                    <a:pt x="2032000" y="4114800"/>
                  </a:lnTo>
                  <a:close/>
                  <a:moveTo>
                    <a:pt x="2032000" y="5080000"/>
                  </a:moveTo>
                  <a:lnTo>
                    <a:pt x="2082800" y="5080000"/>
                  </a:lnTo>
                  <a:lnTo>
                    <a:pt x="2082800" y="5130800"/>
                  </a:lnTo>
                  <a:lnTo>
                    <a:pt x="2032000" y="5130800"/>
                  </a:lnTo>
                  <a:close/>
                  <a:moveTo>
                    <a:pt x="2032000" y="6096000"/>
                  </a:moveTo>
                  <a:lnTo>
                    <a:pt x="2082800" y="6096000"/>
                  </a:lnTo>
                  <a:lnTo>
                    <a:pt x="2082800" y="6146800"/>
                  </a:lnTo>
                  <a:lnTo>
                    <a:pt x="2032000" y="6146800"/>
                  </a:lnTo>
                  <a:close/>
                  <a:moveTo>
                    <a:pt x="2032000" y="7112000"/>
                  </a:moveTo>
                  <a:lnTo>
                    <a:pt x="2082800" y="7112000"/>
                  </a:lnTo>
                  <a:lnTo>
                    <a:pt x="2082800" y="7162800"/>
                  </a:lnTo>
                  <a:lnTo>
                    <a:pt x="2032000" y="7162800"/>
                  </a:lnTo>
                  <a:close/>
                  <a:moveTo>
                    <a:pt x="2032000" y="8128000"/>
                  </a:moveTo>
                  <a:lnTo>
                    <a:pt x="2082800" y="8128000"/>
                  </a:lnTo>
                  <a:lnTo>
                    <a:pt x="2082800" y="8178800"/>
                  </a:lnTo>
                  <a:lnTo>
                    <a:pt x="2032000" y="8178800"/>
                  </a:lnTo>
                  <a:close/>
                  <a:moveTo>
                    <a:pt x="2032000" y="9144000"/>
                  </a:moveTo>
                  <a:lnTo>
                    <a:pt x="2082800" y="9144000"/>
                  </a:lnTo>
                  <a:lnTo>
                    <a:pt x="2082800" y="9194800"/>
                  </a:lnTo>
                  <a:lnTo>
                    <a:pt x="2032000" y="9194800"/>
                  </a:lnTo>
                  <a:close/>
                  <a:moveTo>
                    <a:pt x="2032000" y="10160000"/>
                  </a:moveTo>
                  <a:lnTo>
                    <a:pt x="2082800" y="10160000"/>
                  </a:lnTo>
                  <a:lnTo>
                    <a:pt x="2082800" y="10210800"/>
                  </a:lnTo>
                  <a:lnTo>
                    <a:pt x="2032000" y="10210800"/>
                  </a:lnTo>
                  <a:close/>
                  <a:moveTo>
                    <a:pt x="3048000" y="0"/>
                  </a:moveTo>
                  <a:lnTo>
                    <a:pt x="3098800" y="0"/>
                  </a:lnTo>
                  <a:lnTo>
                    <a:pt x="3098800" y="50800"/>
                  </a:lnTo>
                  <a:lnTo>
                    <a:pt x="3048000" y="50800"/>
                  </a:lnTo>
                  <a:close/>
                  <a:moveTo>
                    <a:pt x="3048000" y="1016000"/>
                  </a:moveTo>
                  <a:lnTo>
                    <a:pt x="3098800" y="1016000"/>
                  </a:lnTo>
                  <a:lnTo>
                    <a:pt x="3098800" y="1066800"/>
                  </a:lnTo>
                  <a:lnTo>
                    <a:pt x="3048000" y="1066800"/>
                  </a:lnTo>
                  <a:close/>
                  <a:moveTo>
                    <a:pt x="3048000" y="2032000"/>
                  </a:moveTo>
                  <a:lnTo>
                    <a:pt x="3098800" y="2032000"/>
                  </a:lnTo>
                  <a:lnTo>
                    <a:pt x="3098800" y="2082800"/>
                  </a:lnTo>
                  <a:lnTo>
                    <a:pt x="3048000" y="2082800"/>
                  </a:lnTo>
                  <a:close/>
                  <a:moveTo>
                    <a:pt x="3048000" y="3048000"/>
                  </a:moveTo>
                  <a:lnTo>
                    <a:pt x="3098800" y="3048000"/>
                  </a:lnTo>
                  <a:lnTo>
                    <a:pt x="3098800" y="3098800"/>
                  </a:lnTo>
                  <a:lnTo>
                    <a:pt x="3048000" y="3098800"/>
                  </a:lnTo>
                  <a:close/>
                  <a:moveTo>
                    <a:pt x="3048000" y="4064000"/>
                  </a:moveTo>
                  <a:lnTo>
                    <a:pt x="3098800" y="4064000"/>
                  </a:lnTo>
                  <a:lnTo>
                    <a:pt x="3098800" y="4114800"/>
                  </a:lnTo>
                  <a:lnTo>
                    <a:pt x="3048000" y="4114800"/>
                  </a:lnTo>
                  <a:close/>
                  <a:moveTo>
                    <a:pt x="3048000" y="5080000"/>
                  </a:moveTo>
                  <a:lnTo>
                    <a:pt x="3098800" y="5080000"/>
                  </a:lnTo>
                  <a:lnTo>
                    <a:pt x="3098800" y="5130800"/>
                  </a:lnTo>
                  <a:lnTo>
                    <a:pt x="3048000" y="5130800"/>
                  </a:lnTo>
                  <a:close/>
                  <a:moveTo>
                    <a:pt x="3048000" y="6096000"/>
                  </a:moveTo>
                  <a:lnTo>
                    <a:pt x="3098800" y="6096000"/>
                  </a:lnTo>
                  <a:lnTo>
                    <a:pt x="3098800" y="6146800"/>
                  </a:lnTo>
                  <a:lnTo>
                    <a:pt x="3048000" y="6146800"/>
                  </a:lnTo>
                  <a:close/>
                  <a:moveTo>
                    <a:pt x="3048000" y="7112000"/>
                  </a:moveTo>
                  <a:lnTo>
                    <a:pt x="3098800" y="7112000"/>
                  </a:lnTo>
                  <a:lnTo>
                    <a:pt x="3098800" y="7162800"/>
                  </a:lnTo>
                  <a:lnTo>
                    <a:pt x="3048000" y="7162800"/>
                  </a:lnTo>
                  <a:close/>
                  <a:moveTo>
                    <a:pt x="3048000" y="8128000"/>
                  </a:moveTo>
                  <a:lnTo>
                    <a:pt x="3098800" y="8128000"/>
                  </a:lnTo>
                  <a:lnTo>
                    <a:pt x="3098800" y="8178800"/>
                  </a:lnTo>
                  <a:lnTo>
                    <a:pt x="3048000" y="8178800"/>
                  </a:lnTo>
                  <a:close/>
                  <a:moveTo>
                    <a:pt x="3048000" y="9144000"/>
                  </a:moveTo>
                  <a:lnTo>
                    <a:pt x="3098800" y="9144000"/>
                  </a:lnTo>
                  <a:lnTo>
                    <a:pt x="3098800" y="9194800"/>
                  </a:lnTo>
                  <a:lnTo>
                    <a:pt x="3048000" y="9194800"/>
                  </a:lnTo>
                  <a:close/>
                  <a:moveTo>
                    <a:pt x="3048000" y="10160000"/>
                  </a:moveTo>
                  <a:lnTo>
                    <a:pt x="3098800" y="10160000"/>
                  </a:lnTo>
                  <a:lnTo>
                    <a:pt x="3098800" y="10210800"/>
                  </a:lnTo>
                  <a:lnTo>
                    <a:pt x="3048000" y="10210800"/>
                  </a:lnTo>
                  <a:close/>
                  <a:moveTo>
                    <a:pt x="4064000" y="0"/>
                  </a:moveTo>
                  <a:lnTo>
                    <a:pt x="4114800" y="0"/>
                  </a:lnTo>
                  <a:lnTo>
                    <a:pt x="4114800" y="50800"/>
                  </a:lnTo>
                  <a:lnTo>
                    <a:pt x="4064000" y="50800"/>
                  </a:lnTo>
                  <a:close/>
                  <a:moveTo>
                    <a:pt x="4064000" y="1016000"/>
                  </a:moveTo>
                  <a:lnTo>
                    <a:pt x="4114800" y="1016000"/>
                  </a:lnTo>
                  <a:lnTo>
                    <a:pt x="4114800" y="1066800"/>
                  </a:lnTo>
                  <a:lnTo>
                    <a:pt x="4064000" y="1066800"/>
                  </a:lnTo>
                  <a:close/>
                  <a:moveTo>
                    <a:pt x="4064000" y="2032000"/>
                  </a:moveTo>
                  <a:lnTo>
                    <a:pt x="4114800" y="2032000"/>
                  </a:lnTo>
                  <a:lnTo>
                    <a:pt x="4114800" y="2082800"/>
                  </a:lnTo>
                  <a:lnTo>
                    <a:pt x="4064000" y="2082800"/>
                  </a:lnTo>
                  <a:close/>
                  <a:moveTo>
                    <a:pt x="4064000" y="3048000"/>
                  </a:moveTo>
                  <a:lnTo>
                    <a:pt x="4114800" y="3048000"/>
                  </a:lnTo>
                  <a:lnTo>
                    <a:pt x="4114800" y="3098800"/>
                  </a:lnTo>
                  <a:lnTo>
                    <a:pt x="4064000" y="3098800"/>
                  </a:lnTo>
                  <a:close/>
                  <a:moveTo>
                    <a:pt x="4064000" y="4064000"/>
                  </a:moveTo>
                  <a:lnTo>
                    <a:pt x="4114800" y="4064000"/>
                  </a:lnTo>
                  <a:lnTo>
                    <a:pt x="4114800" y="4114800"/>
                  </a:lnTo>
                  <a:lnTo>
                    <a:pt x="4064000" y="4114800"/>
                  </a:lnTo>
                  <a:close/>
                  <a:moveTo>
                    <a:pt x="4064000" y="5080000"/>
                  </a:moveTo>
                  <a:lnTo>
                    <a:pt x="4114800" y="5080000"/>
                  </a:lnTo>
                  <a:lnTo>
                    <a:pt x="4114800" y="5130800"/>
                  </a:lnTo>
                  <a:lnTo>
                    <a:pt x="4064000" y="5130800"/>
                  </a:lnTo>
                  <a:close/>
                  <a:moveTo>
                    <a:pt x="4064000" y="6096000"/>
                  </a:moveTo>
                  <a:lnTo>
                    <a:pt x="4114800" y="6096000"/>
                  </a:lnTo>
                  <a:lnTo>
                    <a:pt x="4114800" y="6146800"/>
                  </a:lnTo>
                  <a:lnTo>
                    <a:pt x="4064000" y="6146800"/>
                  </a:lnTo>
                  <a:close/>
                  <a:moveTo>
                    <a:pt x="4064000" y="7112000"/>
                  </a:moveTo>
                  <a:lnTo>
                    <a:pt x="4114800" y="7112000"/>
                  </a:lnTo>
                  <a:lnTo>
                    <a:pt x="4114800" y="7162800"/>
                  </a:lnTo>
                  <a:lnTo>
                    <a:pt x="4064000" y="7162800"/>
                  </a:lnTo>
                  <a:close/>
                  <a:moveTo>
                    <a:pt x="4064000" y="8128000"/>
                  </a:moveTo>
                  <a:lnTo>
                    <a:pt x="4114800" y="8128000"/>
                  </a:lnTo>
                  <a:lnTo>
                    <a:pt x="4114800" y="8178800"/>
                  </a:lnTo>
                  <a:lnTo>
                    <a:pt x="4064000" y="8178800"/>
                  </a:lnTo>
                  <a:close/>
                  <a:moveTo>
                    <a:pt x="4064000" y="9144000"/>
                  </a:moveTo>
                  <a:lnTo>
                    <a:pt x="4114800" y="9144000"/>
                  </a:lnTo>
                  <a:lnTo>
                    <a:pt x="4114800" y="9194800"/>
                  </a:lnTo>
                  <a:lnTo>
                    <a:pt x="4064000" y="9194800"/>
                  </a:lnTo>
                  <a:close/>
                  <a:moveTo>
                    <a:pt x="4064000" y="10160000"/>
                  </a:moveTo>
                  <a:lnTo>
                    <a:pt x="4114800" y="10160000"/>
                  </a:lnTo>
                  <a:lnTo>
                    <a:pt x="4114800" y="10210800"/>
                  </a:lnTo>
                  <a:lnTo>
                    <a:pt x="4064000" y="10210800"/>
                  </a:lnTo>
                  <a:close/>
                  <a:moveTo>
                    <a:pt x="5080000" y="0"/>
                  </a:moveTo>
                  <a:lnTo>
                    <a:pt x="5130800" y="0"/>
                  </a:lnTo>
                  <a:lnTo>
                    <a:pt x="5130800" y="50800"/>
                  </a:lnTo>
                  <a:lnTo>
                    <a:pt x="5080000" y="50800"/>
                  </a:lnTo>
                  <a:close/>
                  <a:moveTo>
                    <a:pt x="5080000" y="1016000"/>
                  </a:moveTo>
                  <a:lnTo>
                    <a:pt x="5130800" y="1016000"/>
                  </a:lnTo>
                  <a:lnTo>
                    <a:pt x="5130800" y="1066800"/>
                  </a:lnTo>
                  <a:lnTo>
                    <a:pt x="5080000" y="1066800"/>
                  </a:lnTo>
                  <a:close/>
                  <a:moveTo>
                    <a:pt x="5080000" y="2032000"/>
                  </a:moveTo>
                  <a:lnTo>
                    <a:pt x="5130800" y="2032000"/>
                  </a:lnTo>
                  <a:lnTo>
                    <a:pt x="5130800" y="2082800"/>
                  </a:lnTo>
                  <a:lnTo>
                    <a:pt x="5080000" y="2082800"/>
                  </a:lnTo>
                  <a:close/>
                  <a:moveTo>
                    <a:pt x="5080000" y="3048000"/>
                  </a:moveTo>
                  <a:lnTo>
                    <a:pt x="5130800" y="3048000"/>
                  </a:lnTo>
                  <a:lnTo>
                    <a:pt x="5130800" y="3098800"/>
                  </a:lnTo>
                  <a:lnTo>
                    <a:pt x="5080000" y="3098800"/>
                  </a:lnTo>
                  <a:close/>
                  <a:moveTo>
                    <a:pt x="5080000" y="4064000"/>
                  </a:moveTo>
                  <a:lnTo>
                    <a:pt x="5130800" y="4064000"/>
                  </a:lnTo>
                  <a:lnTo>
                    <a:pt x="5130800" y="4114800"/>
                  </a:lnTo>
                  <a:lnTo>
                    <a:pt x="5080000" y="4114800"/>
                  </a:lnTo>
                  <a:close/>
                  <a:moveTo>
                    <a:pt x="5080000" y="5080000"/>
                  </a:moveTo>
                  <a:lnTo>
                    <a:pt x="5130800" y="5080000"/>
                  </a:lnTo>
                  <a:lnTo>
                    <a:pt x="5130800" y="5130800"/>
                  </a:lnTo>
                  <a:lnTo>
                    <a:pt x="5080000" y="5130800"/>
                  </a:lnTo>
                  <a:close/>
                  <a:moveTo>
                    <a:pt x="5080000" y="6096000"/>
                  </a:moveTo>
                  <a:lnTo>
                    <a:pt x="5130800" y="6096000"/>
                  </a:lnTo>
                  <a:lnTo>
                    <a:pt x="5130800" y="6146800"/>
                  </a:lnTo>
                  <a:lnTo>
                    <a:pt x="5080000" y="6146800"/>
                  </a:lnTo>
                  <a:close/>
                  <a:moveTo>
                    <a:pt x="5080000" y="7112000"/>
                  </a:moveTo>
                  <a:lnTo>
                    <a:pt x="5130800" y="7112000"/>
                  </a:lnTo>
                  <a:lnTo>
                    <a:pt x="5130800" y="7162800"/>
                  </a:lnTo>
                  <a:lnTo>
                    <a:pt x="5080000" y="7162800"/>
                  </a:lnTo>
                  <a:close/>
                  <a:moveTo>
                    <a:pt x="5080000" y="8128000"/>
                  </a:moveTo>
                  <a:lnTo>
                    <a:pt x="5130800" y="8128000"/>
                  </a:lnTo>
                  <a:lnTo>
                    <a:pt x="5130800" y="8178800"/>
                  </a:lnTo>
                  <a:lnTo>
                    <a:pt x="5080000" y="8178800"/>
                  </a:lnTo>
                  <a:close/>
                  <a:moveTo>
                    <a:pt x="5080000" y="9144000"/>
                  </a:moveTo>
                  <a:lnTo>
                    <a:pt x="5130800" y="9144000"/>
                  </a:lnTo>
                  <a:lnTo>
                    <a:pt x="5130800" y="9194800"/>
                  </a:lnTo>
                  <a:lnTo>
                    <a:pt x="5080000" y="9194800"/>
                  </a:lnTo>
                  <a:close/>
                  <a:moveTo>
                    <a:pt x="5080000" y="10160000"/>
                  </a:moveTo>
                  <a:lnTo>
                    <a:pt x="5130800" y="10160000"/>
                  </a:lnTo>
                  <a:lnTo>
                    <a:pt x="5130800" y="10210800"/>
                  </a:lnTo>
                  <a:lnTo>
                    <a:pt x="5080000" y="10210800"/>
                  </a:lnTo>
                  <a:close/>
                  <a:moveTo>
                    <a:pt x="6096000" y="0"/>
                  </a:moveTo>
                  <a:lnTo>
                    <a:pt x="6146800" y="0"/>
                  </a:lnTo>
                  <a:lnTo>
                    <a:pt x="6146800" y="50800"/>
                  </a:lnTo>
                  <a:lnTo>
                    <a:pt x="6096000" y="50800"/>
                  </a:lnTo>
                  <a:close/>
                  <a:moveTo>
                    <a:pt x="6096000" y="1016000"/>
                  </a:moveTo>
                  <a:lnTo>
                    <a:pt x="6146800" y="1016000"/>
                  </a:lnTo>
                  <a:lnTo>
                    <a:pt x="6146800" y="1066800"/>
                  </a:lnTo>
                  <a:lnTo>
                    <a:pt x="6096000" y="1066800"/>
                  </a:lnTo>
                  <a:close/>
                  <a:moveTo>
                    <a:pt x="6096000" y="2032000"/>
                  </a:moveTo>
                  <a:lnTo>
                    <a:pt x="6146800" y="2032000"/>
                  </a:lnTo>
                  <a:lnTo>
                    <a:pt x="6146800" y="2082800"/>
                  </a:lnTo>
                  <a:lnTo>
                    <a:pt x="6096000" y="2082800"/>
                  </a:lnTo>
                  <a:close/>
                  <a:moveTo>
                    <a:pt x="6096000" y="3048000"/>
                  </a:moveTo>
                  <a:lnTo>
                    <a:pt x="6146800" y="3048000"/>
                  </a:lnTo>
                  <a:lnTo>
                    <a:pt x="6146800" y="3098800"/>
                  </a:lnTo>
                  <a:lnTo>
                    <a:pt x="6096000" y="3098800"/>
                  </a:lnTo>
                  <a:close/>
                  <a:moveTo>
                    <a:pt x="6096000" y="4064000"/>
                  </a:moveTo>
                  <a:lnTo>
                    <a:pt x="6146800" y="4064000"/>
                  </a:lnTo>
                  <a:lnTo>
                    <a:pt x="6146800" y="4114800"/>
                  </a:lnTo>
                  <a:lnTo>
                    <a:pt x="6096000" y="4114800"/>
                  </a:lnTo>
                  <a:close/>
                  <a:moveTo>
                    <a:pt x="6096000" y="5080000"/>
                  </a:moveTo>
                  <a:lnTo>
                    <a:pt x="6146800" y="5080000"/>
                  </a:lnTo>
                  <a:lnTo>
                    <a:pt x="6146800" y="5130800"/>
                  </a:lnTo>
                  <a:lnTo>
                    <a:pt x="6096000" y="5130800"/>
                  </a:lnTo>
                  <a:close/>
                  <a:moveTo>
                    <a:pt x="6096000" y="6096000"/>
                  </a:moveTo>
                  <a:lnTo>
                    <a:pt x="6146800" y="6096000"/>
                  </a:lnTo>
                  <a:lnTo>
                    <a:pt x="6146800" y="6146800"/>
                  </a:lnTo>
                  <a:lnTo>
                    <a:pt x="6096000" y="6146800"/>
                  </a:lnTo>
                  <a:close/>
                  <a:moveTo>
                    <a:pt x="6096000" y="7112000"/>
                  </a:moveTo>
                  <a:lnTo>
                    <a:pt x="6146800" y="7112000"/>
                  </a:lnTo>
                  <a:lnTo>
                    <a:pt x="6146800" y="7162800"/>
                  </a:lnTo>
                  <a:lnTo>
                    <a:pt x="6096000" y="7162800"/>
                  </a:lnTo>
                  <a:close/>
                  <a:moveTo>
                    <a:pt x="6096000" y="8128000"/>
                  </a:moveTo>
                  <a:lnTo>
                    <a:pt x="6146800" y="8128000"/>
                  </a:lnTo>
                  <a:lnTo>
                    <a:pt x="6146800" y="8178800"/>
                  </a:lnTo>
                  <a:lnTo>
                    <a:pt x="6096000" y="8178800"/>
                  </a:lnTo>
                  <a:close/>
                  <a:moveTo>
                    <a:pt x="6096000" y="9144000"/>
                  </a:moveTo>
                  <a:lnTo>
                    <a:pt x="6146800" y="9144000"/>
                  </a:lnTo>
                  <a:lnTo>
                    <a:pt x="6146800" y="9194800"/>
                  </a:lnTo>
                  <a:lnTo>
                    <a:pt x="6096000" y="9194800"/>
                  </a:lnTo>
                  <a:close/>
                  <a:moveTo>
                    <a:pt x="6096000" y="10160000"/>
                  </a:moveTo>
                  <a:lnTo>
                    <a:pt x="6146800" y="10160000"/>
                  </a:lnTo>
                  <a:lnTo>
                    <a:pt x="6146800" y="10210800"/>
                  </a:lnTo>
                  <a:lnTo>
                    <a:pt x="6096000" y="10210800"/>
                  </a:lnTo>
                  <a:close/>
                  <a:moveTo>
                    <a:pt x="7112000" y="0"/>
                  </a:moveTo>
                  <a:lnTo>
                    <a:pt x="7162800" y="0"/>
                  </a:lnTo>
                  <a:lnTo>
                    <a:pt x="7162800" y="50800"/>
                  </a:lnTo>
                  <a:lnTo>
                    <a:pt x="7112000" y="50800"/>
                  </a:lnTo>
                  <a:close/>
                  <a:moveTo>
                    <a:pt x="7112000" y="1016000"/>
                  </a:moveTo>
                  <a:lnTo>
                    <a:pt x="7162800" y="1016000"/>
                  </a:lnTo>
                  <a:lnTo>
                    <a:pt x="7162800" y="1066800"/>
                  </a:lnTo>
                  <a:lnTo>
                    <a:pt x="7112000" y="1066800"/>
                  </a:lnTo>
                  <a:close/>
                  <a:moveTo>
                    <a:pt x="7112000" y="2032000"/>
                  </a:moveTo>
                  <a:lnTo>
                    <a:pt x="7162800" y="2032000"/>
                  </a:lnTo>
                  <a:lnTo>
                    <a:pt x="7162800" y="2082800"/>
                  </a:lnTo>
                  <a:lnTo>
                    <a:pt x="7112000" y="2082800"/>
                  </a:lnTo>
                  <a:close/>
                  <a:moveTo>
                    <a:pt x="7112000" y="3048000"/>
                  </a:moveTo>
                  <a:lnTo>
                    <a:pt x="7162800" y="3048000"/>
                  </a:lnTo>
                  <a:lnTo>
                    <a:pt x="7162800" y="3098800"/>
                  </a:lnTo>
                  <a:lnTo>
                    <a:pt x="7112000" y="3098800"/>
                  </a:lnTo>
                  <a:close/>
                  <a:moveTo>
                    <a:pt x="7112000" y="4064000"/>
                  </a:moveTo>
                  <a:lnTo>
                    <a:pt x="7162800" y="4064000"/>
                  </a:lnTo>
                  <a:lnTo>
                    <a:pt x="7162800" y="4114800"/>
                  </a:lnTo>
                  <a:lnTo>
                    <a:pt x="7112000" y="4114800"/>
                  </a:lnTo>
                  <a:close/>
                  <a:moveTo>
                    <a:pt x="7112000" y="5080000"/>
                  </a:moveTo>
                  <a:lnTo>
                    <a:pt x="7162800" y="5080000"/>
                  </a:lnTo>
                  <a:lnTo>
                    <a:pt x="7162800" y="5130800"/>
                  </a:lnTo>
                  <a:lnTo>
                    <a:pt x="7112000" y="5130800"/>
                  </a:lnTo>
                  <a:close/>
                  <a:moveTo>
                    <a:pt x="7112000" y="6096000"/>
                  </a:moveTo>
                  <a:lnTo>
                    <a:pt x="7162800" y="6096000"/>
                  </a:lnTo>
                  <a:lnTo>
                    <a:pt x="7162800" y="6146800"/>
                  </a:lnTo>
                  <a:lnTo>
                    <a:pt x="7112000" y="6146800"/>
                  </a:lnTo>
                  <a:close/>
                  <a:moveTo>
                    <a:pt x="7112000" y="7112000"/>
                  </a:moveTo>
                  <a:lnTo>
                    <a:pt x="7162800" y="7112000"/>
                  </a:lnTo>
                  <a:lnTo>
                    <a:pt x="7162800" y="7162800"/>
                  </a:lnTo>
                  <a:lnTo>
                    <a:pt x="7112000" y="7162800"/>
                  </a:lnTo>
                  <a:close/>
                  <a:moveTo>
                    <a:pt x="7112000" y="8128000"/>
                  </a:moveTo>
                  <a:lnTo>
                    <a:pt x="7162800" y="8128000"/>
                  </a:lnTo>
                  <a:lnTo>
                    <a:pt x="7162800" y="8178800"/>
                  </a:lnTo>
                  <a:lnTo>
                    <a:pt x="7112000" y="8178800"/>
                  </a:lnTo>
                  <a:close/>
                  <a:moveTo>
                    <a:pt x="7112000" y="9144000"/>
                  </a:moveTo>
                  <a:lnTo>
                    <a:pt x="7162800" y="9144000"/>
                  </a:lnTo>
                  <a:lnTo>
                    <a:pt x="7162800" y="9194800"/>
                  </a:lnTo>
                  <a:lnTo>
                    <a:pt x="7112000" y="9194800"/>
                  </a:lnTo>
                  <a:close/>
                  <a:moveTo>
                    <a:pt x="7112000" y="10160000"/>
                  </a:moveTo>
                  <a:lnTo>
                    <a:pt x="7162800" y="10160000"/>
                  </a:lnTo>
                  <a:lnTo>
                    <a:pt x="7162800" y="10210800"/>
                  </a:lnTo>
                  <a:lnTo>
                    <a:pt x="7112000" y="10210800"/>
                  </a:lnTo>
                  <a:close/>
                  <a:moveTo>
                    <a:pt x="8128000" y="0"/>
                  </a:moveTo>
                  <a:lnTo>
                    <a:pt x="8178800" y="0"/>
                  </a:lnTo>
                  <a:lnTo>
                    <a:pt x="8178800" y="50800"/>
                  </a:lnTo>
                  <a:lnTo>
                    <a:pt x="8128000" y="50800"/>
                  </a:lnTo>
                  <a:close/>
                  <a:moveTo>
                    <a:pt x="8128000" y="1016000"/>
                  </a:moveTo>
                  <a:lnTo>
                    <a:pt x="8178800" y="1016000"/>
                  </a:lnTo>
                  <a:lnTo>
                    <a:pt x="8178800" y="1066800"/>
                  </a:lnTo>
                  <a:lnTo>
                    <a:pt x="8128000" y="1066800"/>
                  </a:lnTo>
                  <a:close/>
                  <a:moveTo>
                    <a:pt x="8128000" y="2032000"/>
                  </a:moveTo>
                  <a:lnTo>
                    <a:pt x="8178800" y="2032000"/>
                  </a:lnTo>
                  <a:lnTo>
                    <a:pt x="8178800" y="2082800"/>
                  </a:lnTo>
                  <a:lnTo>
                    <a:pt x="8128000" y="2082800"/>
                  </a:lnTo>
                  <a:close/>
                  <a:moveTo>
                    <a:pt x="8128000" y="3048000"/>
                  </a:moveTo>
                  <a:lnTo>
                    <a:pt x="8178800" y="3048000"/>
                  </a:lnTo>
                  <a:lnTo>
                    <a:pt x="8178800" y="3098800"/>
                  </a:lnTo>
                  <a:lnTo>
                    <a:pt x="8128000" y="3098800"/>
                  </a:lnTo>
                  <a:close/>
                  <a:moveTo>
                    <a:pt x="8128000" y="4064000"/>
                  </a:moveTo>
                  <a:lnTo>
                    <a:pt x="8178800" y="4064000"/>
                  </a:lnTo>
                  <a:lnTo>
                    <a:pt x="8178800" y="4114800"/>
                  </a:lnTo>
                  <a:lnTo>
                    <a:pt x="8128000" y="4114800"/>
                  </a:lnTo>
                  <a:close/>
                  <a:moveTo>
                    <a:pt x="8128000" y="5080000"/>
                  </a:moveTo>
                  <a:lnTo>
                    <a:pt x="8178800" y="5080000"/>
                  </a:lnTo>
                  <a:lnTo>
                    <a:pt x="8178800" y="5130800"/>
                  </a:lnTo>
                  <a:lnTo>
                    <a:pt x="8128000" y="5130800"/>
                  </a:lnTo>
                  <a:close/>
                  <a:moveTo>
                    <a:pt x="8128000" y="6096000"/>
                  </a:moveTo>
                  <a:lnTo>
                    <a:pt x="8178800" y="6096000"/>
                  </a:lnTo>
                  <a:lnTo>
                    <a:pt x="8178800" y="6146800"/>
                  </a:lnTo>
                  <a:lnTo>
                    <a:pt x="8128000" y="6146800"/>
                  </a:lnTo>
                  <a:close/>
                  <a:moveTo>
                    <a:pt x="8128000" y="7112000"/>
                  </a:moveTo>
                  <a:lnTo>
                    <a:pt x="8178800" y="7112000"/>
                  </a:lnTo>
                  <a:lnTo>
                    <a:pt x="8178800" y="7162800"/>
                  </a:lnTo>
                  <a:lnTo>
                    <a:pt x="8128000" y="7162800"/>
                  </a:lnTo>
                  <a:close/>
                  <a:moveTo>
                    <a:pt x="8128000" y="8128000"/>
                  </a:moveTo>
                  <a:lnTo>
                    <a:pt x="8178800" y="8128000"/>
                  </a:lnTo>
                  <a:lnTo>
                    <a:pt x="8178800" y="8178800"/>
                  </a:lnTo>
                  <a:lnTo>
                    <a:pt x="8128000" y="8178800"/>
                  </a:lnTo>
                  <a:close/>
                  <a:moveTo>
                    <a:pt x="8128000" y="9144000"/>
                  </a:moveTo>
                  <a:lnTo>
                    <a:pt x="8178800" y="9144000"/>
                  </a:lnTo>
                  <a:lnTo>
                    <a:pt x="8178800" y="9194800"/>
                  </a:lnTo>
                  <a:lnTo>
                    <a:pt x="8128000" y="9194800"/>
                  </a:lnTo>
                  <a:close/>
                  <a:moveTo>
                    <a:pt x="8128000" y="10160000"/>
                  </a:moveTo>
                  <a:lnTo>
                    <a:pt x="8178800" y="10160000"/>
                  </a:lnTo>
                  <a:lnTo>
                    <a:pt x="8178800" y="10210800"/>
                  </a:lnTo>
                  <a:lnTo>
                    <a:pt x="8128000" y="10210800"/>
                  </a:lnTo>
                  <a:close/>
                </a:path>
              </a:pathLst>
            </a:custGeom>
            <a:solidFill>
              <a:srgbClr val="5EC6B8">
                <a:alpha val="19608"/>
              </a:srgbClr>
            </a:solidFill>
          </p:spPr>
        </p:sp>
        <p:sp>
          <p:nvSpPr>
            <p:cNvPr name="TextBox 20" id="20"/>
            <p:cNvSpPr txBox="true"/>
            <p:nvPr/>
          </p:nvSpPr>
          <p:spPr>
            <a:xfrm>
              <a:off x="0" y="-38100"/>
              <a:ext cx="8178800" cy="102489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11239500" y="1428750"/>
            <a:ext cx="6096000" cy="6096000"/>
            <a:chOff x="0" y="0"/>
            <a:chExt cx="8128000" cy="8128000"/>
          </a:xfrm>
        </p:grpSpPr>
        <p:sp>
          <p:nvSpPr>
            <p:cNvPr name="Freeform 22" id="22"/>
            <p:cNvSpPr/>
            <p:nvPr/>
          </p:nvSpPr>
          <p:spPr>
            <a:xfrm flipH="false" flipV="false" rot="0">
              <a:off x="0" y="0"/>
              <a:ext cx="8128000" cy="8128000"/>
            </a:xfrm>
            <a:custGeom>
              <a:avLst/>
              <a:gdLst/>
              <a:ahLst/>
              <a:cxnLst/>
              <a:rect r="r" b="b" t="t" l="l"/>
              <a:pathLst>
                <a:path h="8128000" w="8128000">
                  <a:moveTo>
                    <a:pt x="0" y="4064000"/>
                  </a:moveTo>
                  <a:cubicBezTo>
                    <a:pt x="0" y="1819515"/>
                    <a:pt x="1819515" y="0"/>
                    <a:pt x="4064000" y="0"/>
                  </a:cubicBezTo>
                  <a:cubicBezTo>
                    <a:pt x="6308485" y="0"/>
                    <a:pt x="8128000" y="1819515"/>
                    <a:pt x="8128000" y="4064000"/>
                  </a:cubicBezTo>
                  <a:cubicBezTo>
                    <a:pt x="8128000" y="6308485"/>
                    <a:pt x="6308485" y="8128000"/>
                    <a:pt x="4064000" y="8128000"/>
                  </a:cubicBezTo>
                  <a:cubicBezTo>
                    <a:pt x="1819515" y="8128000"/>
                    <a:pt x="0" y="6308485"/>
                    <a:pt x="0" y="4064000"/>
                  </a:cubicBezTo>
                  <a:close/>
                </a:path>
              </a:pathLst>
            </a:custGeom>
            <a:solidFill>
              <a:srgbClr val="FFE45C">
                <a:alpha val="3922"/>
              </a:srgbClr>
            </a:solidFill>
          </p:spPr>
        </p:sp>
        <p:sp>
          <p:nvSpPr>
            <p:cNvPr name="TextBox 23" id="23"/>
            <p:cNvSpPr txBox="true"/>
            <p:nvPr/>
          </p:nvSpPr>
          <p:spPr>
            <a:xfrm>
              <a:off x="0" y="-38100"/>
              <a:ext cx="8128000" cy="81661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12049125" y="2238375"/>
            <a:ext cx="4476750" cy="4476750"/>
            <a:chOff x="0" y="0"/>
            <a:chExt cx="5969000" cy="5969000"/>
          </a:xfrm>
        </p:grpSpPr>
        <p:sp>
          <p:nvSpPr>
            <p:cNvPr name="Freeform 25" id="25"/>
            <p:cNvSpPr/>
            <p:nvPr/>
          </p:nvSpPr>
          <p:spPr>
            <a:xfrm flipH="false" flipV="false" rot="0">
              <a:off x="0" y="0"/>
              <a:ext cx="5969000" cy="5969000"/>
            </a:xfrm>
            <a:custGeom>
              <a:avLst/>
              <a:gdLst/>
              <a:ahLst/>
              <a:cxnLst/>
              <a:rect r="r" b="b" t="t" l="l"/>
              <a:pathLst>
                <a:path h="5969000" w="5969000">
                  <a:moveTo>
                    <a:pt x="0" y="2984500"/>
                  </a:moveTo>
                  <a:cubicBezTo>
                    <a:pt x="0" y="1336206"/>
                    <a:pt x="1336206" y="0"/>
                    <a:pt x="2984500" y="0"/>
                  </a:cubicBezTo>
                  <a:cubicBezTo>
                    <a:pt x="4632794" y="0"/>
                    <a:pt x="5969000" y="1336206"/>
                    <a:pt x="5969000" y="2984500"/>
                  </a:cubicBezTo>
                  <a:cubicBezTo>
                    <a:pt x="5969000" y="4632794"/>
                    <a:pt x="4632794" y="5969000"/>
                    <a:pt x="2984500" y="5969000"/>
                  </a:cubicBezTo>
                  <a:cubicBezTo>
                    <a:pt x="1336206" y="5969000"/>
                    <a:pt x="0" y="4632794"/>
                    <a:pt x="0" y="2984500"/>
                  </a:cubicBezTo>
                  <a:close/>
                </a:path>
              </a:pathLst>
            </a:custGeom>
            <a:solidFill>
              <a:srgbClr val="FFE45C">
                <a:alpha val="5490"/>
              </a:srgbClr>
            </a:solidFill>
          </p:spPr>
        </p:sp>
        <p:sp>
          <p:nvSpPr>
            <p:cNvPr name="TextBox 26" id="26"/>
            <p:cNvSpPr txBox="true"/>
            <p:nvPr/>
          </p:nvSpPr>
          <p:spPr>
            <a:xfrm>
              <a:off x="0" y="-38100"/>
              <a:ext cx="5969000" cy="6007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12715875" y="2905125"/>
            <a:ext cx="3143250" cy="3143250"/>
            <a:chOff x="0" y="0"/>
            <a:chExt cx="4191000" cy="4191000"/>
          </a:xfrm>
        </p:grpSpPr>
        <p:sp>
          <p:nvSpPr>
            <p:cNvPr name="Freeform 28" id="28"/>
            <p:cNvSpPr/>
            <p:nvPr/>
          </p:nvSpPr>
          <p:spPr>
            <a:xfrm flipH="false" flipV="false" rot="0">
              <a:off x="0" y="0"/>
              <a:ext cx="4191000" cy="4191000"/>
            </a:xfrm>
            <a:custGeom>
              <a:avLst/>
              <a:gdLst/>
              <a:ahLst/>
              <a:cxnLst/>
              <a:rect r="r" b="b" t="t" l="l"/>
              <a:pathLst>
                <a:path h="4191000" w="4191000">
                  <a:moveTo>
                    <a:pt x="0" y="2095500"/>
                  </a:moveTo>
                  <a:cubicBezTo>
                    <a:pt x="0" y="938187"/>
                    <a:pt x="938187" y="0"/>
                    <a:pt x="2095500" y="0"/>
                  </a:cubicBezTo>
                  <a:cubicBezTo>
                    <a:pt x="3252813" y="0"/>
                    <a:pt x="4191000" y="938187"/>
                    <a:pt x="4191000" y="2095500"/>
                  </a:cubicBezTo>
                  <a:cubicBezTo>
                    <a:pt x="4191000" y="3252813"/>
                    <a:pt x="3252813" y="4191000"/>
                    <a:pt x="2095500" y="4191000"/>
                  </a:cubicBezTo>
                  <a:cubicBezTo>
                    <a:pt x="938187" y="4191000"/>
                    <a:pt x="0" y="3252813"/>
                    <a:pt x="0" y="2095500"/>
                  </a:cubicBezTo>
                  <a:close/>
                </a:path>
              </a:pathLst>
            </a:custGeom>
            <a:solidFill>
              <a:srgbClr val="FFE45C">
                <a:alpha val="8235"/>
              </a:srgbClr>
            </a:solidFill>
          </p:spPr>
        </p:sp>
        <p:sp>
          <p:nvSpPr>
            <p:cNvPr name="TextBox 29" id="29"/>
            <p:cNvSpPr txBox="true"/>
            <p:nvPr/>
          </p:nvSpPr>
          <p:spPr>
            <a:xfrm>
              <a:off x="0" y="-38100"/>
              <a:ext cx="4191000" cy="42291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11415712" y="1604962"/>
            <a:ext cx="5743575" cy="5743575"/>
            <a:chOff x="0" y="0"/>
            <a:chExt cx="7658100" cy="7658100"/>
          </a:xfrm>
        </p:grpSpPr>
        <p:sp>
          <p:nvSpPr>
            <p:cNvPr name="Freeform 31" id="31"/>
            <p:cNvSpPr/>
            <p:nvPr/>
          </p:nvSpPr>
          <p:spPr>
            <a:xfrm flipH="false" flipV="false" rot="0">
              <a:off x="0" y="0"/>
              <a:ext cx="7658100" cy="7658100"/>
            </a:xfrm>
            <a:custGeom>
              <a:avLst/>
              <a:gdLst/>
              <a:ahLst/>
              <a:cxnLst/>
              <a:rect r="r" b="b" t="t" l="l"/>
              <a:pathLst>
                <a:path h="7658100" w="7658100">
                  <a:moveTo>
                    <a:pt x="0" y="3829050"/>
                  </a:moveTo>
                  <a:cubicBezTo>
                    <a:pt x="0" y="1714324"/>
                    <a:pt x="1714324" y="0"/>
                    <a:pt x="3829050" y="0"/>
                  </a:cubicBezTo>
                  <a:cubicBezTo>
                    <a:pt x="5943776" y="0"/>
                    <a:pt x="7658100" y="1714324"/>
                    <a:pt x="7658100" y="3829050"/>
                  </a:cubicBezTo>
                  <a:cubicBezTo>
                    <a:pt x="7658100" y="5943776"/>
                    <a:pt x="5943776" y="7658100"/>
                    <a:pt x="3829050" y="7658100"/>
                  </a:cubicBezTo>
                  <a:cubicBezTo>
                    <a:pt x="1714324" y="7658100"/>
                    <a:pt x="0" y="5943776"/>
                    <a:pt x="0" y="3829050"/>
                  </a:cubicBezTo>
                  <a:close/>
                  <a:moveTo>
                    <a:pt x="38100" y="3829050"/>
                  </a:moveTo>
                  <a:cubicBezTo>
                    <a:pt x="38100" y="5922734"/>
                    <a:pt x="1735366" y="7620000"/>
                    <a:pt x="3829050" y="7620000"/>
                  </a:cubicBezTo>
                  <a:cubicBezTo>
                    <a:pt x="5922734" y="7620000"/>
                    <a:pt x="7620000" y="5922734"/>
                    <a:pt x="7620000" y="3829050"/>
                  </a:cubicBezTo>
                  <a:cubicBezTo>
                    <a:pt x="7620000" y="1735366"/>
                    <a:pt x="5922734" y="38100"/>
                    <a:pt x="3829050" y="38100"/>
                  </a:cubicBezTo>
                  <a:cubicBezTo>
                    <a:pt x="1735366" y="38100"/>
                    <a:pt x="38100" y="1735366"/>
                    <a:pt x="38100" y="3829050"/>
                  </a:cubicBezTo>
                  <a:close/>
                  <a:moveTo>
                    <a:pt x="1466850" y="3829050"/>
                  </a:moveTo>
                  <a:cubicBezTo>
                    <a:pt x="1466850" y="2524443"/>
                    <a:pt x="2524443" y="1466850"/>
                    <a:pt x="3829050" y="1466850"/>
                  </a:cubicBezTo>
                  <a:cubicBezTo>
                    <a:pt x="5133657" y="1466850"/>
                    <a:pt x="6191250" y="2524443"/>
                    <a:pt x="6191250" y="3829050"/>
                  </a:cubicBezTo>
                  <a:cubicBezTo>
                    <a:pt x="6191250" y="5133657"/>
                    <a:pt x="5133657" y="6191250"/>
                    <a:pt x="3829050" y="6191250"/>
                  </a:cubicBezTo>
                  <a:cubicBezTo>
                    <a:pt x="2524443" y="6191250"/>
                    <a:pt x="1466850" y="5133657"/>
                    <a:pt x="1466850" y="3829050"/>
                  </a:cubicBezTo>
                  <a:close/>
                  <a:moveTo>
                    <a:pt x="1492250" y="3829050"/>
                  </a:moveTo>
                  <a:cubicBezTo>
                    <a:pt x="1492250" y="5119629"/>
                    <a:pt x="2538471" y="6165850"/>
                    <a:pt x="3829050" y="6165850"/>
                  </a:cubicBezTo>
                  <a:cubicBezTo>
                    <a:pt x="5119629" y="6165850"/>
                    <a:pt x="6165850" y="5119629"/>
                    <a:pt x="6165850" y="3829050"/>
                  </a:cubicBezTo>
                  <a:cubicBezTo>
                    <a:pt x="6165850" y="2538471"/>
                    <a:pt x="5119629" y="1492250"/>
                    <a:pt x="3829050" y="1492250"/>
                  </a:cubicBezTo>
                  <a:cubicBezTo>
                    <a:pt x="2538471" y="1492250"/>
                    <a:pt x="1492250" y="2538471"/>
                    <a:pt x="1492250" y="3829050"/>
                  </a:cubicBezTo>
                  <a:close/>
                </a:path>
              </a:pathLst>
            </a:custGeom>
            <a:solidFill>
              <a:srgbClr val="5EC6B8">
                <a:alpha val="31765"/>
              </a:srgbClr>
            </a:solidFill>
          </p:spPr>
        </p:sp>
        <p:sp>
          <p:nvSpPr>
            <p:cNvPr name="TextBox 32" id="32"/>
            <p:cNvSpPr txBox="true"/>
            <p:nvPr/>
          </p:nvSpPr>
          <p:spPr>
            <a:xfrm>
              <a:off x="0" y="-38100"/>
              <a:ext cx="7658100" cy="76962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2813982" y="2362200"/>
            <a:ext cx="3588067" cy="4229100"/>
            <a:chOff x="0" y="0"/>
            <a:chExt cx="4784090" cy="5638800"/>
          </a:xfrm>
        </p:grpSpPr>
        <p:sp>
          <p:nvSpPr>
            <p:cNvPr name="Freeform 34" id="34"/>
            <p:cNvSpPr/>
            <p:nvPr/>
          </p:nvSpPr>
          <p:spPr>
            <a:xfrm flipH="false" flipV="false" rot="0">
              <a:off x="0" y="0"/>
              <a:ext cx="4784090" cy="5638800"/>
            </a:xfrm>
            <a:custGeom>
              <a:avLst/>
              <a:gdLst/>
              <a:ahLst/>
              <a:cxnLst/>
              <a:rect r="r" b="b" t="t" l="l"/>
              <a:pathLst>
                <a:path h="5638800" w="4784090">
                  <a:moveTo>
                    <a:pt x="339090" y="165100"/>
                  </a:moveTo>
                  <a:lnTo>
                    <a:pt x="3463290" y="165100"/>
                  </a:lnTo>
                  <a:lnTo>
                    <a:pt x="3463290" y="88900"/>
                  </a:lnTo>
                  <a:lnTo>
                    <a:pt x="339090" y="88900"/>
                  </a:lnTo>
                  <a:close/>
                  <a:moveTo>
                    <a:pt x="3691890" y="127000"/>
                  </a:moveTo>
                  <a:lnTo>
                    <a:pt x="3463290" y="254000"/>
                  </a:lnTo>
                  <a:lnTo>
                    <a:pt x="3463290" y="0"/>
                  </a:lnTo>
                  <a:close/>
                  <a:moveTo>
                    <a:pt x="4618990" y="1193800"/>
                  </a:moveTo>
                  <a:lnTo>
                    <a:pt x="4618990" y="4318000"/>
                  </a:lnTo>
                  <a:lnTo>
                    <a:pt x="4695190" y="4318000"/>
                  </a:lnTo>
                  <a:lnTo>
                    <a:pt x="4695190" y="1193800"/>
                  </a:lnTo>
                  <a:close/>
                  <a:moveTo>
                    <a:pt x="4657090" y="4546600"/>
                  </a:moveTo>
                  <a:lnTo>
                    <a:pt x="4530090" y="4318000"/>
                  </a:lnTo>
                  <a:lnTo>
                    <a:pt x="4784090" y="4318000"/>
                  </a:lnTo>
                  <a:close/>
                  <a:moveTo>
                    <a:pt x="3590290" y="5473700"/>
                  </a:moveTo>
                  <a:lnTo>
                    <a:pt x="466090" y="5473700"/>
                  </a:lnTo>
                  <a:lnTo>
                    <a:pt x="466090" y="5549900"/>
                  </a:lnTo>
                  <a:lnTo>
                    <a:pt x="3590290" y="5549900"/>
                  </a:lnTo>
                  <a:close/>
                  <a:moveTo>
                    <a:pt x="237490" y="5511800"/>
                  </a:moveTo>
                  <a:lnTo>
                    <a:pt x="466090" y="5384800"/>
                  </a:lnTo>
                  <a:lnTo>
                    <a:pt x="466090" y="5638800"/>
                  </a:lnTo>
                  <a:close/>
                  <a:moveTo>
                    <a:pt x="53340" y="4784090"/>
                  </a:moveTo>
                  <a:lnTo>
                    <a:pt x="572770" y="4264660"/>
                  </a:lnTo>
                  <a:lnTo>
                    <a:pt x="519430" y="4211320"/>
                  </a:lnTo>
                  <a:lnTo>
                    <a:pt x="0" y="4730750"/>
                  </a:lnTo>
                  <a:close/>
                  <a:moveTo>
                    <a:pt x="707390" y="4076700"/>
                  </a:moveTo>
                  <a:lnTo>
                    <a:pt x="636270" y="4328160"/>
                  </a:lnTo>
                  <a:lnTo>
                    <a:pt x="455930" y="4149090"/>
                  </a:lnTo>
                  <a:close/>
                </a:path>
              </a:pathLst>
            </a:custGeom>
            <a:solidFill>
              <a:srgbClr val="DFE9EE">
                <a:alpha val="54902"/>
              </a:srgbClr>
            </a:solidFill>
          </p:spPr>
        </p:sp>
        <p:sp>
          <p:nvSpPr>
            <p:cNvPr name="TextBox 35" id="35"/>
            <p:cNvSpPr txBox="true"/>
            <p:nvPr/>
          </p:nvSpPr>
          <p:spPr>
            <a:xfrm>
              <a:off x="0" y="-38100"/>
              <a:ext cx="4784090" cy="56769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11661457" y="1757362"/>
            <a:ext cx="5251132" cy="5438775"/>
            <a:chOff x="0" y="0"/>
            <a:chExt cx="7001510" cy="7251700"/>
          </a:xfrm>
        </p:grpSpPr>
        <p:sp>
          <p:nvSpPr>
            <p:cNvPr name="Freeform 37" id="37"/>
            <p:cNvSpPr/>
            <p:nvPr/>
          </p:nvSpPr>
          <p:spPr>
            <a:xfrm flipH="false" flipV="false" rot="0">
              <a:off x="0" y="0"/>
              <a:ext cx="7001510" cy="7251700"/>
            </a:xfrm>
            <a:custGeom>
              <a:avLst/>
              <a:gdLst/>
              <a:ahLst/>
              <a:cxnLst/>
              <a:rect r="r" b="b" t="t" l="l"/>
              <a:pathLst>
                <a:path h="7251700" w="7001510">
                  <a:moveTo>
                    <a:pt x="808990" y="0"/>
                  </a:moveTo>
                  <a:lnTo>
                    <a:pt x="1616710" y="467360"/>
                  </a:lnTo>
                  <a:lnTo>
                    <a:pt x="1616710" y="1399540"/>
                  </a:lnTo>
                  <a:lnTo>
                    <a:pt x="808990" y="1866900"/>
                  </a:lnTo>
                  <a:lnTo>
                    <a:pt x="0" y="1399540"/>
                  </a:lnTo>
                  <a:lnTo>
                    <a:pt x="0" y="467360"/>
                  </a:lnTo>
                  <a:close/>
                  <a:moveTo>
                    <a:pt x="33020" y="485140"/>
                  </a:moveTo>
                  <a:lnTo>
                    <a:pt x="33020" y="1381760"/>
                  </a:lnTo>
                  <a:lnTo>
                    <a:pt x="808990" y="1828800"/>
                  </a:lnTo>
                  <a:lnTo>
                    <a:pt x="1583690" y="1381760"/>
                  </a:lnTo>
                  <a:lnTo>
                    <a:pt x="1583690" y="485140"/>
                  </a:lnTo>
                  <a:lnTo>
                    <a:pt x="808990" y="38100"/>
                  </a:lnTo>
                  <a:close/>
                  <a:moveTo>
                    <a:pt x="6193790" y="0"/>
                  </a:moveTo>
                  <a:lnTo>
                    <a:pt x="7001510" y="467360"/>
                  </a:lnTo>
                  <a:lnTo>
                    <a:pt x="7001510" y="1399540"/>
                  </a:lnTo>
                  <a:lnTo>
                    <a:pt x="6193790" y="1866900"/>
                  </a:lnTo>
                  <a:lnTo>
                    <a:pt x="5384800" y="1399540"/>
                  </a:lnTo>
                  <a:lnTo>
                    <a:pt x="5384800" y="467360"/>
                  </a:lnTo>
                  <a:close/>
                  <a:moveTo>
                    <a:pt x="5417820" y="485140"/>
                  </a:moveTo>
                  <a:lnTo>
                    <a:pt x="5417820" y="1381760"/>
                  </a:lnTo>
                  <a:lnTo>
                    <a:pt x="6193790" y="1828800"/>
                  </a:lnTo>
                  <a:lnTo>
                    <a:pt x="6968490" y="1381760"/>
                  </a:lnTo>
                  <a:lnTo>
                    <a:pt x="6968490" y="485140"/>
                  </a:lnTo>
                  <a:lnTo>
                    <a:pt x="6193790" y="38100"/>
                  </a:lnTo>
                  <a:close/>
                  <a:moveTo>
                    <a:pt x="6193790" y="5384800"/>
                  </a:moveTo>
                  <a:lnTo>
                    <a:pt x="7001510" y="5852160"/>
                  </a:lnTo>
                  <a:lnTo>
                    <a:pt x="7001510" y="6784340"/>
                  </a:lnTo>
                  <a:lnTo>
                    <a:pt x="6193790" y="7251700"/>
                  </a:lnTo>
                  <a:lnTo>
                    <a:pt x="5384800" y="6784340"/>
                  </a:lnTo>
                  <a:lnTo>
                    <a:pt x="5384800" y="5852160"/>
                  </a:lnTo>
                  <a:close/>
                  <a:moveTo>
                    <a:pt x="5417820" y="5869940"/>
                  </a:moveTo>
                  <a:lnTo>
                    <a:pt x="5417820" y="6766560"/>
                  </a:lnTo>
                  <a:lnTo>
                    <a:pt x="6193790" y="7213600"/>
                  </a:lnTo>
                  <a:lnTo>
                    <a:pt x="6968490" y="6766560"/>
                  </a:lnTo>
                  <a:lnTo>
                    <a:pt x="6968490" y="5869940"/>
                  </a:lnTo>
                  <a:lnTo>
                    <a:pt x="6193790" y="5422900"/>
                  </a:lnTo>
                  <a:close/>
                  <a:moveTo>
                    <a:pt x="808990" y="5384800"/>
                  </a:moveTo>
                  <a:lnTo>
                    <a:pt x="1616710" y="5852160"/>
                  </a:lnTo>
                  <a:lnTo>
                    <a:pt x="1616710" y="6784340"/>
                  </a:lnTo>
                  <a:lnTo>
                    <a:pt x="808990" y="7251700"/>
                  </a:lnTo>
                  <a:lnTo>
                    <a:pt x="0" y="6784340"/>
                  </a:lnTo>
                  <a:lnTo>
                    <a:pt x="0" y="5852160"/>
                  </a:lnTo>
                  <a:close/>
                  <a:moveTo>
                    <a:pt x="33020" y="5869940"/>
                  </a:moveTo>
                  <a:lnTo>
                    <a:pt x="33020" y="6766560"/>
                  </a:lnTo>
                  <a:lnTo>
                    <a:pt x="808990" y="7213600"/>
                  </a:lnTo>
                  <a:lnTo>
                    <a:pt x="1583690" y="6766560"/>
                  </a:lnTo>
                  <a:lnTo>
                    <a:pt x="1583690" y="5869940"/>
                  </a:lnTo>
                  <a:lnTo>
                    <a:pt x="808990" y="5422900"/>
                  </a:lnTo>
                  <a:close/>
                </a:path>
              </a:pathLst>
            </a:custGeom>
            <a:solidFill>
              <a:srgbClr val="DFE9EE">
                <a:alpha val="44706"/>
              </a:srgbClr>
            </a:solidFill>
          </p:spPr>
        </p:sp>
        <p:sp>
          <p:nvSpPr>
            <p:cNvPr name="TextBox 38" id="38"/>
            <p:cNvSpPr txBox="true"/>
            <p:nvPr/>
          </p:nvSpPr>
          <p:spPr>
            <a:xfrm>
              <a:off x="0" y="-38100"/>
              <a:ext cx="7001510" cy="72898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11756707" y="1866900"/>
            <a:ext cx="1022985" cy="1181100"/>
            <a:chOff x="0" y="0"/>
            <a:chExt cx="1363980" cy="1574800"/>
          </a:xfrm>
        </p:grpSpPr>
        <p:sp>
          <p:nvSpPr>
            <p:cNvPr name="Freeform 40" id="40"/>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0D8F83"/>
            </a:solidFill>
          </p:spPr>
        </p:sp>
        <p:sp>
          <p:nvSpPr>
            <p:cNvPr name="TextBox 41" id="41"/>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15795307" y="1866900"/>
            <a:ext cx="1022985" cy="1181100"/>
            <a:chOff x="0" y="0"/>
            <a:chExt cx="1363980" cy="1574800"/>
          </a:xfrm>
        </p:grpSpPr>
        <p:sp>
          <p:nvSpPr>
            <p:cNvPr name="Freeform 43" id="43"/>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E8B44C"/>
            </a:solidFill>
          </p:spPr>
        </p:sp>
        <p:sp>
          <p:nvSpPr>
            <p:cNvPr name="TextBox 44" id="44"/>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15795307" y="5905500"/>
            <a:ext cx="1022985" cy="1181100"/>
            <a:chOff x="0" y="0"/>
            <a:chExt cx="1363980" cy="1574800"/>
          </a:xfrm>
        </p:grpSpPr>
        <p:sp>
          <p:nvSpPr>
            <p:cNvPr name="Freeform 46" id="46"/>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5B59E0"/>
            </a:solidFill>
          </p:spPr>
        </p:sp>
        <p:sp>
          <p:nvSpPr>
            <p:cNvPr name="TextBox 47" id="47"/>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11756707" y="5905500"/>
            <a:ext cx="1022985" cy="1181100"/>
            <a:chOff x="0" y="0"/>
            <a:chExt cx="1363980" cy="1574800"/>
          </a:xfrm>
        </p:grpSpPr>
        <p:sp>
          <p:nvSpPr>
            <p:cNvPr name="Freeform 49" id="49"/>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C2374F"/>
            </a:solidFill>
          </p:spPr>
        </p:sp>
        <p:sp>
          <p:nvSpPr>
            <p:cNvPr name="TextBox 50" id="50"/>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12044362" y="2233612"/>
            <a:ext cx="4505325" cy="4486275"/>
            <a:chOff x="0" y="0"/>
            <a:chExt cx="6007100" cy="5981700"/>
          </a:xfrm>
        </p:grpSpPr>
        <p:sp>
          <p:nvSpPr>
            <p:cNvPr name="Freeform 52" id="52"/>
            <p:cNvSpPr/>
            <p:nvPr/>
          </p:nvSpPr>
          <p:spPr>
            <a:xfrm flipH="false" flipV="false" rot="0">
              <a:off x="0" y="0"/>
              <a:ext cx="6007100" cy="5981700"/>
            </a:xfrm>
            <a:custGeom>
              <a:avLst/>
              <a:gdLst/>
              <a:ahLst/>
              <a:cxnLst/>
              <a:rect r="r" b="b" t="t" l="l"/>
              <a:pathLst>
                <a:path h="5981700" w="6007100">
                  <a:moveTo>
                    <a:pt x="215900" y="298450"/>
                  </a:moveTo>
                  <a:cubicBezTo>
                    <a:pt x="215900" y="252859"/>
                    <a:pt x="252859" y="215900"/>
                    <a:pt x="298450" y="215900"/>
                  </a:cubicBezTo>
                  <a:cubicBezTo>
                    <a:pt x="344041" y="215900"/>
                    <a:pt x="381000" y="252859"/>
                    <a:pt x="381000" y="298450"/>
                  </a:cubicBezTo>
                  <a:cubicBezTo>
                    <a:pt x="381000" y="344041"/>
                    <a:pt x="344041" y="381000"/>
                    <a:pt x="298450" y="381000"/>
                  </a:cubicBezTo>
                  <a:cubicBezTo>
                    <a:pt x="252859" y="381000"/>
                    <a:pt x="215900" y="344041"/>
                    <a:pt x="215900" y="298450"/>
                  </a:cubicBezTo>
                  <a:close/>
                  <a:moveTo>
                    <a:pt x="5384800" y="82550"/>
                  </a:moveTo>
                  <a:cubicBezTo>
                    <a:pt x="5384800" y="36959"/>
                    <a:pt x="5421759" y="0"/>
                    <a:pt x="5467350" y="0"/>
                  </a:cubicBezTo>
                  <a:cubicBezTo>
                    <a:pt x="5512941" y="0"/>
                    <a:pt x="5549900" y="36959"/>
                    <a:pt x="5549900" y="82550"/>
                  </a:cubicBezTo>
                  <a:cubicBezTo>
                    <a:pt x="5549900" y="128141"/>
                    <a:pt x="5512941" y="165100"/>
                    <a:pt x="5467350" y="165100"/>
                  </a:cubicBezTo>
                  <a:cubicBezTo>
                    <a:pt x="5421759" y="165100"/>
                    <a:pt x="5384800" y="128141"/>
                    <a:pt x="5384800" y="82550"/>
                  </a:cubicBezTo>
                  <a:close/>
                  <a:moveTo>
                    <a:pt x="5816600" y="514350"/>
                  </a:moveTo>
                  <a:cubicBezTo>
                    <a:pt x="5816600" y="468759"/>
                    <a:pt x="5853559" y="431800"/>
                    <a:pt x="5899150" y="431800"/>
                  </a:cubicBezTo>
                  <a:cubicBezTo>
                    <a:pt x="5944741" y="431800"/>
                    <a:pt x="5981700" y="468759"/>
                    <a:pt x="5981700" y="514350"/>
                  </a:cubicBezTo>
                  <a:cubicBezTo>
                    <a:pt x="5981700" y="559941"/>
                    <a:pt x="5944741" y="596900"/>
                    <a:pt x="5899150" y="596900"/>
                  </a:cubicBezTo>
                  <a:cubicBezTo>
                    <a:pt x="5853559" y="596900"/>
                    <a:pt x="5816600" y="559941"/>
                    <a:pt x="5816600" y="514350"/>
                  </a:cubicBezTo>
                  <a:close/>
                  <a:moveTo>
                    <a:pt x="5359400" y="5861050"/>
                  </a:moveTo>
                  <a:cubicBezTo>
                    <a:pt x="5359400" y="5815459"/>
                    <a:pt x="5396359" y="5778500"/>
                    <a:pt x="5441950" y="5778500"/>
                  </a:cubicBezTo>
                  <a:cubicBezTo>
                    <a:pt x="5487541" y="5778500"/>
                    <a:pt x="5524500" y="5815459"/>
                    <a:pt x="5524500" y="5861050"/>
                  </a:cubicBezTo>
                  <a:cubicBezTo>
                    <a:pt x="5524500" y="5906641"/>
                    <a:pt x="5487541" y="5943600"/>
                    <a:pt x="5441950" y="5943600"/>
                  </a:cubicBezTo>
                  <a:cubicBezTo>
                    <a:pt x="5396359" y="5943600"/>
                    <a:pt x="5359400" y="5906641"/>
                    <a:pt x="5359400" y="5861050"/>
                  </a:cubicBezTo>
                  <a:close/>
                  <a:moveTo>
                    <a:pt x="5600700" y="5454650"/>
                  </a:moveTo>
                  <a:cubicBezTo>
                    <a:pt x="5600700" y="5409059"/>
                    <a:pt x="5637659" y="5372100"/>
                    <a:pt x="5683250" y="5372100"/>
                  </a:cubicBezTo>
                  <a:cubicBezTo>
                    <a:pt x="5728841" y="5372100"/>
                    <a:pt x="5765800" y="5409059"/>
                    <a:pt x="5765800" y="5454650"/>
                  </a:cubicBezTo>
                  <a:cubicBezTo>
                    <a:pt x="5765800" y="5500241"/>
                    <a:pt x="5728841" y="5537200"/>
                    <a:pt x="5683250" y="5537200"/>
                  </a:cubicBezTo>
                  <a:cubicBezTo>
                    <a:pt x="5637659" y="5537200"/>
                    <a:pt x="5600700" y="5500241"/>
                    <a:pt x="5600700" y="5454650"/>
                  </a:cubicBezTo>
                  <a:close/>
                  <a:moveTo>
                    <a:pt x="5842000" y="5861050"/>
                  </a:moveTo>
                  <a:cubicBezTo>
                    <a:pt x="5842000" y="5815459"/>
                    <a:pt x="5878959" y="5778500"/>
                    <a:pt x="5924550" y="5778500"/>
                  </a:cubicBezTo>
                  <a:cubicBezTo>
                    <a:pt x="5970141" y="5778500"/>
                    <a:pt x="6007100" y="5815459"/>
                    <a:pt x="6007100" y="5861050"/>
                  </a:cubicBezTo>
                  <a:cubicBezTo>
                    <a:pt x="6007100" y="5906641"/>
                    <a:pt x="5970141" y="5943600"/>
                    <a:pt x="5924550" y="5943600"/>
                  </a:cubicBezTo>
                  <a:cubicBezTo>
                    <a:pt x="5878959" y="5943600"/>
                    <a:pt x="5842000" y="5906641"/>
                    <a:pt x="5842000" y="5861050"/>
                  </a:cubicBezTo>
                  <a:close/>
                  <a:moveTo>
                    <a:pt x="0" y="5467350"/>
                  </a:moveTo>
                  <a:cubicBezTo>
                    <a:pt x="0" y="5421759"/>
                    <a:pt x="36959" y="5384800"/>
                    <a:pt x="82550" y="5384800"/>
                  </a:cubicBezTo>
                  <a:cubicBezTo>
                    <a:pt x="128141" y="5384800"/>
                    <a:pt x="165100" y="5421759"/>
                    <a:pt x="165100" y="5467350"/>
                  </a:cubicBezTo>
                  <a:cubicBezTo>
                    <a:pt x="165100" y="5512941"/>
                    <a:pt x="128141" y="5549900"/>
                    <a:pt x="82550" y="5549900"/>
                  </a:cubicBezTo>
                  <a:cubicBezTo>
                    <a:pt x="36959" y="5549900"/>
                    <a:pt x="0" y="5512941"/>
                    <a:pt x="0" y="5467350"/>
                  </a:cubicBezTo>
                  <a:close/>
                  <a:moveTo>
                    <a:pt x="431800" y="5467350"/>
                  </a:moveTo>
                  <a:cubicBezTo>
                    <a:pt x="431800" y="5421759"/>
                    <a:pt x="468759" y="5384800"/>
                    <a:pt x="514350" y="5384800"/>
                  </a:cubicBezTo>
                  <a:cubicBezTo>
                    <a:pt x="559941" y="5384800"/>
                    <a:pt x="596900" y="5421759"/>
                    <a:pt x="596900" y="5467350"/>
                  </a:cubicBezTo>
                  <a:cubicBezTo>
                    <a:pt x="596900" y="5512941"/>
                    <a:pt x="559941" y="5549900"/>
                    <a:pt x="514350" y="5549900"/>
                  </a:cubicBezTo>
                  <a:cubicBezTo>
                    <a:pt x="468759" y="5549900"/>
                    <a:pt x="431800" y="5512941"/>
                    <a:pt x="431800" y="5467350"/>
                  </a:cubicBezTo>
                  <a:close/>
                  <a:moveTo>
                    <a:pt x="0" y="5899150"/>
                  </a:moveTo>
                  <a:cubicBezTo>
                    <a:pt x="0" y="5853559"/>
                    <a:pt x="36959" y="5816600"/>
                    <a:pt x="82550" y="5816600"/>
                  </a:cubicBezTo>
                  <a:cubicBezTo>
                    <a:pt x="128141" y="5816600"/>
                    <a:pt x="165100" y="5853559"/>
                    <a:pt x="165100" y="5899150"/>
                  </a:cubicBezTo>
                  <a:cubicBezTo>
                    <a:pt x="165100" y="5944741"/>
                    <a:pt x="128141" y="5981700"/>
                    <a:pt x="82550" y="5981700"/>
                  </a:cubicBezTo>
                  <a:cubicBezTo>
                    <a:pt x="36959" y="5981700"/>
                    <a:pt x="0" y="5944741"/>
                    <a:pt x="0" y="5899150"/>
                  </a:cubicBezTo>
                  <a:close/>
                  <a:moveTo>
                    <a:pt x="431800" y="5899150"/>
                  </a:moveTo>
                  <a:cubicBezTo>
                    <a:pt x="431800" y="5853559"/>
                    <a:pt x="468759" y="5816600"/>
                    <a:pt x="514350" y="5816600"/>
                  </a:cubicBezTo>
                  <a:cubicBezTo>
                    <a:pt x="559941" y="5816600"/>
                    <a:pt x="596900" y="5853559"/>
                    <a:pt x="596900" y="5899150"/>
                  </a:cubicBezTo>
                  <a:cubicBezTo>
                    <a:pt x="596900" y="5944741"/>
                    <a:pt x="559941" y="5981700"/>
                    <a:pt x="514350" y="5981700"/>
                  </a:cubicBezTo>
                  <a:cubicBezTo>
                    <a:pt x="468759" y="5981700"/>
                    <a:pt x="431800" y="5944741"/>
                    <a:pt x="431800" y="5899150"/>
                  </a:cubicBezTo>
                  <a:close/>
                </a:path>
              </a:pathLst>
            </a:custGeom>
            <a:solidFill>
              <a:srgbClr val="FFFFFF"/>
            </a:solidFill>
          </p:spPr>
        </p:sp>
        <p:sp>
          <p:nvSpPr>
            <p:cNvPr name="TextBox 53" id="53"/>
            <p:cNvSpPr txBox="true"/>
            <p:nvPr/>
          </p:nvSpPr>
          <p:spPr>
            <a:xfrm>
              <a:off x="0" y="-38100"/>
              <a:ext cx="6007100" cy="6019800"/>
            </a:xfrm>
            <a:prstGeom prst="rect">
              <a:avLst/>
            </a:prstGeom>
          </p:spPr>
          <p:txBody>
            <a:bodyPr anchor="ctr" rtlCol="false" tIns="50800" lIns="50800" bIns="50800" rIns="50800"/>
            <a:lstStyle/>
            <a:p>
              <a:pPr algn="l">
                <a:lnSpc>
                  <a:spcPts val="1679"/>
                </a:lnSpc>
              </a:pPr>
            </a:p>
          </p:txBody>
        </p:sp>
      </p:grpSp>
      <p:grpSp>
        <p:nvGrpSpPr>
          <p:cNvPr name="Group 54" id="54"/>
          <p:cNvGrpSpPr/>
          <p:nvPr/>
        </p:nvGrpSpPr>
        <p:grpSpPr>
          <a:xfrm rot="0">
            <a:off x="13413105" y="3467100"/>
            <a:ext cx="1748790" cy="2019300"/>
            <a:chOff x="0" y="0"/>
            <a:chExt cx="2331720" cy="2692400"/>
          </a:xfrm>
        </p:grpSpPr>
        <p:sp>
          <p:nvSpPr>
            <p:cNvPr name="Freeform 55" id="55"/>
            <p:cNvSpPr/>
            <p:nvPr/>
          </p:nvSpPr>
          <p:spPr>
            <a:xfrm flipH="false" flipV="false" rot="0">
              <a:off x="0" y="0"/>
              <a:ext cx="2331720" cy="2692400"/>
            </a:xfrm>
            <a:custGeom>
              <a:avLst/>
              <a:gdLst/>
              <a:ahLst/>
              <a:cxnLst/>
              <a:rect r="r" b="b" t="t" l="l"/>
              <a:pathLst>
                <a:path h="2692400" w="2331720">
                  <a:moveTo>
                    <a:pt x="1165860" y="0"/>
                  </a:moveTo>
                  <a:lnTo>
                    <a:pt x="2331720" y="673100"/>
                  </a:lnTo>
                  <a:lnTo>
                    <a:pt x="2331720" y="2019300"/>
                  </a:lnTo>
                  <a:lnTo>
                    <a:pt x="1165860" y="2692400"/>
                  </a:lnTo>
                  <a:lnTo>
                    <a:pt x="0" y="2019300"/>
                  </a:lnTo>
                  <a:lnTo>
                    <a:pt x="0" y="673100"/>
                  </a:lnTo>
                  <a:close/>
                </a:path>
              </a:pathLst>
            </a:custGeom>
            <a:solidFill>
              <a:srgbClr val="0A2530"/>
            </a:solidFill>
          </p:spPr>
        </p:sp>
        <p:sp>
          <p:nvSpPr>
            <p:cNvPr name="TextBox 56" id="56"/>
            <p:cNvSpPr txBox="true"/>
            <p:nvPr/>
          </p:nvSpPr>
          <p:spPr>
            <a:xfrm>
              <a:off x="0" y="-38100"/>
              <a:ext cx="2331720" cy="2730500"/>
            </a:xfrm>
            <a:prstGeom prst="rect">
              <a:avLst/>
            </a:prstGeom>
          </p:spPr>
          <p:txBody>
            <a:bodyPr anchor="ctr" rtlCol="false" tIns="50800" lIns="50800" bIns="50800" rIns="50800"/>
            <a:lstStyle/>
            <a:p>
              <a:pPr algn="l">
                <a:lnSpc>
                  <a:spcPts val="1679"/>
                </a:lnSpc>
              </a:pPr>
            </a:p>
          </p:txBody>
        </p:sp>
      </p:grpSp>
      <p:grpSp>
        <p:nvGrpSpPr>
          <p:cNvPr name="Group 57" id="57"/>
          <p:cNvGrpSpPr/>
          <p:nvPr/>
        </p:nvGrpSpPr>
        <p:grpSpPr>
          <a:xfrm rot="0">
            <a:off x="13379768" y="3429000"/>
            <a:ext cx="1814512" cy="2095500"/>
            <a:chOff x="0" y="0"/>
            <a:chExt cx="2419350" cy="2794000"/>
          </a:xfrm>
        </p:grpSpPr>
        <p:sp>
          <p:nvSpPr>
            <p:cNvPr name="Freeform 58" id="58"/>
            <p:cNvSpPr/>
            <p:nvPr/>
          </p:nvSpPr>
          <p:spPr>
            <a:xfrm flipH="false" flipV="false" rot="0">
              <a:off x="0" y="0"/>
              <a:ext cx="2419350" cy="2794000"/>
            </a:xfrm>
            <a:custGeom>
              <a:avLst/>
              <a:gdLst/>
              <a:ahLst/>
              <a:cxnLst/>
              <a:rect r="r" b="b" t="t" l="l"/>
              <a:pathLst>
                <a:path h="2794000" w="2419350">
                  <a:moveTo>
                    <a:pt x="1210310" y="0"/>
                  </a:moveTo>
                  <a:lnTo>
                    <a:pt x="2419350" y="698500"/>
                  </a:lnTo>
                  <a:lnTo>
                    <a:pt x="2419350" y="2095500"/>
                  </a:lnTo>
                  <a:lnTo>
                    <a:pt x="1210310" y="2794000"/>
                  </a:lnTo>
                  <a:lnTo>
                    <a:pt x="0" y="2095500"/>
                  </a:lnTo>
                  <a:lnTo>
                    <a:pt x="0" y="698500"/>
                  </a:lnTo>
                  <a:close/>
                  <a:moveTo>
                    <a:pt x="44450" y="723900"/>
                  </a:moveTo>
                  <a:lnTo>
                    <a:pt x="44450" y="2070100"/>
                  </a:lnTo>
                  <a:lnTo>
                    <a:pt x="1210310" y="2743200"/>
                  </a:lnTo>
                  <a:lnTo>
                    <a:pt x="2376170" y="2070100"/>
                  </a:lnTo>
                  <a:lnTo>
                    <a:pt x="2376170" y="723900"/>
                  </a:lnTo>
                  <a:lnTo>
                    <a:pt x="1210310" y="50800"/>
                  </a:lnTo>
                  <a:close/>
                </a:path>
              </a:pathLst>
            </a:custGeom>
            <a:solidFill>
              <a:srgbClr val="5EC6B8"/>
            </a:solidFill>
          </p:spPr>
        </p:sp>
        <p:sp>
          <p:nvSpPr>
            <p:cNvPr name="TextBox 59" id="59"/>
            <p:cNvSpPr txBox="true"/>
            <p:nvPr/>
          </p:nvSpPr>
          <p:spPr>
            <a:xfrm>
              <a:off x="0" y="-38100"/>
              <a:ext cx="2419350" cy="2832100"/>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13190220" y="3209925"/>
            <a:ext cx="2194560" cy="2533650"/>
            <a:chOff x="0" y="0"/>
            <a:chExt cx="2926080" cy="3378200"/>
          </a:xfrm>
        </p:grpSpPr>
        <p:sp>
          <p:nvSpPr>
            <p:cNvPr name="Freeform 61" id="61"/>
            <p:cNvSpPr/>
            <p:nvPr/>
          </p:nvSpPr>
          <p:spPr>
            <a:xfrm flipH="false" flipV="false" rot="0">
              <a:off x="0" y="0"/>
              <a:ext cx="2926080" cy="3378200"/>
            </a:xfrm>
            <a:custGeom>
              <a:avLst/>
              <a:gdLst/>
              <a:ahLst/>
              <a:cxnLst/>
              <a:rect r="r" b="b" t="t" l="l"/>
              <a:pathLst>
                <a:path h="3378200" w="2926080">
                  <a:moveTo>
                    <a:pt x="1463040" y="0"/>
                  </a:moveTo>
                  <a:lnTo>
                    <a:pt x="2926080" y="844550"/>
                  </a:lnTo>
                  <a:lnTo>
                    <a:pt x="2926080" y="2533650"/>
                  </a:lnTo>
                  <a:lnTo>
                    <a:pt x="1463040" y="3378200"/>
                  </a:lnTo>
                  <a:lnTo>
                    <a:pt x="0" y="2533650"/>
                  </a:lnTo>
                  <a:lnTo>
                    <a:pt x="0" y="844550"/>
                  </a:lnTo>
                  <a:close/>
                  <a:moveTo>
                    <a:pt x="21590" y="857250"/>
                  </a:moveTo>
                  <a:lnTo>
                    <a:pt x="21590" y="2520950"/>
                  </a:lnTo>
                  <a:lnTo>
                    <a:pt x="1463040" y="3352800"/>
                  </a:lnTo>
                  <a:lnTo>
                    <a:pt x="2903220" y="2520950"/>
                  </a:lnTo>
                  <a:lnTo>
                    <a:pt x="2903220" y="857250"/>
                  </a:lnTo>
                  <a:lnTo>
                    <a:pt x="1463040" y="25400"/>
                  </a:lnTo>
                  <a:close/>
                </a:path>
              </a:pathLst>
            </a:custGeom>
            <a:solidFill>
              <a:srgbClr val="5EC6B8">
                <a:alpha val="40000"/>
              </a:srgbClr>
            </a:solidFill>
          </p:spPr>
        </p:sp>
        <p:sp>
          <p:nvSpPr>
            <p:cNvPr name="TextBox 62" id="62"/>
            <p:cNvSpPr txBox="true"/>
            <p:nvPr/>
          </p:nvSpPr>
          <p:spPr>
            <a:xfrm>
              <a:off x="0" y="-38100"/>
              <a:ext cx="2926080" cy="3416300"/>
            </a:xfrm>
            <a:prstGeom prst="rect">
              <a:avLst/>
            </a:prstGeom>
          </p:spPr>
          <p:txBody>
            <a:bodyPr anchor="ctr" rtlCol="false" tIns="50800" lIns="50800" bIns="50800" rIns="50800"/>
            <a:lstStyle/>
            <a:p>
              <a:pPr algn="l">
                <a:lnSpc>
                  <a:spcPts val="1679"/>
                </a:lnSpc>
              </a:pPr>
            </a:p>
          </p:txBody>
        </p:sp>
      </p:grpSp>
      <p:grpSp>
        <p:nvGrpSpPr>
          <p:cNvPr name="Group 63" id="63"/>
          <p:cNvGrpSpPr/>
          <p:nvPr/>
        </p:nvGrpSpPr>
        <p:grpSpPr>
          <a:xfrm rot="0">
            <a:off x="13874115" y="4103370"/>
            <a:ext cx="844868" cy="747712"/>
            <a:chOff x="0" y="0"/>
            <a:chExt cx="1126490" cy="996950"/>
          </a:xfrm>
        </p:grpSpPr>
        <p:sp>
          <p:nvSpPr>
            <p:cNvPr name="Freeform 64" id="64"/>
            <p:cNvSpPr/>
            <p:nvPr/>
          </p:nvSpPr>
          <p:spPr>
            <a:xfrm flipH="false" flipV="false" rot="0">
              <a:off x="0" y="0"/>
              <a:ext cx="1126490" cy="996950"/>
            </a:xfrm>
            <a:custGeom>
              <a:avLst/>
              <a:gdLst/>
              <a:ahLst/>
              <a:cxnLst/>
              <a:rect r="r" b="b" t="t" l="l"/>
              <a:pathLst>
                <a:path h="996950" w="1126490">
                  <a:moveTo>
                    <a:pt x="0" y="82550"/>
                  </a:moveTo>
                  <a:lnTo>
                    <a:pt x="1092200" y="539750"/>
                  </a:lnTo>
                  <a:lnTo>
                    <a:pt x="1126490" y="457200"/>
                  </a:lnTo>
                  <a:lnTo>
                    <a:pt x="34290" y="0"/>
                  </a:lnTo>
                  <a:close/>
                  <a:moveTo>
                    <a:pt x="34290" y="996950"/>
                  </a:moveTo>
                  <a:lnTo>
                    <a:pt x="1126490" y="539750"/>
                  </a:lnTo>
                  <a:lnTo>
                    <a:pt x="1092200" y="457200"/>
                  </a:lnTo>
                  <a:lnTo>
                    <a:pt x="0" y="914400"/>
                  </a:lnTo>
                  <a:close/>
                </a:path>
              </a:pathLst>
            </a:custGeom>
            <a:solidFill>
              <a:srgbClr val="5EC6B8"/>
            </a:solidFill>
          </p:spPr>
        </p:sp>
        <p:sp>
          <p:nvSpPr>
            <p:cNvPr name="TextBox 65" id="65"/>
            <p:cNvSpPr txBox="true"/>
            <p:nvPr/>
          </p:nvSpPr>
          <p:spPr>
            <a:xfrm>
              <a:off x="0" y="-38100"/>
              <a:ext cx="1126490" cy="1035050"/>
            </a:xfrm>
            <a:prstGeom prst="rect">
              <a:avLst/>
            </a:prstGeom>
          </p:spPr>
          <p:txBody>
            <a:bodyPr anchor="ctr" rtlCol="false" tIns="50800" lIns="50800" bIns="50800" rIns="50800"/>
            <a:lstStyle/>
            <a:p>
              <a:pPr algn="l">
                <a:lnSpc>
                  <a:spcPts val="1679"/>
                </a:lnSpc>
              </a:pPr>
            </a:p>
          </p:txBody>
        </p:sp>
      </p:grpSp>
      <p:grpSp>
        <p:nvGrpSpPr>
          <p:cNvPr name="Group 66" id="66"/>
          <p:cNvGrpSpPr/>
          <p:nvPr/>
        </p:nvGrpSpPr>
        <p:grpSpPr>
          <a:xfrm rot="0">
            <a:off x="13773150" y="4019550"/>
            <a:ext cx="228600" cy="914400"/>
            <a:chOff x="0" y="0"/>
            <a:chExt cx="304800" cy="1219200"/>
          </a:xfrm>
        </p:grpSpPr>
        <p:sp>
          <p:nvSpPr>
            <p:cNvPr name="Freeform 67" id="67"/>
            <p:cNvSpPr/>
            <p:nvPr/>
          </p:nvSpPr>
          <p:spPr>
            <a:xfrm flipH="false" flipV="false" rot="0">
              <a:off x="0" y="0"/>
              <a:ext cx="304800" cy="1219200"/>
            </a:xfrm>
            <a:custGeom>
              <a:avLst/>
              <a:gdLst/>
              <a:ahLst/>
              <a:cxnLst/>
              <a:rect r="r" b="b" t="t" l="l"/>
              <a:pathLst>
                <a:path h="1219200" w="304800">
                  <a:moveTo>
                    <a:pt x="0" y="152400"/>
                  </a:moveTo>
                  <a:cubicBezTo>
                    <a:pt x="0" y="68232"/>
                    <a:pt x="68232" y="0"/>
                    <a:pt x="152400" y="0"/>
                  </a:cubicBezTo>
                  <a:cubicBezTo>
                    <a:pt x="236568" y="0"/>
                    <a:pt x="304800" y="68232"/>
                    <a:pt x="304800" y="152400"/>
                  </a:cubicBezTo>
                  <a:cubicBezTo>
                    <a:pt x="304800" y="236568"/>
                    <a:pt x="236568" y="304800"/>
                    <a:pt x="152400" y="304800"/>
                  </a:cubicBezTo>
                  <a:cubicBezTo>
                    <a:pt x="68232" y="304800"/>
                    <a:pt x="0" y="236568"/>
                    <a:pt x="0" y="152400"/>
                  </a:cubicBezTo>
                  <a:close/>
                  <a:moveTo>
                    <a:pt x="0" y="1066800"/>
                  </a:moveTo>
                  <a:cubicBezTo>
                    <a:pt x="0" y="982632"/>
                    <a:pt x="68232" y="914400"/>
                    <a:pt x="152400" y="914400"/>
                  </a:cubicBezTo>
                  <a:cubicBezTo>
                    <a:pt x="236568" y="914400"/>
                    <a:pt x="304800" y="982632"/>
                    <a:pt x="304800" y="1066800"/>
                  </a:cubicBezTo>
                  <a:cubicBezTo>
                    <a:pt x="304800" y="1150968"/>
                    <a:pt x="236568" y="1219200"/>
                    <a:pt x="152400" y="1219200"/>
                  </a:cubicBezTo>
                  <a:cubicBezTo>
                    <a:pt x="68232" y="1219200"/>
                    <a:pt x="0" y="1150968"/>
                    <a:pt x="0" y="1066800"/>
                  </a:cubicBezTo>
                  <a:close/>
                </a:path>
              </a:pathLst>
            </a:custGeom>
            <a:solidFill>
              <a:srgbClr val="5EC6B8"/>
            </a:solidFill>
          </p:spPr>
        </p:sp>
        <p:sp>
          <p:nvSpPr>
            <p:cNvPr name="TextBox 68" id="68"/>
            <p:cNvSpPr txBox="true"/>
            <p:nvPr/>
          </p:nvSpPr>
          <p:spPr>
            <a:xfrm>
              <a:off x="0" y="-38100"/>
              <a:ext cx="304800" cy="1257300"/>
            </a:xfrm>
            <a:prstGeom prst="rect">
              <a:avLst/>
            </a:prstGeom>
          </p:spPr>
          <p:txBody>
            <a:bodyPr anchor="ctr" rtlCol="false" tIns="50800" lIns="50800" bIns="50800" rIns="50800"/>
            <a:lstStyle/>
            <a:p>
              <a:pPr algn="l">
                <a:lnSpc>
                  <a:spcPts val="1679"/>
                </a:lnSpc>
              </a:pPr>
            </a:p>
          </p:txBody>
        </p:sp>
      </p:grpSp>
      <p:grpSp>
        <p:nvGrpSpPr>
          <p:cNvPr name="Group 69" id="69"/>
          <p:cNvGrpSpPr/>
          <p:nvPr/>
        </p:nvGrpSpPr>
        <p:grpSpPr>
          <a:xfrm rot="0">
            <a:off x="14397038" y="4167188"/>
            <a:ext cx="619125" cy="619125"/>
            <a:chOff x="0" y="0"/>
            <a:chExt cx="825500" cy="825500"/>
          </a:xfrm>
        </p:grpSpPr>
        <p:sp>
          <p:nvSpPr>
            <p:cNvPr name="Freeform 70" id="70"/>
            <p:cNvSpPr/>
            <p:nvPr/>
          </p:nvSpPr>
          <p:spPr>
            <a:xfrm flipH="false" flipV="false" rot="0">
              <a:off x="0" y="0"/>
              <a:ext cx="825500" cy="825500"/>
            </a:xfrm>
            <a:custGeom>
              <a:avLst/>
              <a:gdLst/>
              <a:ahLst/>
              <a:cxnLst/>
              <a:rect r="r" b="b" t="t" l="l"/>
              <a:pathLst>
                <a:path h="825500" w="825500">
                  <a:moveTo>
                    <a:pt x="0" y="412750"/>
                  </a:moveTo>
                  <a:cubicBezTo>
                    <a:pt x="0" y="184794"/>
                    <a:pt x="184794" y="0"/>
                    <a:pt x="412750" y="0"/>
                  </a:cubicBezTo>
                  <a:cubicBezTo>
                    <a:pt x="640706" y="0"/>
                    <a:pt x="825500" y="184794"/>
                    <a:pt x="825500" y="412750"/>
                  </a:cubicBezTo>
                  <a:cubicBezTo>
                    <a:pt x="825500" y="640706"/>
                    <a:pt x="640706" y="825500"/>
                    <a:pt x="412750" y="825500"/>
                  </a:cubicBezTo>
                  <a:cubicBezTo>
                    <a:pt x="184794" y="825500"/>
                    <a:pt x="0" y="640706"/>
                    <a:pt x="0" y="412750"/>
                  </a:cubicBezTo>
                  <a:close/>
                  <a:moveTo>
                    <a:pt x="38100" y="412750"/>
                  </a:moveTo>
                  <a:cubicBezTo>
                    <a:pt x="38100" y="619663"/>
                    <a:pt x="205837" y="787400"/>
                    <a:pt x="412750" y="787400"/>
                  </a:cubicBezTo>
                  <a:cubicBezTo>
                    <a:pt x="619663" y="787400"/>
                    <a:pt x="787400" y="619663"/>
                    <a:pt x="787400" y="412750"/>
                  </a:cubicBezTo>
                  <a:cubicBezTo>
                    <a:pt x="787400" y="205837"/>
                    <a:pt x="619663" y="38100"/>
                    <a:pt x="412750" y="38100"/>
                  </a:cubicBezTo>
                  <a:cubicBezTo>
                    <a:pt x="205837" y="38100"/>
                    <a:pt x="38100" y="205837"/>
                    <a:pt x="38100" y="412750"/>
                  </a:cubicBezTo>
                  <a:close/>
                </a:path>
              </a:pathLst>
            </a:custGeom>
            <a:solidFill>
              <a:srgbClr val="FFE45C">
                <a:alpha val="54902"/>
              </a:srgbClr>
            </a:solidFill>
          </p:spPr>
        </p:sp>
        <p:sp>
          <p:nvSpPr>
            <p:cNvPr name="TextBox 71" id="71"/>
            <p:cNvSpPr txBox="true"/>
            <p:nvPr/>
          </p:nvSpPr>
          <p:spPr>
            <a:xfrm>
              <a:off x="0" y="-38100"/>
              <a:ext cx="825500" cy="863600"/>
            </a:xfrm>
            <a:prstGeom prst="rect">
              <a:avLst/>
            </a:prstGeom>
          </p:spPr>
          <p:txBody>
            <a:bodyPr anchor="ctr" rtlCol="false" tIns="50800" lIns="50800" bIns="50800" rIns="50800"/>
            <a:lstStyle/>
            <a:p>
              <a:pPr algn="l">
                <a:lnSpc>
                  <a:spcPts val="1679"/>
                </a:lnSpc>
              </a:pPr>
            </a:p>
          </p:txBody>
        </p:sp>
      </p:grpSp>
      <p:grpSp>
        <p:nvGrpSpPr>
          <p:cNvPr name="Group 72" id="72"/>
          <p:cNvGrpSpPr/>
          <p:nvPr/>
        </p:nvGrpSpPr>
        <p:grpSpPr>
          <a:xfrm rot="0">
            <a:off x="14535150" y="4305300"/>
            <a:ext cx="342900" cy="342900"/>
            <a:chOff x="0" y="0"/>
            <a:chExt cx="457200" cy="457200"/>
          </a:xfrm>
        </p:grpSpPr>
        <p:sp>
          <p:nvSpPr>
            <p:cNvPr name="Freeform 73" id="73"/>
            <p:cNvSpPr/>
            <p:nvPr/>
          </p:nvSpPr>
          <p:spPr>
            <a:xfrm flipH="false" flipV="false" rot="0">
              <a:off x="0" y="0"/>
              <a:ext cx="457200" cy="457200"/>
            </a:xfrm>
            <a:custGeom>
              <a:avLst/>
              <a:gdLst/>
              <a:ahLst/>
              <a:cxnLst/>
              <a:rect r="r" b="b" t="t" l="l"/>
              <a:pathLst>
                <a:path h="457200" w="457200">
                  <a:moveTo>
                    <a:pt x="0" y="228600"/>
                  </a:moveTo>
                  <a:cubicBezTo>
                    <a:pt x="0" y="102348"/>
                    <a:pt x="102348" y="0"/>
                    <a:pt x="228600" y="0"/>
                  </a:cubicBezTo>
                  <a:cubicBezTo>
                    <a:pt x="354852" y="0"/>
                    <a:pt x="457200" y="102348"/>
                    <a:pt x="457200" y="228600"/>
                  </a:cubicBezTo>
                  <a:cubicBezTo>
                    <a:pt x="457200" y="354852"/>
                    <a:pt x="354852" y="457200"/>
                    <a:pt x="228600" y="457200"/>
                  </a:cubicBezTo>
                  <a:cubicBezTo>
                    <a:pt x="102348" y="457200"/>
                    <a:pt x="0" y="354852"/>
                    <a:pt x="0" y="228600"/>
                  </a:cubicBezTo>
                  <a:close/>
                </a:path>
              </a:pathLst>
            </a:custGeom>
            <a:solidFill>
              <a:srgbClr val="FFE45C"/>
            </a:solidFill>
          </p:spPr>
        </p:sp>
        <p:sp>
          <p:nvSpPr>
            <p:cNvPr name="TextBox 74" id="74"/>
            <p:cNvSpPr txBox="true"/>
            <p:nvPr/>
          </p:nvSpPr>
          <p:spPr>
            <a:xfrm>
              <a:off x="0" y="-38100"/>
              <a:ext cx="457200" cy="495300"/>
            </a:xfrm>
            <a:prstGeom prst="rect">
              <a:avLst/>
            </a:prstGeom>
          </p:spPr>
          <p:txBody>
            <a:bodyPr anchor="ctr" rtlCol="false" tIns="50800" lIns="50800" bIns="50800" rIns="50800"/>
            <a:lstStyle/>
            <a:p>
              <a:pPr algn="l">
                <a:lnSpc>
                  <a:spcPts val="1679"/>
                </a:lnSpc>
              </a:pPr>
            </a:p>
          </p:txBody>
        </p:sp>
      </p:grpSp>
      <p:grpSp>
        <p:nvGrpSpPr>
          <p:cNvPr name="Group 75" id="75"/>
          <p:cNvGrpSpPr/>
          <p:nvPr/>
        </p:nvGrpSpPr>
        <p:grpSpPr>
          <a:xfrm rot="0">
            <a:off x="3162300" y="5810250"/>
            <a:ext cx="1905000" cy="57150"/>
            <a:chOff x="0" y="0"/>
            <a:chExt cx="2540000" cy="76200"/>
          </a:xfrm>
        </p:grpSpPr>
        <p:sp>
          <p:nvSpPr>
            <p:cNvPr name="Freeform 76" id="76"/>
            <p:cNvSpPr/>
            <p:nvPr/>
          </p:nvSpPr>
          <p:spPr>
            <a:xfrm flipH="false" flipV="false" rot="0">
              <a:off x="0" y="0"/>
              <a:ext cx="2540000" cy="76200"/>
            </a:xfrm>
            <a:custGeom>
              <a:avLst/>
              <a:gdLst/>
              <a:ahLst/>
              <a:cxnLst/>
              <a:rect r="r" b="b" t="t" l="l"/>
              <a:pathLst>
                <a:path h="76200" w="2540000">
                  <a:moveTo>
                    <a:pt x="0" y="0"/>
                  </a:moveTo>
                  <a:lnTo>
                    <a:pt x="2540000" y="0"/>
                  </a:lnTo>
                  <a:lnTo>
                    <a:pt x="2540000" y="76200"/>
                  </a:lnTo>
                  <a:lnTo>
                    <a:pt x="0" y="76200"/>
                  </a:lnTo>
                  <a:close/>
                </a:path>
              </a:pathLst>
            </a:custGeom>
            <a:solidFill>
              <a:srgbClr val="E8B44C"/>
            </a:solidFill>
          </p:spPr>
        </p:sp>
        <p:sp>
          <p:nvSpPr>
            <p:cNvPr name="TextBox 77" id="77"/>
            <p:cNvSpPr txBox="true"/>
            <p:nvPr/>
          </p:nvSpPr>
          <p:spPr>
            <a:xfrm>
              <a:off x="0" y="-38100"/>
              <a:ext cx="2540000" cy="114300"/>
            </a:xfrm>
            <a:prstGeom prst="rect">
              <a:avLst/>
            </a:prstGeom>
          </p:spPr>
          <p:txBody>
            <a:bodyPr anchor="ctr" rtlCol="false" tIns="50800" lIns="50800" bIns="50800" rIns="50800"/>
            <a:lstStyle/>
            <a:p>
              <a:pPr algn="l">
                <a:lnSpc>
                  <a:spcPts val="1679"/>
                </a:lnSpc>
              </a:pPr>
            </a:p>
          </p:txBody>
        </p:sp>
      </p:grpSp>
      <p:grpSp>
        <p:nvGrpSpPr>
          <p:cNvPr name="Group 78" id="78"/>
          <p:cNvGrpSpPr/>
          <p:nvPr/>
        </p:nvGrpSpPr>
        <p:grpSpPr>
          <a:xfrm rot="0">
            <a:off x="5143500" y="5810250"/>
            <a:ext cx="1905000" cy="57150"/>
            <a:chOff x="0" y="0"/>
            <a:chExt cx="2540000" cy="76200"/>
          </a:xfrm>
        </p:grpSpPr>
        <p:sp>
          <p:nvSpPr>
            <p:cNvPr name="Freeform 79" id="79"/>
            <p:cNvSpPr/>
            <p:nvPr/>
          </p:nvSpPr>
          <p:spPr>
            <a:xfrm flipH="false" flipV="false" rot="0">
              <a:off x="0" y="0"/>
              <a:ext cx="2540000" cy="76200"/>
            </a:xfrm>
            <a:custGeom>
              <a:avLst/>
              <a:gdLst/>
              <a:ahLst/>
              <a:cxnLst/>
              <a:rect r="r" b="b" t="t" l="l"/>
              <a:pathLst>
                <a:path h="76200" w="2540000">
                  <a:moveTo>
                    <a:pt x="0" y="0"/>
                  </a:moveTo>
                  <a:lnTo>
                    <a:pt x="2540000" y="0"/>
                  </a:lnTo>
                  <a:lnTo>
                    <a:pt x="2540000" y="76200"/>
                  </a:lnTo>
                  <a:lnTo>
                    <a:pt x="0" y="76200"/>
                  </a:lnTo>
                  <a:close/>
                </a:path>
              </a:pathLst>
            </a:custGeom>
            <a:solidFill>
              <a:srgbClr val="5B59E0"/>
            </a:solidFill>
          </p:spPr>
        </p:sp>
        <p:sp>
          <p:nvSpPr>
            <p:cNvPr name="TextBox 80" id="80"/>
            <p:cNvSpPr txBox="true"/>
            <p:nvPr/>
          </p:nvSpPr>
          <p:spPr>
            <a:xfrm>
              <a:off x="0" y="-38100"/>
              <a:ext cx="2540000" cy="114300"/>
            </a:xfrm>
            <a:prstGeom prst="rect">
              <a:avLst/>
            </a:prstGeom>
          </p:spPr>
          <p:txBody>
            <a:bodyPr anchor="ctr" rtlCol="false" tIns="50800" lIns="50800" bIns="50800" rIns="50800"/>
            <a:lstStyle/>
            <a:p>
              <a:pPr algn="l">
                <a:lnSpc>
                  <a:spcPts val="1679"/>
                </a:lnSpc>
              </a:pPr>
            </a:p>
          </p:txBody>
        </p:sp>
      </p:grpSp>
      <p:grpSp>
        <p:nvGrpSpPr>
          <p:cNvPr name="Group 81" id="81"/>
          <p:cNvGrpSpPr/>
          <p:nvPr/>
        </p:nvGrpSpPr>
        <p:grpSpPr>
          <a:xfrm rot="0">
            <a:off x="7124700" y="5810250"/>
            <a:ext cx="1905000" cy="57150"/>
            <a:chOff x="0" y="0"/>
            <a:chExt cx="2540000" cy="76200"/>
          </a:xfrm>
        </p:grpSpPr>
        <p:sp>
          <p:nvSpPr>
            <p:cNvPr name="Freeform 82" id="82"/>
            <p:cNvSpPr/>
            <p:nvPr/>
          </p:nvSpPr>
          <p:spPr>
            <a:xfrm flipH="false" flipV="false" rot="0">
              <a:off x="0" y="0"/>
              <a:ext cx="2540000" cy="76200"/>
            </a:xfrm>
            <a:custGeom>
              <a:avLst/>
              <a:gdLst/>
              <a:ahLst/>
              <a:cxnLst/>
              <a:rect r="r" b="b" t="t" l="l"/>
              <a:pathLst>
                <a:path h="76200" w="2540000">
                  <a:moveTo>
                    <a:pt x="0" y="0"/>
                  </a:moveTo>
                  <a:lnTo>
                    <a:pt x="2540000" y="0"/>
                  </a:lnTo>
                  <a:lnTo>
                    <a:pt x="2540000" y="76200"/>
                  </a:lnTo>
                  <a:lnTo>
                    <a:pt x="0" y="76200"/>
                  </a:lnTo>
                  <a:close/>
                </a:path>
              </a:pathLst>
            </a:custGeom>
            <a:solidFill>
              <a:srgbClr val="C2374F"/>
            </a:solidFill>
          </p:spPr>
        </p:sp>
        <p:sp>
          <p:nvSpPr>
            <p:cNvPr name="TextBox 83" id="83"/>
            <p:cNvSpPr txBox="true"/>
            <p:nvPr/>
          </p:nvSpPr>
          <p:spPr>
            <a:xfrm>
              <a:off x="0" y="-38100"/>
              <a:ext cx="2540000" cy="114300"/>
            </a:xfrm>
            <a:prstGeom prst="rect">
              <a:avLst/>
            </a:prstGeom>
          </p:spPr>
          <p:txBody>
            <a:bodyPr anchor="ctr" rtlCol="false" tIns="50800" lIns="50800" bIns="50800" rIns="50800"/>
            <a:lstStyle/>
            <a:p>
              <a:pPr algn="l">
                <a:lnSpc>
                  <a:spcPts val="1679"/>
                </a:lnSpc>
              </a:pPr>
            </a:p>
          </p:txBody>
        </p:sp>
      </p:grpSp>
      <p:sp>
        <p:nvSpPr>
          <p:cNvPr name="Freeform 84" id="84"/>
          <p:cNvSpPr/>
          <p:nvPr/>
        </p:nvSpPr>
        <p:spPr>
          <a:xfrm flipH="false" flipV="false" rot="0">
            <a:off x="1174151" y="419488"/>
            <a:ext cx="2433249" cy="924396"/>
          </a:xfrm>
          <a:custGeom>
            <a:avLst/>
            <a:gdLst/>
            <a:ahLst/>
            <a:cxnLst/>
            <a:rect r="r" b="b" t="t" l="l"/>
            <a:pathLst>
              <a:path h="924396" w="2433249">
                <a:moveTo>
                  <a:pt x="0" y="0"/>
                </a:moveTo>
                <a:lnTo>
                  <a:pt x="2433248" y="0"/>
                </a:lnTo>
                <a:lnTo>
                  <a:pt x="2433248" y="924396"/>
                </a:lnTo>
                <a:lnTo>
                  <a:pt x="0" y="924396"/>
                </a:lnTo>
                <a:lnTo>
                  <a:pt x="0" y="0"/>
                </a:lnTo>
                <a:close/>
              </a:path>
            </a:pathLst>
          </a:custGeom>
          <a:blipFill>
            <a:blip r:embed="rId3"/>
            <a:stretch>
              <a:fillRect l="0" t="0" r="0" b="0"/>
            </a:stretch>
          </a:blipFill>
        </p:spPr>
      </p:sp>
      <p:sp>
        <p:nvSpPr>
          <p:cNvPr name="Freeform 85" id="85"/>
          <p:cNvSpPr/>
          <p:nvPr/>
        </p:nvSpPr>
        <p:spPr>
          <a:xfrm flipH="false" flipV="false" rot="0">
            <a:off x="5381625" y="317866"/>
            <a:ext cx="1883413" cy="1091834"/>
          </a:xfrm>
          <a:custGeom>
            <a:avLst/>
            <a:gdLst/>
            <a:ahLst/>
            <a:cxnLst/>
            <a:rect r="r" b="b" t="t" l="l"/>
            <a:pathLst>
              <a:path h="1091834" w="1883413">
                <a:moveTo>
                  <a:pt x="0" y="0"/>
                </a:moveTo>
                <a:lnTo>
                  <a:pt x="1883413" y="0"/>
                </a:lnTo>
                <a:lnTo>
                  <a:pt x="1883413" y="1091834"/>
                </a:lnTo>
                <a:lnTo>
                  <a:pt x="0" y="1091834"/>
                </a:lnTo>
                <a:lnTo>
                  <a:pt x="0" y="0"/>
                </a:lnTo>
                <a:close/>
              </a:path>
            </a:pathLst>
          </a:custGeom>
          <a:blipFill>
            <a:blip r:embed="rId4"/>
            <a:stretch>
              <a:fillRect l="0" t="0" r="0" b="0"/>
            </a:stretch>
          </a:blipFill>
        </p:spPr>
      </p:sp>
      <p:sp>
        <p:nvSpPr>
          <p:cNvPr name="TextBox 86" id="86"/>
          <p:cNvSpPr txBox="true"/>
          <p:nvPr/>
        </p:nvSpPr>
        <p:spPr>
          <a:xfrm rot="0">
            <a:off x="1181100" y="1381125"/>
            <a:ext cx="9525000" cy="342900"/>
          </a:xfrm>
          <a:prstGeom prst="rect">
            <a:avLst/>
          </a:prstGeom>
        </p:spPr>
        <p:txBody>
          <a:bodyPr anchor="t" rtlCol="false" tIns="0" lIns="0" bIns="0" rIns="0">
            <a:spAutoFit/>
          </a:bodyPr>
          <a:lstStyle/>
          <a:p>
            <a:pPr algn="l">
              <a:lnSpc>
                <a:spcPts val="2340"/>
              </a:lnSpc>
            </a:pPr>
            <a:r>
              <a:rPr lang="en-US" sz="1950" b="true">
                <a:solidFill>
                  <a:srgbClr val="5EC6B8"/>
                </a:solidFill>
                <a:latin typeface="Calibri (MS) Bold"/>
                <a:ea typeface="Calibri (MS) Bold"/>
                <a:cs typeface="Calibri (MS) Bold"/>
                <a:sym typeface="Calibri (MS) Bold"/>
              </a:rPr>
              <a:t>MODULE MLOPS &amp; DATAOPS — PROJET DE FIN DE MODULE</a:t>
            </a:r>
          </a:p>
        </p:txBody>
      </p:sp>
      <p:sp>
        <p:nvSpPr>
          <p:cNvPr name="TextBox 87" id="87"/>
          <p:cNvSpPr txBox="true"/>
          <p:nvPr/>
        </p:nvSpPr>
        <p:spPr>
          <a:xfrm rot="0">
            <a:off x="1143000" y="1628775"/>
            <a:ext cx="9810750" cy="1828800"/>
          </a:xfrm>
          <a:prstGeom prst="rect">
            <a:avLst/>
          </a:prstGeom>
        </p:spPr>
        <p:txBody>
          <a:bodyPr anchor="t" rtlCol="false" tIns="0" lIns="0" bIns="0" rIns="0">
            <a:spAutoFit/>
          </a:bodyPr>
          <a:lstStyle/>
          <a:p>
            <a:pPr algn="l">
              <a:lnSpc>
                <a:spcPts val="12600"/>
              </a:lnSpc>
            </a:pPr>
            <a:r>
              <a:rPr lang="en-US" sz="10500" b="true">
                <a:solidFill>
                  <a:srgbClr val="FFFFFF"/>
                </a:solidFill>
                <a:latin typeface="Calibri (MS) Bold"/>
                <a:ea typeface="Calibri (MS) Bold"/>
                <a:cs typeface="Calibri (MS) Bold"/>
                <a:sym typeface="Calibri (MS) Bold"/>
              </a:rPr>
              <a:t>PipelineForge</a:t>
            </a:r>
          </a:p>
        </p:txBody>
      </p:sp>
      <p:sp>
        <p:nvSpPr>
          <p:cNvPr name="TextBox 88" id="88"/>
          <p:cNvSpPr txBox="true"/>
          <p:nvPr/>
        </p:nvSpPr>
        <p:spPr>
          <a:xfrm rot="0">
            <a:off x="1181100" y="3600450"/>
            <a:ext cx="9525000" cy="542925"/>
          </a:xfrm>
          <a:prstGeom prst="rect">
            <a:avLst/>
          </a:prstGeom>
        </p:spPr>
        <p:txBody>
          <a:bodyPr anchor="t" rtlCol="false" tIns="0" lIns="0" bIns="0" rIns="0">
            <a:spAutoFit/>
          </a:bodyPr>
          <a:lstStyle/>
          <a:p>
            <a:pPr algn="l">
              <a:lnSpc>
                <a:spcPts val="3779"/>
              </a:lnSpc>
            </a:pPr>
            <a:r>
              <a:rPr lang="en-US" sz="3150" b="true">
                <a:solidFill>
                  <a:srgbClr val="E8B44C"/>
                </a:solidFill>
                <a:latin typeface="Calibri (MS) Bold"/>
                <a:ea typeface="Calibri (MS) Bold"/>
                <a:cs typeface="Calibri (MS) Bold"/>
                <a:sym typeface="Calibri (MS) Bold"/>
              </a:rPr>
              <a:t>Assistant Scientifique Documentaire (LLMOps)</a:t>
            </a:r>
          </a:p>
        </p:txBody>
      </p:sp>
      <p:sp>
        <p:nvSpPr>
          <p:cNvPr name="TextBox 89" id="89"/>
          <p:cNvSpPr txBox="true"/>
          <p:nvPr/>
        </p:nvSpPr>
        <p:spPr>
          <a:xfrm rot="0">
            <a:off x="1181100" y="4429125"/>
            <a:ext cx="9906000" cy="676275"/>
          </a:xfrm>
          <a:prstGeom prst="rect">
            <a:avLst/>
          </a:prstGeom>
        </p:spPr>
        <p:txBody>
          <a:bodyPr anchor="t" rtlCol="false" tIns="0" lIns="0" bIns="0" rIns="0">
            <a:spAutoFit/>
          </a:bodyPr>
          <a:lstStyle/>
          <a:p>
            <a:pPr algn="l">
              <a:lnSpc>
                <a:spcPts val="2520"/>
              </a:lnSpc>
            </a:pPr>
            <a:r>
              <a:rPr lang="en-US" sz="2100">
                <a:solidFill>
                  <a:srgbClr val="C9CFD8"/>
                </a:solidFill>
                <a:latin typeface="Calibri (MS)"/>
                <a:ea typeface="Calibri (MS)"/>
                <a:cs typeface="Calibri (MS)"/>
                <a:sym typeface="Calibri (MS)"/>
              </a:rPr>
              <a:t>Conception, industrialisation et déploiement d'un système RAG appliqué</a:t>
            </a:r>
          </a:p>
          <a:p>
            <a:pPr algn="l">
              <a:lnSpc>
                <a:spcPts val="2520"/>
              </a:lnSpc>
            </a:pPr>
            <a:r>
              <a:rPr lang="en-US" sz="2100">
                <a:solidFill>
                  <a:srgbClr val="C9CFD8"/>
                </a:solidFill>
                <a:latin typeface="Calibri (MS)"/>
                <a:ea typeface="Calibri (MS)"/>
                <a:cs typeface="Calibri (MS)"/>
                <a:sym typeface="Calibri (MS)"/>
              </a:rPr>
              <a:t>au corpus biomédical PubMed Central Open Access</a:t>
            </a:r>
          </a:p>
        </p:txBody>
      </p:sp>
      <p:sp>
        <p:nvSpPr>
          <p:cNvPr name="TextBox 90" id="90"/>
          <p:cNvSpPr txBox="true"/>
          <p:nvPr/>
        </p:nvSpPr>
        <p:spPr>
          <a:xfrm rot="0">
            <a:off x="1181100" y="6153150"/>
            <a:ext cx="9906000" cy="1466850"/>
          </a:xfrm>
          <a:prstGeom prst="rect">
            <a:avLst/>
          </a:prstGeom>
        </p:spPr>
        <p:txBody>
          <a:bodyPr anchor="t" rtlCol="false" tIns="0" lIns="0" bIns="0" rIns="0">
            <a:spAutoFit/>
          </a:bodyPr>
          <a:lstStyle/>
          <a:p>
            <a:pPr algn="l">
              <a:lnSpc>
                <a:spcPts val="2250"/>
              </a:lnSpc>
            </a:pPr>
            <a:r>
              <a:rPr lang="en-US" sz="1875" b="true">
                <a:solidFill>
                  <a:srgbClr val="FFFFFF"/>
                </a:solidFill>
                <a:latin typeface="Calibri (MS) Bold"/>
                <a:ea typeface="Calibri (MS) Bold"/>
                <a:cs typeface="Calibri (MS) Bold"/>
                <a:sym typeface="Calibri (MS) Bold"/>
              </a:rPr>
              <a:t>Équipe PipelineForge — 8 membres : </a:t>
            </a:r>
            <a:r>
              <a:rPr lang="en-US" sz="1875">
                <a:solidFill>
                  <a:srgbClr val="C9CFD8"/>
                </a:solidFill>
                <a:latin typeface="Calibri (MS)"/>
                <a:ea typeface="Calibri (MS)"/>
                <a:cs typeface="Calibri (MS)"/>
                <a:sym typeface="Calibri (MS)"/>
              </a:rPr>
              <a:t>Marouane Daouki · Imane Alouani · Hanane Ayar ·</a:t>
            </a:r>
          </a:p>
          <a:p>
            <a:pPr algn="l">
              <a:lnSpc>
                <a:spcPts val="2250"/>
              </a:lnSpc>
            </a:pPr>
            <a:r>
              <a:rPr lang="en-US" sz="1875">
                <a:solidFill>
                  <a:srgbClr val="C9CFD8"/>
                </a:solidFill>
                <a:latin typeface="Calibri (MS)"/>
                <a:ea typeface="Calibri (MS)"/>
                <a:cs typeface="Calibri (MS)"/>
                <a:sym typeface="Calibri (MS)"/>
              </a:rPr>
              <a:t>Maroua Karroum · El Betti Jihad · Hafsa Elhilali · Chbab Brahim · Bouazza Amina</a:t>
            </a:r>
          </a:p>
          <a:p>
            <a:pPr algn="l">
              <a:lnSpc>
                <a:spcPts val="2250"/>
              </a:lnSpc>
            </a:pPr>
            <a:r>
              <a:rPr lang="en-US" sz="1875">
                <a:solidFill>
                  <a:srgbClr val="C9CFD8"/>
                </a:solidFill>
                <a:latin typeface="Calibri (MS)"/>
                <a:ea typeface="Calibri (MS)"/>
                <a:cs typeface="Calibri (MS)"/>
                <a:sym typeface="Calibri (MS)"/>
              </a:rPr>
              <a:t>Encadrant : Pr. Mohammed AIT DAOUD</a:t>
            </a:r>
          </a:p>
          <a:p>
            <a:pPr algn="l">
              <a:lnSpc>
                <a:spcPts val="2250"/>
              </a:lnSpc>
            </a:pPr>
            <a:r>
              <a:rPr lang="en-US" sz="1875">
                <a:solidFill>
                  <a:srgbClr val="C9CFD8"/>
                </a:solidFill>
                <a:latin typeface="Calibri (MS)"/>
                <a:ea typeface="Calibri (MS)"/>
                <a:cs typeface="Calibri (MS)"/>
                <a:sym typeface="Calibri (MS)"/>
              </a:rPr>
              <a:t>Faculté des Sciences Ben M'Sick, Université Hassan II de Casablanca</a:t>
            </a:r>
          </a:p>
          <a:p>
            <a:pPr algn="l">
              <a:lnSpc>
                <a:spcPts val="2250"/>
              </a:lnSpc>
            </a:pPr>
            <a:r>
              <a:rPr lang="en-US" sz="1875">
                <a:solidFill>
                  <a:srgbClr val="9AA3B0"/>
                </a:solidFill>
                <a:latin typeface="Calibri (MS)"/>
                <a:ea typeface="Calibri (MS)"/>
                <a:cs typeface="Calibri (MS)"/>
                <a:sym typeface="Calibri (MS)"/>
              </a:rPr>
              <a:t>Année universitaire 2025–2026   —   Soutenance du 22 septembre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FFFFF"/>
            </a:solidFill>
          </p:spPr>
        </p:sp>
      </p:grpSp>
      <p:grpSp>
        <p:nvGrpSpPr>
          <p:cNvPr name="Group 4" id="4"/>
          <p:cNvGrpSpPr/>
          <p:nvPr/>
        </p:nvGrpSpPr>
        <p:grpSpPr>
          <a:xfrm rot="0">
            <a:off x="0" y="0"/>
            <a:ext cx="18287543" cy="114300"/>
            <a:chOff x="0" y="0"/>
            <a:chExt cx="24383390" cy="152400"/>
          </a:xfrm>
        </p:grpSpPr>
        <p:sp>
          <p:nvSpPr>
            <p:cNvPr name="Freeform 5" id="5"/>
            <p:cNvSpPr/>
            <p:nvPr/>
          </p:nvSpPr>
          <p:spPr>
            <a:xfrm flipH="false" flipV="false" rot="0">
              <a:off x="0" y="0"/>
              <a:ext cx="24383364" cy="152400"/>
            </a:xfrm>
            <a:custGeom>
              <a:avLst/>
              <a:gdLst/>
              <a:ahLst/>
              <a:cxnLst/>
              <a:rect r="r" b="b" t="t" l="l"/>
              <a:pathLst>
                <a:path h="152400" w="24383364">
                  <a:moveTo>
                    <a:pt x="0" y="0"/>
                  </a:moveTo>
                  <a:lnTo>
                    <a:pt x="24383364" y="0"/>
                  </a:lnTo>
                  <a:lnTo>
                    <a:pt x="24383364" y="152400"/>
                  </a:lnTo>
                  <a:lnTo>
                    <a:pt x="0" y="152400"/>
                  </a:lnTo>
                  <a:close/>
                </a:path>
              </a:pathLst>
            </a:custGeom>
            <a:solidFill>
              <a:srgbClr val="0F766E"/>
            </a:solidFill>
          </p:spPr>
        </p:sp>
      </p:grpSp>
      <p:sp>
        <p:nvSpPr>
          <p:cNvPr name="TextBox 6" id="6"/>
          <p:cNvSpPr txBox="true"/>
          <p:nvPr/>
        </p:nvSpPr>
        <p:spPr>
          <a:xfrm rot="0">
            <a:off x="805177" y="360683"/>
            <a:ext cx="13065757" cy="666750"/>
          </a:xfrm>
          <a:prstGeom prst="rect">
            <a:avLst/>
          </a:prstGeom>
        </p:spPr>
        <p:txBody>
          <a:bodyPr anchor="t" rtlCol="false" tIns="0" lIns="0" bIns="0" rIns="0">
            <a:spAutoFit/>
          </a:bodyPr>
          <a:lstStyle/>
          <a:p>
            <a:pPr algn="l">
              <a:lnSpc>
                <a:spcPts val="4680"/>
              </a:lnSpc>
            </a:pPr>
            <a:r>
              <a:rPr lang="en-US" sz="3900" b="true">
                <a:solidFill>
                  <a:srgbClr val="262A33"/>
                </a:solidFill>
                <a:latin typeface="Calibri (MS) Bold"/>
                <a:ea typeface="Calibri (MS) Bold"/>
                <a:cs typeface="Calibri (MS) Bold"/>
                <a:sym typeface="Calibri (MS) Bold"/>
              </a:rPr>
              <a:t>Problème et objectif</a:t>
            </a:r>
          </a:p>
        </p:txBody>
      </p:sp>
      <p:sp>
        <p:nvSpPr>
          <p:cNvPr name="TextBox 7" id="7"/>
          <p:cNvSpPr txBox="true"/>
          <p:nvPr/>
        </p:nvSpPr>
        <p:spPr>
          <a:xfrm rot="0">
            <a:off x="846325" y="1331471"/>
            <a:ext cx="13065757" cy="323850"/>
          </a:xfrm>
          <a:prstGeom prst="rect">
            <a:avLst/>
          </a:prstGeom>
        </p:spPr>
        <p:txBody>
          <a:bodyPr anchor="t" rtlCol="false" tIns="0" lIns="0" bIns="0" rIns="0">
            <a:spAutoFit/>
          </a:bodyPr>
          <a:lstStyle/>
          <a:p>
            <a:pPr algn="l">
              <a:lnSpc>
                <a:spcPts val="2250"/>
              </a:lnSpc>
            </a:pPr>
            <a:r>
              <a:rPr lang="en-US" sz="1875" i="true">
                <a:solidFill>
                  <a:srgbClr val="6B707A"/>
                </a:solidFill>
                <a:latin typeface="Calibri (MS) Italics"/>
                <a:ea typeface="Calibri (MS) Italics"/>
                <a:cs typeface="Calibri (MS) Italics"/>
                <a:sym typeface="Calibri (MS) Italics"/>
              </a:rPr>
              <a:t>Pourquoi un assistant documentaire, et pourquoi le RAG</a:t>
            </a:r>
          </a:p>
        </p:txBody>
      </p:sp>
      <p:grpSp>
        <p:nvGrpSpPr>
          <p:cNvPr name="Group 8" id="8"/>
          <p:cNvGrpSpPr/>
          <p:nvPr/>
        </p:nvGrpSpPr>
        <p:grpSpPr>
          <a:xfrm rot="0">
            <a:off x="14470380" y="493776"/>
            <a:ext cx="3223260" cy="850392"/>
            <a:chOff x="0" y="0"/>
            <a:chExt cx="4297680" cy="1133856"/>
          </a:xfrm>
        </p:grpSpPr>
        <p:sp>
          <p:nvSpPr>
            <p:cNvPr name="Freeform 9" id="9"/>
            <p:cNvSpPr/>
            <p:nvPr/>
          </p:nvSpPr>
          <p:spPr>
            <a:xfrm flipH="false" flipV="false" rot="0">
              <a:off x="0" y="0"/>
              <a:ext cx="4297680" cy="1133856"/>
            </a:xfrm>
            <a:custGeom>
              <a:avLst/>
              <a:gdLst/>
              <a:ahLst/>
              <a:cxnLst/>
              <a:rect r="r" b="b" t="t" l="l"/>
              <a:pathLst>
                <a:path h="1133856" w="4297680">
                  <a:moveTo>
                    <a:pt x="0" y="0"/>
                  </a:moveTo>
                  <a:lnTo>
                    <a:pt x="4297680" y="0"/>
                  </a:lnTo>
                  <a:lnTo>
                    <a:pt x="4297680" y="1133856"/>
                  </a:lnTo>
                  <a:lnTo>
                    <a:pt x="0" y="1133856"/>
                  </a:lnTo>
                  <a:close/>
                </a:path>
              </a:pathLst>
            </a:custGeom>
            <a:solidFill>
              <a:srgbClr val="0F766E"/>
            </a:solidFill>
          </p:spPr>
        </p:sp>
        <p:sp>
          <p:nvSpPr>
            <p:cNvPr name="TextBox 10" id="10"/>
            <p:cNvSpPr txBox="true"/>
            <p:nvPr/>
          </p:nvSpPr>
          <p:spPr>
            <a:xfrm>
              <a:off x="0" y="-47625"/>
              <a:ext cx="4297680" cy="1181481"/>
            </a:xfrm>
            <a:prstGeom prst="rect">
              <a:avLst/>
            </a:prstGeom>
          </p:spPr>
          <p:txBody>
            <a:bodyPr anchor="ctr" rtlCol="false" tIns="50800" lIns="50800" bIns="50800" rIns="50800"/>
            <a:lstStyle/>
            <a:p>
              <a:pPr algn="ctr">
                <a:lnSpc>
                  <a:spcPts val="2340"/>
                </a:lnSpc>
              </a:pPr>
              <a:r>
                <a:rPr lang="en-US" sz="1950" b="true">
                  <a:solidFill>
                    <a:srgbClr val="FFFFFF"/>
                  </a:solidFill>
                  <a:latin typeface="Calibri (MS) Bold"/>
                  <a:ea typeface="Calibri (MS) Bold"/>
                  <a:cs typeface="Calibri (MS) Bold"/>
                  <a:sym typeface="Calibri (MS) Bold"/>
                </a:rPr>
                <a:t>SPRINT 1</a:t>
              </a:r>
            </a:p>
            <a:p>
              <a:pPr algn="ctr">
                <a:lnSpc>
                  <a:spcPts val="1709"/>
                </a:lnSpc>
              </a:pPr>
              <a:r>
                <a:rPr lang="en-US" sz="1425">
                  <a:solidFill>
                    <a:srgbClr val="FFFFFF"/>
                  </a:solidFill>
                  <a:latin typeface="Calibri (MS)"/>
                  <a:ea typeface="Calibri (MS)"/>
                  <a:cs typeface="Calibri (MS)"/>
                  <a:sym typeface="Calibri (MS)"/>
                </a:rPr>
                <a:t>Marouane Daouki</a:t>
              </a:r>
            </a:p>
          </p:txBody>
        </p:sp>
      </p:grpSp>
      <p:grpSp>
        <p:nvGrpSpPr>
          <p:cNvPr name="Group 11" id="11"/>
          <p:cNvGrpSpPr/>
          <p:nvPr/>
        </p:nvGrpSpPr>
        <p:grpSpPr>
          <a:xfrm rot="0">
            <a:off x="0" y="9791700"/>
            <a:ext cx="18287543" cy="495300"/>
            <a:chOff x="0" y="0"/>
            <a:chExt cx="24383390" cy="660400"/>
          </a:xfrm>
        </p:grpSpPr>
        <p:sp>
          <p:nvSpPr>
            <p:cNvPr name="Freeform 12" id="12"/>
            <p:cNvSpPr/>
            <p:nvPr/>
          </p:nvSpPr>
          <p:spPr>
            <a:xfrm flipH="false" flipV="false" rot="0">
              <a:off x="0" y="0"/>
              <a:ext cx="24383364" cy="660400"/>
            </a:xfrm>
            <a:custGeom>
              <a:avLst/>
              <a:gdLst/>
              <a:ahLst/>
              <a:cxnLst/>
              <a:rect r="r" b="b" t="t" l="l"/>
              <a:pathLst>
                <a:path h="660400" w="24383364">
                  <a:moveTo>
                    <a:pt x="0" y="0"/>
                  </a:moveTo>
                  <a:lnTo>
                    <a:pt x="24383364" y="0"/>
                  </a:lnTo>
                  <a:lnTo>
                    <a:pt x="24383364" y="660400"/>
                  </a:lnTo>
                  <a:lnTo>
                    <a:pt x="0" y="660400"/>
                  </a:lnTo>
                  <a:close/>
                </a:path>
              </a:pathLst>
            </a:custGeom>
            <a:solidFill>
              <a:srgbClr val="F2F3F5"/>
            </a:solidFill>
          </p:spPr>
        </p:sp>
      </p:grpSp>
      <p:grpSp>
        <p:nvGrpSpPr>
          <p:cNvPr name="Group 13" id="13"/>
          <p:cNvGrpSpPr/>
          <p:nvPr/>
        </p:nvGrpSpPr>
        <p:grpSpPr>
          <a:xfrm rot="0">
            <a:off x="754380" y="9810750"/>
            <a:ext cx="9601200" cy="381000"/>
            <a:chOff x="0" y="0"/>
            <a:chExt cx="12801600" cy="508000"/>
          </a:xfrm>
        </p:grpSpPr>
        <p:sp>
          <p:nvSpPr>
            <p:cNvPr name="Freeform 14" id="14"/>
            <p:cNvSpPr/>
            <p:nvPr/>
          </p:nvSpPr>
          <p:spPr>
            <a:xfrm flipH="false" flipV="false" rot="0">
              <a:off x="0" y="0"/>
              <a:ext cx="12801600" cy="508000"/>
            </a:xfrm>
            <a:custGeom>
              <a:avLst/>
              <a:gdLst/>
              <a:ahLst/>
              <a:cxnLst/>
              <a:rect r="r" b="b" t="t" l="l"/>
              <a:pathLst>
                <a:path h="508000" w="12801600">
                  <a:moveTo>
                    <a:pt x="0" y="0"/>
                  </a:moveTo>
                  <a:lnTo>
                    <a:pt x="12801600" y="0"/>
                  </a:lnTo>
                  <a:lnTo>
                    <a:pt x="12801600" y="508000"/>
                  </a:lnTo>
                  <a:lnTo>
                    <a:pt x="0" y="508000"/>
                  </a:lnTo>
                  <a:close/>
                </a:path>
              </a:pathLst>
            </a:custGeom>
            <a:blipFill>
              <a:blip r:embed="rId3">
                <a:alphaModFix amt="0"/>
              </a:blip>
              <a:stretch>
                <a:fillRect l="0" t="-441022" r="0" b="-441022"/>
              </a:stretch>
            </a:blipFill>
          </p:spPr>
        </p:sp>
        <p:sp>
          <p:nvSpPr>
            <p:cNvPr name="TextBox 15" id="15"/>
            <p:cNvSpPr txBox="true"/>
            <p:nvPr/>
          </p:nvSpPr>
          <p:spPr>
            <a:xfrm>
              <a:off x="0" y="-28575"/>
              <a:ext cx="12801600" cy="536575"/>
            </a:xfrm>
            <a:prstGeom prst="rect">
              <a:avLst/>
            </a:prstGeom>
          </p:spPr>
          <p:txBody>
            <a:bodyPr anchor="ctr" rtlCol="false" tIns="0" lIns="0" bIns="0" rIns="0"/>
            <a:lstStyle/>
            <a:p>
              <a:pPr algn="l">
                <a:lnSpc>
                  <a:spcPts val="1620"/>
                </a:lnSpc>
              </a:pPr>
              <a:r>
                <a:rPr lang="en-US" sz="1350">
                  <a:solidFill>
                    <a:srgbClr val="6B707A"/>
                  </a:solidFill>
                  <a:latin typeface="Calibri (MS)"/>
                  <a:ea typeface="Calibri (MS)"/>
                  <a:cs typeface="Calibri (MS)"/>
                  <a:sym typeface="Calibri (MS)"/>
                </a:rPr>
                <a:t>PipelineForge — Assistant Scientifique Documentaire (LLMOps)</a:t>
              </a:r>
            </a:p>
          </p:txBody>
        </p:sp>
      </p:grpSp>
      <p:grpSp>
        <p:nvGrpSpPr>
          <p:cNvPr name="Group 16" id="16"/>
          <p:cNvGrpSpPr/>
          <p:nvPr/>
        </p:nvGrpSpPr>
        <p:grpSpPr>
          <a:xfrm rot="0">
            <a:off x="11292383" y="9810750"/>
            <a:ext cx="6309360" cy="381000"/>
            <a:chOff x="0" y="0"/>
            <a:chExt cx="8412480" cy="508000"/>
          </a:xfrm>
        </p:grpSpPr>
        <p:sp>
          <p:nvSpPr>
            <p:cNvPr name="Freeform 17" id="17"/>
            <p:cNvSpPr/>
            <p:nvPr/>
          </p:nvSpPr>
          <p:spPr>
            <a:xfrm flipH="false" flipV="false" rot="0">
              <a:off x="0" y="0"/>
              <a:ext cx="8412480" cy="508000"/>
            </a:xfrm>
            <a:custGeom>
              <a:avLst/>
              <a:gdLst/>
              <a:ahLst/>
              <a:cxnLst/>
              <a:rect r="r" b="b" t="t" l="l"/>
              <a:pathLst>
                <a:path h="508000" w="8412480">
                  <a:moveTo>
                    <a:pt x="0" y="0"/>
                  </a:moveTo>
                  <a:lnTo>
                    <a:pt x="8412480" y="0"/>
                  </a:lnTo>
                  <a:lnTo>
                    <a:pt x="8412480" y="508000"/>
                  </a:lnTo>
                  <a:lnTo>
                    <a:pt x="0" y="508000"/>
                  </a:lnTo>
                  <a:close/>
                </a:path>
              </a:pathLst>
            </a:custGeom>
            <a:blipFill>
              <a:blip r:embed="rId3">
                <a:alphaModFix amt="0"/>
              </a:blip>
              <a:stretch>
                <a:fillRect l="0" t="-272672" r="0" b="-272672"/>
              </a:stretch>
            </a:blipFill>
          </p:spPr>
        </p:sp>
        <p:sp>
          <p:nvSpPr>
            <p:cNvPr name="TextBox 18" id="18"/>
            <p:cNvSpPr txBox="true"/>
            <p:nvPr/>
          </p:nvSpPr>
          <p:spPr>
            <a:xfrm>
              <a:off x="0" y="-28575"/>
              <a:ext cx="8412480" cy="536575"/>
            </a:xfrm>
            <a:prstGeom prst="rect">
              <a:avLst/>
            </a:prstGeom>
          </p:spPr>
          <p:txBody>
            <a:bodyPr anchor="ctr" rtlCol="false" tIns="0" lIns="0" bIns="0" rIns="0"/>
            <a:lstStyle/>
            <a:p>
              <a:pPr algn="r">
                <a:lnSpc>
                  <a:spcPts val="1620"/>
                </a:lnSpc>
              </a:pPr>
              <a:r>
                <a:rPr lang="en-US" sz="1350" b="true">
                  <a:solidFill>
                    <a:srgbClr val="0F766E"/>
                  </a:solidFill>
                  <a:latin typeface="Calibri (MS) Bold"/>
                  <a:ea typeface="Calibri (MS) Bold"/>
                  <a:cs typeface="Calibri (MS) Bold"/>
                  <a:sym typeface="Calibri (MS) Bold"/>
                </a:rPr>
                <a:t>Sprint 1 · Ingestion  ·  Marouane Daouki</a:t>
              </a:r>
            </a:p>
          </p:txBody>
        </p:sp>
      </p:grpSp>
      <p:grpSp>
        <p:nvGrpSpPr>
          <p:cNvPr name="Group 19" id="19"/>
          <p:cNvGrpSpPr/>
          <p:nvPr/>
        </p:nvGrpSpPr>
        <p:grpSpPr>
          <a:xfrm rot="0">
            <a:off x="6565163" y="9563100"/>
            <a:ext cx="1165860" cy="133350"/>
            <a:chOff x="0" y="0"/>
            <a:chExt cx="1554480" cy="177800"/>
          </a:xfrm>
        </p:grpSpPr>
        <p:sp>
          <p:nvSpPr>
            <p:cNvPr name="Freeform 20" id="20"/>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0F766E"/>
            </a:solidFill>
          </p:spPr>
        </p:sp>
      </p:grpSp>
      <p:grpSp>
        <p:nvGrpSpPr>
          <p:cNvPr name="Group 21" id="21"/>
          <p:cNvGrpSpPr/>
          <p:nvPr/>
        </p:nvGrpSpPr>
        <p:grpSpPr>
          <a:xfrm rot="0">
            <a:off x="7895615" y="9563100"/>
            <a:ext cx="1165860" cy="133350"/>
            <a:chOff x="0" y="0"/>
            <a:chExt cx="1554480" cy="177800"/>
          </a:xfrm>
        </p:grpSpPr>
        <p:sp>
          <p:nvSpPr>
            <p:cNvPr name="Freeform 22" id="22"/>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3" id="23"/>
          <p:cNvGrpSpPr/>
          <p:nvPr/>
        </p:nvGrpSpPr>
        <p:grpSpPr>
          <a:xfrm rot="0">
            <a:off x="9226067" y="9563100"/>
            <a:ext cx="1165860" cy="133350"/>
            <a:chOff x="0" y="0"/>
            <a:chExt cx="1554480" cy="177800"/>
          </a:xfrm>
        </p:grpSpPr>
        <p:sp>
          <p:nvSpPr>
            <p:cNvPr name="Freeform 24" id="24"/>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5" id="25"/>
          <p:cNvGrpSpPr/>
          <p:nvPr/>
        </p:nvGrpSpPr>
        <p:grpSpPr>
          <a:xfrm rot="0">
            <a:off x="10556519" y="9563100"/>
            <a:ext cx="1165860" cy="133350"/>
            <a:chOff x="0" y="0"/>
            <a:chExt cx="1554480" cy="177800"/>
          </a:xfrm>
        </p:grpSpPr>
        <p:sp>
          <p:nvSpPr>
            <p:cNvPr name="Freeform 26" id="26"/>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sp>
        <p:nvSpPr>
          <p:cNvPr name="TextBox 27" id="27"/>
          <p:cNvSpPr txBox="true"/>
          <p:nvPr/>
        </p:nvSpPr>
        <p:spPr>
          <a:xfrm rot="0">
            <a:off x="805177" y="2183130"/>
            <a:ext cx="9088117" cy="5375910"/>
          </a:xfrm>
          <a:prstGeom prst="rect">
            <a:avLst/>
          </a:prstGeom>
        </p:spPr>
        <p:txBody>
          <a:bodyPr anchor="t" rtlCol="false" tIns="0" lIns="0" bIns="0" rIns="0">
            <a:spAutoFit/>
          </a:bodyPr>
          <a:lstStyle/>
          <a:p>
            <a:pPr algn="l">
              <a:lnSpc>
                <a:spcPts val="3000"/>
              </a:lnSpc>
            </a:pPr>
            <a:r>
              <a:rPr lang="en-US" sz="2400">
                <a:solidFill>
                  <a:srgbClr val="1F3A5F"/>
                </a:solidFill>
                <a:latin typeface="Calibri (MS)"/>
                <a:ea typeface="Calibri (MS)"/>
                <a:cs typeface="Calibri (MS)"/>
                <a:sym typeface="Calibri (MS)"/>
              </a:rPr>
              <a:t>▪ </a:t>
            </a:r>
            <a:r>
              <a:rPr lang="en-US" sz="2400" b="true">
                <a:solidFill>
                  <a:srgbClr val="262A33"/>
                </a:solidFill>
                <a:latin typeface="Calibri (MS) Bold"/>
                <a:ea typeface="Calibri (MS) Bold"/>
                <a:cs typeface="Calibri (MS) Bold"/>
                <a:sym typeface="Calibri (MS) Bold"/>
              </a:rPr>
              <a:t>Connaissances figées :</a:t>
            </a:r>
            <a:r>
              <a:rPr lang="en-US" sz="2400">
                <a:solidFill>
                  <a:srgbClr val="262A33"/>
                </a:solidFill>
                <a:latin typeface="Calibri (MS)"/>
                <a:ea typeface="Calibri (MS)"/>
                <a:cs typeface="Calibri (MS)"/>
                <a:sym typeface="Calibri (MS)"/>
              </a:rPr>
              <a:t> le savoir du modèle s'arrête à la date d'entraînement</a:t>
            </a:r>
          </a:p>
          <a:p>
            <a:pPr algn="l">
              <a:lnSpc>
                <a:spcPts val="3000"/>
              </a:lnSpc>
            </a:pPr>
          </a:p>
          <a:p>
            <a:pPr algn="l">
              <a:lnSpc>
                <a:spcPts val="3000"/>
              </a:lnSpc>
            </a:pPr>
            <a:r>
              <a:rPr lang="en-US" sz="2400">
                <a:solidFill>
                  <a:srgbClr val="1F3A5F"/>
                </a:solidFill>
                <a:latin typeface="Calibri (MS)"/>
                <a:ea typeface="Calibri (MS)"/>
                <a:cs typeface="Calibri (MS)"/>
                <a:sym typeface="Calibri (MS)"/>
              </a:rPr>
              <a:t>▪ </a:t>
            </a:r>
            <a:r>
              <a:rPr lang="en-US" sz="2400" b="true">
                <a:solidFill>
                  <a:srgbClr val="262A33"/>
                </a:solidFill>
                <a:latin typeface="Calibri (MS) Bold"/>
                <a:ea typeface="Calibri (MS) Bold"/>
                <a:cs typeface="Calibri (MS) Bold"/>
                <a:sym typeface="Calibri (MS) Bold"/>
              </a:rPr>
              <a:t>Hallucinations :</a:t>
            </a:r>
            <a:r>
              <a:rPr lang="en-US" sz="2400">
                <a:solidFill>
                  <a:srgbClr val="262A33"/>
                </a:solidFill>
                <a:latin typeface="Calibri (MS)"/>
                <a:ea typeface="Calibri (MS)"/>
                <a:cs typeface="Calibri (MS)"/>
                <a:sym typeface="Calibri (MS)"/>
              </a:rPr>
              <a:t> énoncés plausibles, affirmés avec assurance, mais factuellement erronés (Ji et al., 2023)</a:t>
            </a:r>
          </a:p>
          <a:p>
            <a:pPr algn="l">
              <a:lnSpc>
                <a:spcPts val="3000"/>
              </a:lnSpc>
            </a:pPr>
          </a:p>
          <a:p>
            <a:pPr algn="l">
              <a:lnSpc>
                <a:spcPts val="3000"/>
              </a:lnSpc>
            </a:pPr>
            <a:r>
              <a:rPr lang="en-US" sz="2400">
                <a:solidFill>
                  <a:srgbClr val="1F3A5F"/>
                </a:solidFill>
                <a:latin typeface="Calibri (MS)"/>
                <a:ea typeface="Calibri (MS)"/>
                <a:cs typeface="Calibri (MS)"/>
                <a:sym typeface="Calibri (MS)"/>
              </a:rPr>
              <a:t>▪ </a:t>
            </a:r>
            <a:r>
              <a:rPr lang="en-US" sz="2400" b="true">
                <a:solidFill>
                  <a:srgbClr val="262A33"/>
                </a:solidFill>
                <a:latin typeface="Calibri (MS) Bold"/>
                <a:ea typeface="Calibri (MS) Bold"/>
                <a:cs typeface="Calibri (MS) Bold"/>
                <a:sym typeface="Calibri (MS) Bold"/>
              </a:rPr>
              <a:t>Contexte biomédical :</a:t>
            </a:r>
            <a:r>
              <a:rPr lang="en-US" sz="2400">
                <a:solidFill>
                  <a:srgbClr val="262A33"/>
                </a:solidFill>
                <a:latin typeface="Calibri (MS)"/>
                <a:ea typeface="Calibri (MS)"/>
                <a:cs typeface="Calibri (MS)"/>
                <a:sym typeface="Calibri (MS)"/>
              </a:rPr>
              <a:t> une information erronée est inutilisable, voire dangereuse</a:t>
            </a:r>
          </a:p>
          <a:p>
            <a:pPr algn="l">
              <a:lnSpc>
                <a:spcPts val="3000"/>
              </a:lnSpc>
            </a:pPr>
          </a:p>
          <a:p>
            <a:pPr algn="l">
              <a:lnSpc>
                <a:spcPts val="3000"/>
              </a:lnSpc>
            </a:pPr>
            <a:r>
              <a:rPr lang="en-US" sz="2400">
                <a:solidFill>
                  <a:srgbClr val="1F3A5F"/>
                </a:solidFill>
                <a:latin typeface="Calibri (MS)"/>
                <a:ea typeface="Calibri (MS)"/>
                <a:cs typeface="Calibri (MS)"/>
                <a:sym typeface="Calibri (MS)"/>
              </a:rPr>
              <a:t>▪ </a:t>
            </a:r>
            <a:r>
              <a:rPr lang="en-US" sz="2400" b="true">
                <a:solidFill>
                  <a:srgbClr val="262A33"/>
                </a:solidFill>
                <a:latin typeface="Calibri (MS) Bold"/>
                <a:ea typeface="Calibri (MS) Bold"/>
                <a:cs typeface="Calibri (MS) Bold"/>
                <a:sym typeface="Calibri (MS) Bold"/>
              </a:rPr>
              <a:t>Solution</a:t>
            </a:r>
            <a:r>
              <a:rPr lang="en-US" sz="2400">
                <a:solidFill>
                  <a:srgbClr val="262A33"/>
                </a:solidFill>
                <a:latin typeface="Calibri (MS)"/>
                <a:ea typeface="Calibri (MS)"/>
                <a:cs typeface="Calibri (MS)"/>
                <a:sym typeface="Calibri (MS)"/>
              </a:rPr>
              <a:t> — RAG (Lewis et al., 2020) : le modèle est complété par une mémoire documentaire (index vectoriel), interrogée à chaque question</a:t>
            </a:r>
          </a:p>
          <a:p>
            <a:pPr algn="l">
              <a:lnSpc>
                <a:spcPts val="3000"/>
              </a:lnSpc>
            </a:pPr>
          </a:p>
          <a:p>
            <a:pPr algn="l">
              <a:lnSpc>
                <a:spcPts val="3000"/>
              </a:lnSpc>
            </a:pPr>
            <a:r>
              <a:rPr lang="en-US" sz="2400">
                <a:solidFill>
                  <a:srgbClr val="1F3A5F"/>
                </a:solidFill>
                <a:latin typeface="Calibri (MS)"/>
                <a:ea typeface="Calibri (MS)"/>
                <a:cs typeface="Calibri (MS)"/>
                <a:sym typeface="Calibri (MS)"/>
              </a:rPr>
              <a:t>▪ </a:t>
            </a:r>
            <a:r>
              <a:rPr lang="en-US" sz="2400" b="true">
                <a:solidFill>
                  <a:srgbClr val="262A33"/>
                </a:solidFill>
                <a:latin typeface="Calibri (MS) Bold"/>
                <a:ea typeface="Calibri (MS) Bold"/>
                <a:cs typeface="Calibri (MS) Bold"/>
                <a:sym typeface="Calibri (MS) Bold"/>
              </a:rPr>
              <a:t>Objectif :</a:t>
            </a:r>
            <a:r>
              <a:rPr lang="en-US" sz="2400">
                <a:solidFill>
                  <a:srgbClr val="262A33"/>
                </a:solidFill>
                <a:latin typeface="Calibri (MS)"/>
                <a:ea typeface="Calibri (MS)"/>
                <a:cs typeface="Calibri (MS)"/>
                <a:sym typeface="Calibri (MS)"/>
              </a:rPr>
              <a:t> un assistant qui répond en français à des questions biomédicales et cite les passages d'articles sur lesquels il s'appuie</a:t>
            </a:r>
          </a:p>
        </p:txBody>
      </p:sp>
      <p:grpSp>
        <p:nvGrpSpPr>
          <p:cNvPr name="Group 28" id="28"/>
          <p:cNvGrpSpPr/>
          <p:nvPr/>
        </p:nvGrpSpPr>
        <p:grpSpPr>
          <a:xfrm rot="0">
            <a:off x="10409872" y="2386012"/>
            <a:ext cx="7023735" cy="1194435"/>
            <a:chOff x="0" y="0"/>
            <a:chExt cx="9364980" cy="1592580"/>
          </a:xfrm>
        </p:grpSpPr>
        <p:sp>
          <p:nvSpPr>
            <p:cNvPr name="Freeform 29" id="29"/>
            <p:cNvSpPr/>
            <p:nvPr/>
          </p:nvSpPr>
          <p:spPr>
            <a:xfrm flipH="false" flipV="false" rot="0">
              <a:off x="0" y="0"/>
              <a:ext cx="9364980" cy="1592580"/>
            </a:xfrm>
            <a:custGeom>
              <a:avLst/>
              <a:gdLst/>
              <a:ahLst/>
              <a:cxnLst/>
              <a:rect r="r" b="b" t="t" l="l"/>
              <a:pathLst>
                <a:path h="1592580" w="9364980">
                  <a:moveTo>
                    <a:pt x="0" y="0"/>
                  </a:moveTo>
                  <a:lnTo>
                    <a:pt x="9364980" y="0"/>
                  </a:lnTo>
                  <a:lnTo>
                    <a:pt x="9364980" y="1592580"/>
                  </a:lnTo>
                  <a:lnTo>
                    <a:pt x="0" y="1592580"/>
                  </a:lnTo>
                  <a:close/>
                </a:path>
              </a:pathLst>
            </a:custGeom>
            <a:solidFill>
              <a:srgbClr val="F2F3F5"/>
            </a:solidFill>
            <a:ln w="28575" cap="sq">
              <a:solidFill>
                <a:srgbClr val="1F3A5F"/>
              </a:solidFill>
              <a:prstDash val="solid"/>
              <a:miter/>
            </a:ln>
          </p:spPr>
        </p:sp>
        <p:sp>
          <p:nvSpPr>
            <p:cNvPr name="TextBox 30" id="30"/>
            <p:cNvSpPr txBox="true"/>
            <p:nvPr/>
          </p:nvSpPr>
          <p:spPr>
            <a:xfrm>
              <a:off x="0" y="-47625"/>
              <a:ext cx="9364980" cy="1640205"/>
            </a:xfrm>
            <a:prstGeom prst="rect">
              <a:avLst/>
            </a:prstGeom>
          </p:spPr>
          <p:txBody>
            <a:bodyPr anchor="ctr" rtlCol="false" tIns="50800" lIns="50800" bIns="50800" rIns="50800"/>
            <a:lstStyle/>
            <a:p>
              <a:pPr algn="ctr">
                <a:lnSpc>
                  <a:spcPts val="2520"/>
                </a:lnSpc>
              </a:pPr>
              <a:r>
                <a:rPr lang="en-US" sz="2100" b="true">
                  <a:solidFill>
                    <a:srgbClr val="1F3A5F"/>
                  </a:solidFill>
                  <a:latin typeface="Calibri (MS) Bold"/>
                  <a:ea typeface="Calibri (MS) Bold"/>
                  <a:cs typeface="Calibri (MS) Bold"/>
                  <a:sym typeface="Calibri (MS) Bold"/>
                </a:rPr>
                <a:t>Question utilisateur</a:t>
              </a:r>
            </a:p>
            <a:p>
              <a:pPr algn="l">
                <a:lnSpc>
                  <a:spcPts val="1889"/>
                </a:lnSpc>
              </a:pPr>
              <a:r>
                <a:rPr lang="en-US" sz="1575">
                  <a:solidFill>
                    <a:srgbClr val="6B707A"/>
                  </a:solidFill>
                  <a:latin typeface="Calibri (MS)"/>
                  <a:ea typeface="Calibri (MS)"/>
                  <a:cs typeface="Calibri (MS)"/>
                  <a:sym typeface="Calibri (MS)"/>
                </a:rPr>
                <a:t>en langage naturel</a:t>
              </a:r>
            </a:p>
          </p:txBody>
        </p:sp>
      </p:grpSp>
      <p:sp>
        <p:nvSpPr>
          <p:cNvPr name="TextBox 31" id="31"/>
          <p:cNvSpPr txBox="true"/>
          <p:nvPr/>
        </p:nvSpPr>
        <p:spPr>
          <a:xfrm rot="0">
            <a:off x="13766797" y="3571370"/>
            <a:ext cx="447037" cy="545468"/>
          </a:xfrm>
          <a:prstGeom prst="rect">
            <a:avLst/>
          </a:prstGeom>
        </p:spPr>
        <p:txBody>
          <a:bodyPr anchor="t" rtlCol="false" tIns="0" lIns="0" bIns="0" rIns="0">
            <a:spAutoFit/>
          </a:bodyPr>
          <a:lstStyle/>
          <a:p>
            <a:pPr algn="l">
              <a:lnSpc>
                <a:spcPts val="2340"/>
              </a:lnSpc>
            </a:pPr>
            <a:r>
              <a:rPr lang="en-US" sz="1950" b="true">
                <a:solidFill>
                  <a:srgbClr val="1F3A5F"/>
                </a:solidFill>
                <a:latin typeface="Calibri (MS) Bold"/>
                <a:ea typeface="Calibri (MS) Bold"/>
                <a:cs typeface="Calibri (MS) Bold"/>
                <a:sym typeface="Calibri (MS) Bold"/>
              </a:rPr>
              <a:t>▼</a:t>
            </a:r>
          </a:p>
        </p:txBody>
      </p:sp>
      <p:grpSp>
        <p:nvGrpSpPr>
          <p:cNvPr name="Group 32" id="32"/>
          <p:cNvGrpSpPr/>
          <p:nvPr/>
        </p:nvGrpSpPr>
        <p:grpSpPr>
          <a:xfrm rot="0">
            <a:off x="10409872" y="4127944"/>
            <a:ext cx="7023735" cy="1194435"/>
            <a:chOff x="0" y="0"/>
            <a:chExt cx="9364980" cy="1592580"/>
          </a:xfrm>
        </p:grpSpPr>
        <p:sp>
          <p:nvSpPr>
            <p:cNvPr name="Freeform 33" id="33"/>
            <p:cNvSpPr/>
            <p:nvPr/>
          </p:nvSpPr>
          <p:spPr>
            <a:xfrm flipH="false" flipV="false" rot="0">
              <a:off x="0" y="0"/>
              <a:ext cx="9364980" cy="1592580"/>
            </a:xfrm>
            <a:custGeom>
              <a:avLst/>
              <a:gdLst/>
              <a:ahLst/>
              <a:cxnLst/>
              <a:rect r="r" b="b" t="t" l="l"/>
              <a:pathLst>
                <a:path h="1592580" w="9364980">
                  <a:moveTo>
                    <a:pt x="0" y="0"/>
                  </a:moveTo>
                  <a:lnTo>
                    <a:pt x="9364980" y="0"/>
                  </a:lnTo>
                  <a:lnTo>
                    <a:pt x="9364980" y="1592580"/>
                  </a:lnTo>
                  <a:lnTo>
                    <a:pt x="0" y="1592580"/>
                  </a:lnTo>
                  <a:close/>
                </a:path>
              </a:pathLst>
            </a:custGeom>
            <a:solidFill>
              <a:srgbClr val="F2F3F5"/>
            </a:solidFill>
            <a:ln w="28575" cap="sq">
              <a:solidFill>
                <a:srgbClr val="3F3DB0"/>
              </a:solidFill>
              <a:prstDash val="solid"/>
              <a:miter/>
            </a:ln>
          </p:spPr>
        </p:sp>
        <p:sp>
          <p:nvSpPr>
            <p:cNvPr name="TextBox 34" id="34"/>
            <p:cNvSpPr txBox="true"/>
            <p:nvPr/>
          </p:nvSpPr>
          <p:spPr>
            <a:xfrm>
              <a:off x="0" y="-47625"/>
              <a:ext cx="9364980" cy="1640205"/>
            </a:xfrm>
            <a:prstGeom prst="rect">
              <a:avLst/>
            </a:prstGeom>
          </p:spPr>
          <p:txBody>
            <a:bodyPr anchor="ctr" rtlCol="false" tIns="50800" lIns="50800" bIns="50800" rIns="50800"/>
            <a:lstStyle/>
            <a:p>
              <a:pPr algn="ctr">
                <a:lnSpc>
                  <a:spcPts val="2520"/>
                </a:lnSpc>
              </a:pPr>
              <a:r>
                <a:rPr lang="en-US" sz="2100" b="true">
                  <a:solidFill>
                    <a:srgbClr val="3F3DB0"/>
                  </a:solidFill>
                  <a:latin typeface="Calibri (MS) Bold"/>
                  <a:ea typeface="Calibri (MS) Bold"/>
                  <a:cs typeface="Calibri (MS) Bold"/>
                  <a:sym typeface="Calibri (MS) Bold"/>
                </a:rPr>
                <a:t>Récupération (retrieval)</a:t>
              </a:r>
            </a:p>
            <a:p>
              <a:pPr algn="l">
                <a:lnSpc>
                  <a:spcPts val="1889"/>
                </a:lnSpc>
              </a:pPr>
              <a:r>
                <a:rPr lang="en-US" sz="1575" b="true">
                  <a:solidFill>
                    <a:srgbClr val="6B707A"/>
                  </a:solidFill>
                  <a:latin typeface="Calibri (MS) Bold"/>
                  <a:ea typeface="Calibri (MS) Bold"/>
                  <a:cs typeface="Calibri (MS) Bold"/>
                  <a:sym typeface="Calibri (MS) Bold"/>
                </a:rPr>
                <a:t>passages les plus proches dans l'index vectoriel (Chroma)</a:t>
              </a:r>
            </a:p>
          </p:txBody>
        </p:sp>
      </p:grpSp>
      <p:sp>
        <p:nvSpPr>
          <p:cNvPr name="TextBox 35" id="35"/>
          <p:cNvSpPr txBox="true"/>
          <p:nvPr/>
        </p:nvSpPr>
        <p:spPr>
          <a:xfrm rot="0">
            <a:off x="13766797" y="5313302"/>
            <a:ext cx="447037" cy="545468"/>
          </a:xfrm>
          <a:prstGeom prst="rect">
            <a:avLst/>
          </a:prstGeom>
        </p:spPr>
        <p:txBody>
          <a:bodyPr anchor="t" rtlCol="false" tIns="0" lIns="0" bIns="0" rIns="0">
            <a:spAutoFit/>
          </a:bodyPr>
          <a:lstStyle/>
          <a:p>
            <a:pPr algn="l">
              <a:lnSpc>
                <a:spcPts val="2340"/>
              </a:lnSpc>
            </a:pPr>
            <a:r>
              <a:rPr lang="en-US" sz="1950" b="true">
                <a:solidFill>
                  <a:srgbClr val="3F3DB0"/>
                </a:solidFill>
                <a:latin typeface="Calibri (MS) Bold"/>
                <a:ea typeface="Calibri (MS) Bold"/>
                <a:cs typeface="Calibri (MS) Bold"/>
                <a:sym typeface="Calibri (MS) Bold"/>
              </a:rPr>
              <a:t>▼</a:t>
            </a:r>
          </a:p>
        </p:txBody>
      </p:sp>
      <p:grpSp>
        <p:nvGrpSpPr>
          <p:cNvPr name="Group 36" id="36"/>
          <p:cNvGrpSpPr/>
          <p:nvPr/>
        </p:nvGrpSpPr>
        <p:grpSpPr>
          <a:xfrm rot="0">
            <a:off x="10409872" y="5869876"/>
            <a:ext cx="7023735" cy="1194435"/>
            <a:chOff x="0" y="0"/>
            <a:chExt cx="9364980" cy="1592580"/>
          </a:xfrm>
        </p:grpSpPr>
        <p:sp>
          <p:nvSpPr>
            <p:cNvPr name="Freeform 37" id="37"/>
            <p:cNvSpPr/>
            <p:nvPr/>
          </p:nvSpPr>
          <p:spPr>
            <a:xfrm flipH="false" flipV="false" rot="0">
              <a:off x="0" y="0"/>
              <a:ext cx="9364980" cy="1592580"/>
            </a:xfrm>
            <a:custGeom>
              <a:avLst/>
              <a:gdLst/>
              <a:ahLst/>
              <a:cxnLst/>
              <a:rect r="r" b="b" t="t" l="l"/>
              <a:pathLst>
                <a:path h="1592580" w="9364980">
                  <a:moveTo>
                    <a:pt x="0" y="0"/>
                  </a:moveTo>
                  <a:lnTo>
                    <a:pt x="9364980" y="0"/>
                  </a:lnTo>
                  <a:lnTo>
                    <a:pt x="9364980" y="1592580"/>
                  </a:lnTo>
                  <a:lnTo>
                    <a:pt x="0" y="1592580"/>
                  </a:lnTo>
                  <a:close/>
                </a:path>
              </a:pathLst>
            </a:custGeom>
            <a:solidFill>
              <a:srgbClr val="F2F3F5"/>
            </a:solidFill>
            <a:ln w="28575" cap="sq">
              <a:solidFill>
                <a:srgbClr val="7A1F2B"/>
              </a:solidFill>
              <a:prstDash val="solid"/>
              <a:miter/>
            </a:ln>
          </p:spPr>
        </p:sp>
        <p:sp>
          <p:nvSpPr>
            <p:cNvPr name="TextBox 38" id="38"/>
            <p:cNvSpPr txBox="true"/>
            <p:nvPr/>
          </p:nvSpPr>
          <p:spPr>
            <a:xfrm>
              <a:off x="0" y="-47625"/>
              <a:ext cx="9364980" cy="1640205"/>
            </a:xfrm>
            <a:prstGeom prst="rect">
              <a:avLst/>
            </a:prstGeom>
          </p:spPr>
          <p:txBody>
            <a:bodyPr anchor="ctr" rtlCol="false" tIns="50800" lIns="50800" bIns="50800" rIns="50800"/>
            <a:lstStyle/>
            <a:p>
              <a:pPr algn="ctr">
                <a:lnSpc>
                  <a:spcPts val="2520"/>
                </a:lnSpc>
              </a:pPr>
              <a:r>
                <a:rPr lang="en-US" sz="2100" b="true">
                  <a:solidFill>
                    <a:srgbClr val="7A1F2B"/>
                  </a:solidFill>
                  <a:latin typeface="Calibri (MS) Bold"/>
                  <a:ea typeface="Calibri (MS) Bold"/>
                  <a:cs typeface="Calibri (MS) Bold"/>
                  <a:sym typeface="Calibri (MS) Bold"/>
                </a:rPr>
                <a:t>Génération augmentée</a:t>
              </a:r>
            </a:p>
            <a:p>
              <a:pPr algn="l">
                <a:lnSpc>
                  <a:spcPts val="1889"/>
                </a:lnSpc>
              </a:pPr>
              <a:r>
                <a:rPr lang="en-US" sz="1575" b="true">
                  <a:solidFill>
                    <a:srgbClr val="6B707A"/>
                  </a:solidFill>
                  <a:latin typeface="Calibri (MS) Bold"/>
                  <a:ea typeface="Calibri (MS) Bold"/>
                  <a:cs typeface="Calibri (MS) Bold"/>
                  <a:sym typeface="Calibri (MS) Bold"/>
                </a:rPr>
                <a:t>question + passages → gpt-oss-20b (Groq)</a:t>
              </a:r>
            </a:p>
          </p:txBody>
        </p:sp>
      </p:grpSp>
      <p:sp>
        <p:nvSpPr>
          <p:cNvPr name="TextBox 39" id="39"/>
          <p:cNvSpPr txBox="true"/>
          <p:nvPr/>
        </p:nvSpPr>
        <p:spPr>
          <a:xfrm rot="0">
            <a:off x="13766797" y="7055234"/>
            <a:ext cx="447037" cy="545468"/>
          </a:xfrm>
          <a:prstGeom prst="rect">
            <a:avLst/>
          </a:prstGeom>
        </p:spPr>
        <p:txBody>
          <a:bodyPr anchor="t" rtlCol="false" tIns="0" lIns="0" bIns="0" rIns="0">
            <a:spAutoFit/>
          </a:bodyPr>
          <a:lstStyle/>
          <a:p>
            <a:pPr algn="l">
              <a:lnSpc>
                <a:spcPts val="2340"/>
              </a:lnSpc>
            </a:pPr>
            <a:r>
              <a:rPr lang="en-US" sz="1950" b="true">
                <a:solidFill>
                  <a:srgbClr val="7A1F2B"/>
                </a:solidFill>
                <a:latin typeface="Calibri (MS) Bold"/>
                <a:ea typeface="Calibri (MS) Bold"/>
                <a:cs typeface="Calibri (MS) Bold"/>
                <a:sym typeface="Calibri (MS) Bold"/>
              </a:rPr>
              <a:t>▼</a:t>
            </a:r>
          </a:p>
        </p:txBody>
      </p:sp>
      <p:grpSp>
        <p:nvGrpSpPr>
          <p:cNvPr name="Group 40" id="40"/>
          <p:cNvGrpSpPr/>
          <p:nvPr/>
        </p:nvGrpSpPr>
        <p:grpSpPr>
          <a:xfrm rot="0">
            <a:off x="10409872" y="7611808"/>
            <a:ext cx="7023735" cy="1194435"/>
            <a:chOff x="0" y="0"/>
            <a:chExt cx="9364980" cy="1592580"/>
          </a:xfrm>
        </p:grpSpPr>
        <p:sp>
          <p:nvSpPr>
            <p:cNvPr name="Freeform 41" id="41"/>
            <p:cNvSpPr/>
            <p:nvPr/>
          </p:nvSpPr>
          <p:spPr>
            <a:xfrm flipH="false" flipV="false" rot="0">
              <a:off x="0" y="0"/>
              <a:ext cx="9364980" cy="1592580"/>
            </a:xfrm>
            <a:custGeom>
              <a:avLst/>
              <a:gdLst/>
              <a:ahLst/>
              <a:cxnLst/>
              <a:rect r="r" b="b" t="t" l="l"/>
              <a:pathLst>
                <a:path h="1592580" w="9364980">
                  <a:moveTo>
                    <a:pt x="0" y="0"/>
                  </a:moveTo>
                  <a:lnTo>
                    <a:pt x="9364980" y="0"/>
                  </a:lnTo>
                  <a:lnTo>
                    <a:pt x="9364980" y="1592580"/>
                  </a:lnTo>
                  <a:lnTo>
                    <a:pt x="0" y="1592580"/>
                  </a:lnTo>
                  <a:close/>
                </a:path>
              </a:pathLst>
            </a:custGeom>
            <a:solidFill>
              <a:srgbClr val="F2F3F5"/>
            </a:solidFill>
            <a:ln w="28575" cap="sq">
              <a:solidFill>
                <a:srgbClr val="0F766E"/>
              </a:solidFill>
              <a:prstDash val="solid"/>
              <a:miter/>
            </a:ln>
          </p:spPr>
        </p:sp>
        <p:sp>
          <p:nvSpPr>
            <p:cNvPr name="TextBox 42" id="42"/>
            <p:cNvSpPr txBox="true"/>
            <p:nvPr/>
          </p:nvSpPr>
          <p:spPr>
            <a:xfrm>
              <a:off x="0" y="-47625"/>
              <a:ext cx="9364980" cy="1640205"/>
            </a:xfrm>
            <a:prstGeom prst="rect">
              <a:avLst/>
            </a:prstGeom>
          </p:spPr>
          <p:txBody>
            <a:bodyPr anchor="ctr" rtlCol="false" tIns="50800" lIns="50800" bIns="50800" rIns="50800"/>
            <a:lstStyle/>
            <a:p>
              <a:pPr algn="ctr">
                <a:lnSpc>
                  <a:spcPts val="2520"/>
                </a:lnSpc>
              </a:pPr>
              <a:r>
                <a:rPr lang="en-US" sz="2100" b="true">
                  <a:solidFill>
                    <a:srgbClr val="0F766E"/>
                  </a:solidFill>
                  <a:latin typeface="Calibri (MS) Bold"/>
                  <a:ea typeface="Calibri (MS) Bold"/>
                  <a:cs typeface="Calibri (MS) Bold"/>
                  <a:sym typeface="Calibri (MS) Bold"/>
                </a:rPr>
                <a:t>Réponse sourcée</a:t>
              </a:r>
            </a:p>
            <a:p>
              <a:pPr algn="l">
                <a:lnSpc>
                  <a:spcPts val="1889"/>
                </a:lnSpc>
              </a:pPr>
              <a:r>
                <a:rPr lang="en-US" sz="1575" b="true">
                  <a:solidFill>
                    <a:srgbClr val="6B707A"/>
                  </a:solidFill>
                  <a:latin typeface="Calibri (MS) Bold"/>
                  <a:ea typeface="Calibri (MS) Bold"/>
                  <a:cs typeface="Calibri (MS) Bold"/>
                  <a:sym typeface="Calibri (MS) Bold"/>
                </a:rPr>
                <a:t>réponse en français + sources (titre, section, distance)</a:t>
              </a:r>
            </a:p>
          </p:txBody>
        </p:sp>
      </p:grpSp>
      <p:sp>
        <p:nvSpPr>
          <p:cNvPr name="TextBox 43" id="4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FFFFF"/>
            </a:solidFill>
          </p:spPr>
        </p:sp>
      </p:grpSp>
      <p:grpSp>
        <p:nvGrpSpPr>
          <p:cNvPr name="Group 4" id="4"/>
          <p:cNvGrpSpPr/>
          <p:nvPr/>
        </p:nvGrpSpPr>
        <p:grpSpPr>
          <a:xfrm rot="0">
            <a:off x="0" y="0"/>
            <a:ext cx="18287543" cy="114300"/>
            <a:chOff x="0" y="0"/>
            <a:chExt cx="24383390" cy="152400"/>
          </a:xfrm>
        </p:grpSpPr>
        <p:sp>
          <p:nvSpPr>
            <p:cNvPr name="Freeform 5" id="5"/>
            <p:cNvSpPr/>
            <p:nvPr/>
          </p:nvSpPr>
          <p:spPr>
            <a:xfrm flipH="false" flipV="false" rot="0">
              <a:off x="0" y="0"/>
              <a:ext cx="24383364" cy="152400"/>
            </a:xfrm>
            <a:custGeom>
              <a:avLst/>
              <a:gdLst/>
              <a:ahLst/>
              <a:cxnLst/>
              <a:rect r="r" b="b" t="t" l="l"/>
              <a:pathLst>
                <a:path h="152400" w="24383364">
                  <a:moveTo>
                    <a:pt x="0" y="0"/>
                  </a:moveTo>
                  <a:lnTo>
                    <a:pt x="24383364" y="0"/>
                  </a:lnTo>
                  <a:lnTo>
                    <a:pt x="24383364" y="152400"/>
                  </a:lnTo>
                  <a:lnTo>
                    <a:pt x="0" y="152400"/>
                  </a:lnTo>
                  <a:close/>
                </a:path>
              </a:pathLst>
            </a:custGeom>
            <a:solidFill>
              <a:srgbClr val="0F766E"/>
            </a:solidFill>
          </p:spPr>
        </p:sp>
      </p:grpSp>
      <p:sp>
        <p:nvSpPr>
          <p:cNvPr name="TextBox 6" id="6"/>
          <p:cNvSpPr txBox="true"/>
          <p:nvPr/>
        </p:nvSpPr>
        <p:spPr>
          <a:xfrm rot="0">
            <a:off x="805177" y="360683"/>
            <a:ext cx="13065757" cy="666750"/>
          </a:xfrm>
          <a:prstGeom prst="rect">
            <a:avLst/>
          </a:prstGeom>
        </p:spPr>
        <p:txBody>
          <a:bodyPr anchor="t" rtlCol="false" tIns="0" lIns="0" bIns="0" rIns="0">
            <a:spAutoFit/>
          </a:bodyPr>
          <a:lstStyle/>
          <a:p>
            <a:pPr algn="l">
              <a:lnSpc>
                <a:spcPts val="4680"/>
              </a:lnSpc>
            </a:pPr>
            <a:r>
              <a:rPr lang="en-US" sz="3900" b="true">
                <a:solidFill>
                  <a:srgbClr val="262A33"/>
                </a:solidFill>
                <a:latin typeface="Calibri (MS) Bold"/>
                <a:ea typeface="Calibri (MS) Bold"/>
                <a:cs typeface="Calibri (MS) Bold"/>
                <a:sym typeface="Calibri (MS) Bold"/>
              </a:rPr>
              <a:t>Le pipeline PipelineForge en une image</a:t>
            </a:r>
          </a:p>
        </p:txBody>
      </p:sp>
      <p:sp>
        <p:nvSpPr>
          <p:cNvPr name="TextBox 7" id="7"/>
          <p:cNvSpPr txBox="true"/>
          <p:nvPr/>
        </p:nvSpPr>
        <p:spPr>
          <a:xfrm rot="0">
            <a:off x="846325" y="1331471"/>
            <a:ext cx="13065757" cy="323850"/>
          </a:xfrm>
          <a:prstGeom prst="rect">
            <a:avLst/>
          </a:prstGeom>
        </p:spPr>
        <p:txBody>
          <a:bodyPr anchor="t" rtlCol="false" tIns="0" lIns="0" bIns="0" rIns="0">
            <a:spAutoFit/>
          </a:bodyPr>
          <a:lstStyle/>
          <a:p>
            <a:pPr algn="l">
              <a:lnSpc>
                <a:spcPts val="2250"/>
              </a:lnSpc>
            </a:pPr>
            <a:r>
              <a:rPr lang="en-US" sz="1875" i="true">
                <a:solidFill>
                  <a:srgbClr val="6B707A"/>
                </a:solidFill>
                <a:latin typeface="Calibri (MS) Italics"/>
                <a:ea typeface="Calibri (MS) Italics"/>
                <a:cs typeface="Calibri (MS) Italics"/>
                <a:sym typeface="Calibri (MS) Italics"/>
              </a:rPr>
              <a:t>Pour chaque étape du cours : l'outil du cours → l'outil retenu par l'équipe, et qui l'a réalisée</a:t>
            </a:r>
          </a:p>
        </p:txBody>
      </p:sp>
      <p:grpSp>
        <p:nvGrpSpPr>
          <p:cNvPr name="Group 8" id="8"/>
          <p:cNvGrpSpPr/>
          <p:nvPr/>
        </p:nvGrpSpPr>
        <p:grpSpPr>
          <a:xfrm rot="0">
            <a:off x="14470380" y="493776"/>
            <a:ext cx="3223260" cy="850392"/>
            <a:chOff x="0" y="0"/>
            <a:chExt cx="4297680" cy="1133856"/>
          </a:xfrm>
        </p:grpSpPr>
        <p:sp>
          <p:nvSpPr>
            <p:cNvPr name="Freeform 9" id="9"/>
            <p:cNvSpPr/>
            <p:nvPr/>
          </p:nvSpPr>
          <p:spPr>
            <a:xfrm flipH="false" flipV="false" rot="0">
              <a:off x="0" y="0"/>
              <a:ext cx="4297680" cy="1133856"/>
            </a:xfrm>
            <a:custGeom>
              <a:avLst/>
              <a:gdLst/>
              <a:ahLst/>
              <a:cxnLst/>
              <a:rect r="r" b="b" t="t" l="l"/>
              <a:pathLst>
                <a:path h="1133856" w="4297680">
                  <a:moveTo>
                    <a:pt x="0" y="0"/>
                  </a:moveTo>
                  <a:lnTo>
                    <a:pt x="4297680" y="0"/>
                  </a:lnTo>
                  <a:lnTo>
                    <a:pt x="4297680" y="1133856"/>
                  </a:lnTo>
                  <a:lnTo>
                    <a:pt x="0" y="1133856"/>
                  </a:lnTo>
                  <a:close/>
                </a:path>
              </a:pathLst>
            </a:custGeom>
            <a:solidFill>
              <a:srgbClr val="0F766E"/>
            </a:solidFill>
          </p:spPr>
        </p:sp>
        <p:sp>
          <p:nvSpPr>
            <p:cNvPr name="TextBox 10" id="10"/>
            <p:cNvSpPr txBox="true"/>
            <p:nvPr/>
          </p:nvSpPr>
          <p:spPr>
            <a:xfrm>
              <a:off x="0" y="-47625"/>
              <a:ext cx="4297680" cy="1181481"/>
            </a:xfrm>
            <a:prstGeom prst="rect">
              <a:avLst/>
            </a:prstGeom>
          </p:spPr>
          <p:txBody>
            <a:bodyPr anchor="ctr" rtlCol="false" tIns="50800" lIns="50800" bIns="50800" rIns="50800"/>
            <a:lstStyle/>
            <a:p>
              <a:pPr algn="ctr">
                <a:lnSpc>
                  <a:spcPts val="2340"/>
                </a:lnSpc>
              </a:pPr>
              <a:r>
                <a:rPr lang="en-US" sz="1950" b="true">
                  <a:solidFill>
                    <a:srgbClr val="FFFFFF"/>
                  </a:solidFill>
                  <a:latin typeface="Calibri (MS) Bold"/>
                  <a:ea typeface="Calibri (MS) Bold"/>
                  <a:cs typeface="Calibri (MS) Bold"/>
                  <a:sym typeface="Calibri (MS) Bold"/>
                </a:rPr>
                <a:t>SPRINT 1</a:t>
              </a:r>
            </a:p>
            <a:p>
              <a:pPr algn="ctr">
                <a:lnSpc>
                  <a:spcPts val="1709"/>
                </a:lnSpc>
              </a:pPr>
              <a:r>
                <a:rPr lang="en-US" sz="1425">
                  <a:solidFill>
                    <a:srgbClr val="FFFFFF"/>
                  </a:solidFill>
                  <a:latin typeface="Calibri (MS)"/>
                  <a:ea typeface="Calibri (MS)"/>
                  <a:cs typeface="Calibri (MS)"/>
                  <a:sym typeface="Calibri (MS)"/>
                </a:rPr>
                <a:t>Marouane Daouki</a:t>
              </a:r>
            </a:p>
          </p:txBody>
        </p:sp>
      </p:grpSp>
      <p:grpSp>
        <p:nvGrpSpPr>
          <p:cNvPr name="Group 11" id="11"/>
          <p:cNvGrpSpPr/>
          <p:nvPr/>
        </p:nvGrpSpPr>
        <p:grpSpPr>
          <a:xfrm rot="0">
            <a:off x="0" y="9791700"/>
            <a:ext cx="18287543" cy="495300"/>
            <a:chOff x="0" y="0"/>
            <a:chExt cx="24383390" cy="660400"/>
          </a:xfrm>
        </p:grpSpPr>
        <p:sp>
          <p:nvSpPr>
            <p:cNvPr name="Freeform 12" id="12"/>
            <p:cNvSpPr/>
            <p:nvPr/>
          </p:nvSpPr>
          <p:spPr>
            <a:xfrm flipH="false" flipV="false" rot="0">
              <a:off x="0" y="0"/>
              <a:ext cx="24383364" cy="660400"/>
            </a:xfrm>
            <a:custGeom>
              <a:avLst/>
              <a:gdLst/>
              <a:ahLst/>
              <a:cxnLst/>
              <a:rect r="r" b="b" t="t" l="l"/>
              <a:pathLst>
                <a:path h="660400" w="24383364">
                  <a:moveTo>
                    <a:pt x="0" y="0"/>
                  </a:moveTo>
                  <a:lnTo>
                    <a:pt x="24383364" y="0"/>
                  </a:lnTo>
                  <a:lnTo>
                    <a:pt x="24383364" y="660400"/>
                  </a:lnTo>
                  <a:lnTo>
                    <a:pt x="0" y="660400"/>
                  </a:lnTo>
                  <a:close/>
                </a:path>
              </a:pathLst>
            </a:custGeom>
            <a:solidFill>
              <a:srgbClr val="F2F3F5"/>
            </a:solidFill>
          </p:spPr>
        </p:sp>
      </p:grpSp>
      <p:grpSp>
        <p:nvGrpSpPr>
          <p:cNvPr name="Group 13" id="13"/>
          <p:cNvGrpSpPr/>
          <p:nvPr/>
        </p:nvGrpSpPr>
        <p:grpSpPr>
          <a:xfrm rot="0">
            <a:off x="754380" y="9810750"/>
            <a:ext cx="9601200" cy="381000"/>
            <a:chOff x="0" y="0"/>
            <a:chExt cx="12801600" cy="508000"/>
          </a:xfrm>
        </p:grpSpPr>
        <p:sp>
          <p:nvSpPr>
            <p:cNvPr name="Freeform 14" id="14"/>
            <p:cNvSpPr/>
            <p:nvPr/>
          </p:nvSpPr>
          <p:spPr>
            <a:xfrm flipH="false" flipV="false" rot="0">
              <a:off x="0" y="0"/>
              <a:ext cx="12801600" cy="508000"/>
            </a:xfrm>
            <a:custGeom>
              <a:avLst/>
              <a:gdLst/>
              <a:ahLst/>
              <a:cxnLst/>
              <a:rect r="r" b="b" t="t" l="l"/>
              <a:pathLst>
                <a:path h="508000" w="12801600">
                  <a:moveTo>
                    <a:pt x="0" y="0"/>
                  </a:moveTo>
                  <a:lnTo>
                    <a:pt x="12801600" y="0"/>
                  </a:lnTo>
                  <a:lnTo>
                    <a:pt x="12801600" y="508000"/>
                  </a:lnTo>
                  <a:lnTo>
                    <a:pt x="0" y="508000"/>
                  </a:lnTo>
                  <a:close/>
                </a:path>
              </a:pathLst>
            </a:custGeom>
            <a:blipFill>
              <a:blip r:embed="rId3">
                <a:alphaModFix amt="0"/>
              </a:blip>
              <a:stretch>
                <a:fillRect l="0" t="-441022" r="0" b="-441022"/>
              </a:stretch>
            </a:blipFill>
          </p:spPr>
        </p:sp>
        <p:sp>
          <p:nvSpPr>
            <p:cNvPr name="TextBox 15" id="15"/>
            <p:cNvSpPr txBox="true"/>
            <p:nvPr/>
          </p:nvSpPr>
          <p:spPr>
            <a:xfrm>
              <a:off x="0" y="-28575"/>
              <a:ext cx="12801600" cy="536575"/>
            </a:xfrm>
            <a:prstGeom prst="rect">
              <a:avLst/>
            </a:prstGeom>
          </p:spPr>
          <p:txBody>
            <a:bodyPr anchor="ctr" rtlCol="false" tIns="0" lIns="0" bIns="0" rIns="0"/>
            <a:lstStyle/>
            <a:p>
              <a:pPr algn="l">
                <a:lnSpc>
                  <a:spcPts val="1620"/>
                </a:lnSpc>
              </a:pPr>
              <a:r>
                <a:rPr lang="en-US" sz="1350">
                  <a:solidFill>
                    <a:srgbClr val="6B707A"/>
                  </a:solidFill>
                  <a:latin typeface="Calibri (MS)"/>
                  <a:ea typeface="Calibri (MS)"/>
                  <a:cs typeface="Calibri (MS)"/>
                  <a:sym typeface="Calibri (MS)"/>
                </a:rPr>
                <a:t>PipelineForge — Assistant Scientifique Documentaire (LLMOps)</a:t>
              </a:r>
            </a:p>
          </p:txBody>
        </p:sp>
      </p:grpSp>
      <p:grpSp>
        <p:nvGrpSpPr>
          <p:cNvPr name="Group 16" id="16"/>
          <p:cNvGrpSpPr/>
          <p:nvPr/>
        </p:nvGrpSpPr>
        <p:grpSpPr>
          <a:xfrm rot="0">
            <a:off x="11292383" y="9810750"/>
            <a:ext cx="6309360" cy="381000"/>
            <a:chOff x="0" y="0"/>
            <a:chExt cx="8412480" cy="508000"/>
          </a:xfrm>
        </p:grpSpPr>
        <p:sp>
          <p:nvSpPr>
            <p:cNvPr name="Freeform 17" id="17"/>
            <p:cNvSpPr/>
            <p:nvPr/>
          </p:nvSpPr>
          <p:spPr>
            <a:xfrm flipH="false" flipV="false" rot="0">
              <a:off x="0" y="0"/>
              <a:ext cx="8412480" cy="508000"/>
            </a:xfrm>
            <a:custGeom>
              <a:avLst/>
              <a:gdLst/>
              <a:ahLst/>
              <a:cxnLst/>
              <a:rect r="r" b="b" t="t" l="l"/>
              <a:pathLst>
                <a:path h="508000" w="8412480">
                  <a:moveTo>
                    <a:pt x="0" y="0"/>
                  </a:moveTo>
                  <a:lnTo>
                    <a:pt x="8412480" y="0"/>
                  </a:lnTo>
                  <a:lnTo>
                    <a:pt x="8412480" y="508000"/>
                  </a:lnTo>
                  <a:lnTo>
                    <a:pt x="0" y="508000"/>
                  </a:lnTo>
                  <a:close/>
                </a:path>
              </a:pathLst>
            </a:custGeom>
            <a:blipFill>
              <a:blip r:embed="rId3">
                <a:alphaModFix amt="0"/>
              </a:blip>
              <a:stretch>
                <a:fillRect l="0" t="-272672" r="0" b="-272672"/>
              </a:stretch>
            </a:blipFill>
          </p:spPr>
        </p:sp>
        <p:sp>
          <p:nvSpPr>
            <p:cNvPr name="TextBox 18" id="18"/>
            <p:cNvSpPr txBox="true"/>
            <p:nvPr/>
          </p:nvSpPr>
          <p:spPr>
            <a:xfrm>
              <a:off x="0" y="-28575"/>
              <a:ext cx="8412480" cy="536575"/>
            </a:xfrm>
            <a:prstGeom prst="rect">
              <a:avLst/>
            </a:prstGeom>
          </p:spPr>
          <p:txBody>
            <a:bodyPr anchor="ctr" rtlCol="false" tIns="0" lIns="0" bIns="0" rIns="0"/>
            <a:lstStyle/>
            <a:p>
              <a:pPr algn="r">
                <a:lnSpc>
                  <a:spcPts val="1620"/>
                </a:lnSpc>
              </a:pPr>
              <a:r>
                <a:rPr lang="en-US" sz="1350" b="true">
                  <a:solidFill>
                    <a:srgbClr val="0F766E"/>
                  </a:solidFill>
                  <a:latin typeface="Calibri (MS) Bold"/>
                  <a:ea typeface="Calibri (MS) Bold"/>
                  <a:cs typeface="Calibri (MS) Bold"/>
                  <a:sym typeface="Calibri (MS) Bold"/>
                </a:rPr>
                <a:t>Sprint 1 · Ingestion  ·  Marouane Daouki</a:t>
              </a:r>
            </a:p>
          </p:txBody>
        </p:sp>
      </p:grpSp>
      <p:grpSp>
        <p:nvGrpSpPr>
          <p:cNvPr name="Group 19" id="19"/>
          <p:cNvGrpSpPr/>
          <p:nvPr/>
        </p:nvGrpSpPr>
        <p:grpSpPr>
          <a:xfrm rot="0">
            <a:off x="6565163" y="9563100"/>
            <a:ext cx="1165860" cy="133350"/>
            <a:chOff x="0" y="0"/>
            <a:chExt cx="1554480" cy="177800"/>
          </a:xfrm>
        </p:grpSpPr>
        <p:sp>
          <p:nvSpPr>
            <p:cNvPr name="Freeform 20" id="20"/>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0F766E"/>
            </a:solidFill>
          </p:spPr>
        </p:sp>
      </p:grpSp>
      <p:grpSp>
        <p:nvGrpSpPr>
          <p:cNvPr name="Group 21" id="21"/>
          <p:cNvGrpSpPr/>
          <p:nvPr/>
        </p:nvGrpSpPr>
        <p:grpSpPr>
          <a:xfrm rot="0">
            <a:off x="7895615" y="9563100"/>
            <a:ext cx="1165860" cy="133350"/>
            <a:chOff x="0" y="0"/>
            <a:chExt cx="1554480" cy="177800"/>
          </a:xfrm>
        </p:grpSpPr>
        <p:sp>
          <p:nvSpPr>
            <p:cNvPr name="Freeform 22" id="22"/>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3" id="23"/>
          <p:cNvGrpSpPr/>
          <p:nvPr/>
        </p:nvGrpSpPr>
        <p:grpSpPr>
          <a:xfrm rot="0">
            <a:off x="9226067" y="9563100"/>
            <a:ext cx="1165860" cy="133350"/>
            <a:chOff x="0" y="0"/>
            <a:chExt cx="1554480" cy="177800"/>
          </a:xfrm>
        </p:grpSpPr>
        <p:sp>
          <p:nvSpPr>
            <p:cNvPr name="Freeform 24" id="24"/>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5" id="25"/>
          <p:cNvGrpSpPr/>
          <p:nvPr/>
        </p:nvGrpSpPr>
        <p:grpSpPr>
          <a:xfrm rot="0">
            <a:off x="10556519" y="9563100"/>
            <a:ext cx="1165860" cy="133350"/>
            <a:chOff x="0" y="0"/>
            <a:chExt cx="1554480" cy="177800"/>
          </a:xfrm>
        </p:grpSpPr>
        <p:sp>
          <p:nvSpPr>
            <p:cNvPr name="Freeform 26" id="26"/>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7" id="27"/>
          <p:cNvGrpSpPr/>
          <p:nvPr/>
        </p:nvGrpSpPr>
        <p:grpSpPr>
          <a:xfrm rot="0">
            <a:off x="735330" y="2518410"/>
            <a:ext cx="3947160" cy="4095750"/>
            <a:chOff x="0" y="0"/>
            <a:chExt cx="5262880" cy="5461000"/>
          </a:xfrm>
        </p:grpSpPr>
        <p:sp>
          <p:nvSpPr>
            <p:cNvPr name="Freeform 28" id="28"/>
            <p:cNvSpPr/>
            <p:nvPr/>
          </p:nvSpPr>
          <p:spPr>
            <a:xfrm flipH="false" flipV="false" rot="0">
              <a:off x="0" y="0"/>
              <a:ext cx="5262880" cy="5461000"/>
            </a:xfrm>
            <a:custGeom>
              <a:avLst/>
              <a:gdLst/>
              <a:ahLst/>
              <a:cxnLst/>
              <a:rect r="r" b="b" t="t" l="l"/>
              <a:pathLst>
                <a:path h="5461000" w="5262880">
                  <a:moveTo>
                    <a:pt x="0" y="0"/>
                  </a:moveTo>
                  <a:lnTo>
                    <a:pt x="5262880" y="0"/>
                  </a:lnTo>
                  <a:lnTo>
                    <a:pt x="5262880" y="5461000"/>
                  </a:lnTo>
                  <a:lnTo>
                    <a:pt x="0" y="5461000"/>
                  </a:lnTo>
                  <a:close/>
                </a:path>
              </a:pathLst>
            </a:custGeom>
            <a:solidFill>
              <a:srgbClr val="FFFFFF"/>
            </a:solidFill>
            <a:ln w="38100" cap="sq">
              <a:solidFill>
                <a:srgbClr val="0F766E"/>
              </a:solidFill>
              <a:prstDash val="solid"/>
              <a:miter/>
            </a:ln>
          </p:spPr>
        </p:sp>
      </p:grpSp>
      <p:grpSp>
        <p:nvGrpSpPr>
          <p:cNvPr name="Group 29" id="29"/>
          <p:cNvGrpSpPr/>
          <p:nvPr/>
        </p:nvGrpSpPr>
        <p:grpSpPr>
          <a:xfrm rot="0">
            <a:off x="754380" y="2537460"/>
            <a:ext cx="3909060" cy="495300"/>
            <a:chOff x="0" y="0"/>
            <a:chExt cx="5212080" cy="660400"/>
          </a:xfrm>
        </p:grpSpPr>
        <p:sp>
          <p:nvSpPr>
            <p:cNvPr name="Freeform 30" id="30"/>
            <p:cNvSpPr/>
            <p:nvPr/>
          </p:nvSpPr>
          <p:spPr>
            <a:xfrm flipH="false" flipV="false" rot="0">
              <a:off x="0" y="0"/>
              <a:ext cx="5212080" cy="660400"/>
            </a:xfrm>
            <a:custGeom>
              <a:avLst/>
              <a:gdLst/>
              <a:ahLst/>
              <a:cxnLst/>
              <a:rect r="r" b="b" t="t" l="l"/>
              <a:pathLst>
                <a:path h="660400" w="5212080">
                  <a:moveTo>
                    <a:pt x="0" y="0"/>
                  </a:moveTo>
                  <a:lnTo>
                    <a:pt x="5212080" y="0"/>
                  </a:lnTo>
                  <a:lnTo>
                    <a:pt x="5212080" y="660400"/>
                  </a:lnTo>
                  <a:lnTo>
                    <a:pt x="0" y="660400"/>
                  </a:lnTo>
                  <a:close/>
                </a:path>
              </a:pathLst>
            </a:custGeom>
            <a:solidFill>
              <a:srgbClr val="0F766E"/>
            </a:solidFill>
          </p:spPr>
        </p:sp>
      </p:grpSp>
      <p:sp>
        <p:nvSpPr>
          <p:cNvPr name="TextBox 31" id="31"/>
          <p:cNvSpPr txBox="true"/>
          <p:nvPr/>
        </p:nvSpPr>
        <p:spPr>
          <a:xfrm rot="0">
            <a:off x="969769" y="2538479"/>
            <a:ext cx="3533137" cy="444503"/>
          </a:xfrm>
          <a:prstGeom prst="rect">
            <a:avLst/>
          </a:prstGeom>
        </p:spPr>
        <p:txBody>
          <a:bodyPr anchor="t" rtlCol="false" tIns="0" lIns="0" bIns="0" rIns="0">
            <a:spAutoFit/>
          </a:bodyPr>
          <a:lstStyle/>
          <a:p>
            <a:pPr algn="l">
              <a:lnSpc>
                <a:spcPts val="2160"/>
              </a:lnSpc>
            </a:pPr>
            <a:r>
              <a:rPr lang="en-US" sz="1800" b="true">
                <a:solidFill>
                  <a:srgbClr val="FFFFFF"/>
                </a:solidFill>
                <a:latin typeface="Calibri (MS) Bold"/>
                <a:ea typeface="Calibri (MS) Bold"/>
                <a:cs typeface="Calibri (MS) Bold"/>
                <a:sym typeface="Calibri (MS) Bold"/>
              </a:rPr>
              <a:t>S1 · Ingestion</a:t>
            </a:r>
          </a:p>
        </p:txBody>
      </p:sp>
      <p:grpSp>
        <p:nvGrpSpPr>
          <p:cNvPr name="Group 32" id="32"/>
          <p:cNvGrpSpPr/>
          <p:nvPr/>
        </p:nvGrpSpPr>
        <p:grpSpPr>
          <a:xfrm rot="0">
            <a:off x="946404" y="3113532"/>
            <a:ext cx="3525012" cy="3333750"/>
            <a:chOff x="0" y="0"/>
            <a:chExt cx="4700016" cy="4445000"/>
          </a:xfrm>
        </p:grpSpPr>
        <p:sp>
          <p:nvSpPr>
            <p:cNvPr name="Freeform 33" id="33"/>
            <p:cNvSpPr/>
            <p:nvPr/>
          </p:nvSpPr>
          <p:spPr>
            <a:xfrm flipH="false" flipV="false" rot="0">
              <a:off x="0" y="0"/>
              <a:ext cx="4700016" cy="4445000"/>
            </a:xfrm>
            <a:custGeom>
              <a:avLst/>
              <a:gdLst/>
              <a:ahLst/>
              <a:cxnLst/>
              <a:rect r="r" b="b" t="t" l="l"/>
              <a:pathLst>
                <a:path h="4445000" w="4700016">
                  <a:moveTo>
                    <a:pt x="0" y="0"/>
                  </a:moveTo>
                  <a:lnTo>
                    <a:pt x="4700016" y="0"/>
                  </a:lnTo>
                  <a:lnTo>
                    <a:pt x="4700016" y="4445000"/>
                  </a:lnTo>
                  <a:lnTo>
                    <a:pt x="0" y="4445000"/>
                  </a:lnTo>
                  <a:close/>
                </a:path>
              </a:pathLst>
            </a:custGeom>
            <a:blipFill>
              <a:blip r:embed="rId3">
                <a:alphaModFix amt="0"/>
              </a:blip>
              <a:stretch>
                <a:fillRect l="-12404" t="0" r="-12404" b="48571"/>
              </a:stretch>
            </a:blipFill>
          </p:spPr>
        </p:sp>
        <p:sp>
          <p:nvSpPr>
            <p:cNvPr name="TextBox 34" id="34"/>
            <p:cNvSpPr txBox="true"/>
            <p:nvPr/>
          </p:nvSpPr>
          <p:spPr>
            <a:xfrm>
              <a:off x="0" y="-38100"/>
              <a:ext cx="4700016" cy="4483100"/>
            </a:xfrm>
            <a:prstGeom prst="rect">
              <a:avLst/>
            </a:prstGeom>
          </p:spPr>
          <p:txBody>
            <a:bodyPr anchor="ctr" rtlCol="false" tIns="0" lIns="0" bIns="0" rIns="0"/>
            <a:lstStyle/>
            <a:p>
              <a:pPr algn="l">
                <a:lnSpc>
                  <a:spcPts val="2070"/>
                </a:lnSpc>
              </a:pPr>
              <a:r>
                <a:rPr lang="en-US" sz="1725">
                  <a:solidFill>
                    <a:srgbClr val="6B707A"/>
                  </a:solidFill>
                  <a:latin typeface="Calibri (MS)"/>
                  <a:ea typeface="Calibri (MS)"/>
                  <a:cs typeface="Calibri (MS)"/>
                  <a:sym typeface="Calibri (MS)"/>
                </a:rPr>
                <a:t>Sources de données</a:t>
              </a:r>
            </a:p>
            <a:p>
              <a:pPr algn="l">
                <a:lnSpc>
                  <a:spcPts val="2070"/>
                </a:lnSpc>
              </a:pPr>
              <a:r>
                <a:rPr lang="en-US" sz="1725">
                  <a:solidFill>
                    <a:srgbClr val="6B707A"/>
                  </a:solidFill>
                  <a:latin typeface="Calibri (MS)"/>
                  <a:ea typeface="Calibri (MS)"/>
                  <a:cs typeface="Calibri (MS)"/>
                  <a:sym typeface="Calibri (MS)"/>
                </a:rPr>
                <a:t>→ PubMed Central Open Access</a:t>
              </a:r>
            </a:p>
            <a:p>
              <a:pPr algn="l">
                <a:lnSpc>
                  <a:spcPts val="2070"/>
                </a:lnSpc>
              </a:pPr>
            </a:p>
            <a:p>
              <a:pPr algn="l">
                <a:lnSpc>
                  <a:spcPts val="2070"/>
                </a:lnSpc>
              </a:pPr>
              <a:r>
                <a:rPr lang="en-US" sz="1725">
                  <a:solidFill>
                    <a:srgbClr val="6B707A"/>
                  </a:solidFill>
                  <a:latin typeface="Calibri (MS)"/>
                  <a:ea typeface="Calibri (MS)"/>
                  <a:cs typeface="Calibri (MS)"/>
                  <a:sym typeface="Calibri (MS)"/>
                </a:rPr>
                <a:t>Ingestion (dlt)</a:t>
              </a:r>
            </a:p>
            <a:p>
              <a:pPr algn="l">
                <a:lnSpc>
                  <a:spcPts val="2070"/>
                </a:lnSpc>
              </a:pPr>
              <a:r>
                <a:rPr lang="en-US" sz="1725">
                  <a:solidFill>
                    <a:srgbClr val="6B707A"/>
                  </a:solidFill>
                  <a:latin typeface="Calibri (MS)"/>
                  <a:ea typeface="Calibri (MS)"/>
                  <a:cs typeface="Calibri (MS)"/>
                  <a:sym typeface="Calibri (MS)"/>
                </a:rPr>
                <a:t>→ API PMC + script Python</a:t>
              </a:r>
            </a:p>
            <a:p>
              <a:pPr algn="l">
                <a:lnSpc>
                  <a:spcPts val="2070"/>
                </a:lnSpc>
              </a:pPr>
            </a:p>
            <a:p>
              <a:pPr algn="l">
                <a:lnSpc>
                  <a:spcPts val="2070"/>
                </a:lnSpc>
              </a:pPr>
              <a:r>
                <a:rPr lang="en-US" sz="1725">
                  <a:solidFill>
                    <a:srgbClr val="6B707A"/>
                  </a:solidFill>
                  <a:latin typeface="Calibri (MS)"/>
                  <a:ea typeface="Calibri (MS)"/>
                  <a:cs typeface="Calibri (MS)"/>
                  <a:sym typeface="Calibri (MS)"/>
                </a:rPr>
                <a:t>Stockage (DuckDB)</a:t>
              </a:r>
            </a:p>
            <a:p>
              <a:pPr algn="l">
                <a:lnSpc>
                  <a:spcPts val="2070"/>
                </a:lnSpc>
              </a:pPr>
              <a:r>
                <a:rPr lang="en-US" sz="1725">
                  <a:solidFill>
                    <a:srgbClr val="6B707A"/>
                  </a:solidFill>
                  <a:latin typeface="Calibri (MS)"/>
                  <a:ea typeface="Calibri (MS)"/>
                  <a:cs typeface="Calibri (MS)"/>
                  <a:sym typeface="Calibri (MS)"/>
                </a:rPr>
                <a:t>→ fichiers texte + JSON (brut)</a:t>
              </a:r>
            </a:p>
            <a:p>
              <a:pPr algn="l">
                <a:lnSpc>
                  <a:spcPts val="2070"/>
                </a:lnSpc>
              </a:pPr>
            </a:p>
            <a:p>
              <a:pPr algn="l">
                <a:lnSpc>
                  <a:spcPts val="2070"/>
                </a:lnSpc>
              </a:pPr>
              <a:r>
                <a:rPr lang="en-US" sz="1725">
                  <a:solidFill>
                    <a:srgbClr val="6B707A"/>
                  </a:solidFill>
                  <a:latin typeface="Calibri (MS)"/>
                  <a:ea typeface="Calibri (MS)"/>
                  <a:cs typeface="Calibri (MS)"/>
                  <a:sym typeface="Calibri (MS)"/>
                </a:rPr>
                <a:t>Marouane</a:t>
              </a:r>
            </a:p>
            <a:p>
              <a:pPr algn="l">
                <a:lnSpc>
                  <a:spcPts val="2070"/>
                </a:lnSpc>
              </a:pPr>
              <a:r>
                <a:rPr lang="en-US" sz="1725" b="true">
                  <a:solidFill>
                    <a:srgbClr val="0F766E"/>
                  </a:solidFill>
                  <a:latin typeface="Calibri (MS) Bold"/>
                  <a:ea typeface="Calibri (MS) Bold"/>
                  <a:cs typeface="Calibri (MS) Bold"/>
                  <a:sym typeface="Calibri (MS) Bold"/>
                </a:rPr>
                <a:t>700 articles bruts</a:t>
              </a:r>
            </a:p>
          </p:txBody>
        </p:sp>
      </p:grpSp>
      <p:sp>
        <p:nvSpPr>
          <p:cNvPr name="TextBox 35" id="35"/>
          <p:cNvSpPr txBox="true"/>
          <p:nvPr/>
        </p:nvSpPr>
        <p:spPr>
          <a:xfrm rot="0">
            <a:off x="4686805" y="4133850"/>
            <a:ext cx="474469" cy="692153"/>
          </a:xfrm>
          <a:prstGeom prst="rect">
            <a:avLst/>
          </a:prstGeom>
        </p:spPr>
        <p:txBody>
          <a:bodyPr anchor="t" rtlCol="false" tIns="0" lIns="0" bIns="0" rIns="0">
            <a:spAutoFit/>
          </a:bodyPr>
          <a:lstStyle/>
          <a:p>
            <a:pPr algn="l">
              <a:lnSpc>
                <a:spcPts val="3240"/>
              </a:lnSpc>
            </a:pPr>
            <a:r>
              <a:rPr lang="en-US" sz="2700" b="true">
                <a:solidFill>
                  <a:srgbClr val="0F766E"/>
                </a:solidFill>
                <a:latin typeface="Calibri (MS) Bold"/>
                <a:ea typeface="Calibri (MS) Bold"/>
                <a:cs typeface="Calibri (MS) Bold"/>
                <a:sym typeface="Calibri (MS) Bold"/>
              </a:rPr>
              <a:t>▶</a:t>
            </a:r>
          </a:p>
        </p:txBody>
      </p:sp>
      <p:grpSp>
        <p:nvGrpSpPr>
          <p:cNvPr name="Group 36" id="36"/>
          <p:cNvGrpSpPr/>
          <p:nvPr/>
        </p:nvGrpSpPr>
        <p:grpSpPr>
          <a:xfrm rot="0">
            <a:off x="5165598" y="2518410"/>
            <a:ext cx="3947160" cy="4095750"/>
            <a:chOff x="0" y="0"/>
            <a:chExt cx="5262880" cy="5461000"/>
          </a:xfrm>
        </p:grpSpPr>
        <p:sp>
          <p:nvSpPr>
            <p:cNvPr name="Freeform 37" id="37"/>
            <p:cNvSpPr/>
            <p:nvPr/>
          </p:nvSpPr>
          <p:spPr>
            <a:xfrm flipH="false" flipV="false" rot="0">
              <a:off x="0" y="0"/>
              <a:ext cx="5262880" cy="5461000"/>
            </a:xfrm>
            <a:custGeom>
              <a:avLst/>
              <a:gdLst/>
              <a:ahLst/>
              <a:cxnLst/>
              <a:rect r="r" b="b" t="t" l="l"/>
              <a:pathLst>
                <a:path h="5461000" w="5262880">
                  <a:moveTo>
                    <a:pt x="0" y="0"/>
                  </a:moveTo>
                  <a:lnTo>
                    <a:pt x="5262880" y="0"/>
                  </a:lnTo>
                  <a:lnTo>
                    <a:pt x="5262880" y="5461000"/>
                  </a:lnTo>
                  <a:lnTo>
                    <a:pt x="0" y="5461000"/>
                  </a:lnTo>
                  <a:close/>
                </a:path>
              </a:pathLst>
            </a:custGeom>
            <a:solidFill>
              <a:srgbClr val="FFFFFF"/>
            </a:solidFill>
            <a:ln w="38100" cap="sq">
              <a:solidFill>
                <a:srgbClr val="B8860B"/>
              </a:solidFill>
              <a:prstDash val="solid"/>
              <a:miter/>
            </a:ln>
          </p:spPr>
        </p:sp>
      </p:grpSp>
      <p:grpSp>
        <p:nvGrpSpPr>
          <p:cNvPr name="Group 38" id="38"/>
          <p:cNvGrpSpPr/>
          <p:nvPr/>
        </p:nvGrpSpPr>
        <p:grpSpPr>
          <a:xfrm rot="0">
            <a:off x="5184648" y="2537460"/>
            <a:ext cx="3909060" cy="495300"/>
            <a:chOff x="0" y="0"/>
            <a:chExt cx="5212080" cy="660400"/>
          </a:xfrm>
        </p:grpSpPr>
        <p:sp>
          <p:nvSpPr>
            <p:cNvPr name="Freeform 39" id="39"/>
            <p:cNvSpPr/>
            <p:nvPr/>
          </p:nvSpPr>
          <p:spPr>
            <a:xfrm flipH="false" flipV="false" rot="0">
              <a:off x="0" y="0"/>
              <a:ext cx="5212080" cy="660400"/>
            </a:xfrm>
            <a:custGeom>
              <a:avLst/>
              <a:gdLst/>
              <a:ahLst/>
              <a:cxnLst/>
              <a:rect r="r" b="b" t="t" l="l"/>
              <a:pathLst>
                <a:path h="660400" w="5212080">
                  <a:moveTo>
                    <a:pt x="0" y="0"/>
                  </a:moveTo>
                  <a:lnTo>
                    <a:pt x="5212080" y="0"/>
                  </a:lnTo>
                  <a:lnTo>
                    <a:pt x="5212080" y="660400"/>
                  </a:lnTo>
                  <a:lnTo>
                    <a:pt x="0" y="660400"/>
                  </a:lnTo>
                  <a:close/>
                </a:path>
              </a:pathLst>
            </a:custGeom>
            <a:solidFill>
              <a:srgbClr val="B8860B"/>
            </a:solidFill>
          </p:spPr>
        </p:sp>
      </p:grpSp>
      <p:sp>
        <p:nvSpPr>
          <p:cNvPr name="TextBox 40" id="40"/>
          <p:cNvSpPr txBox="true"/>
          <p:nvPr/>
        </p:nvSpPr>
        <p:spPr>
          <a:xfrm rot="0">
            <a:off x="5400037" y="2538479"/>
            <a:ext cx="3533137" cy="444503"/>
          </a:xfrm>
          <a:prstGeom prst="rect">
            <a:avLst/>
          </a:prstGeom>
        </p:spPr>
        <p:txBody>
          <a:bodyPr anchor="t" rtlCol="false" tIns="0" lIns="0" bIns="0" rIns="0">
            <a:spAutoFit/>
          </a:bodyPr>
          <a:lstStyle/>
          <a:p>
            <a:pPr algn="l">
              <a:lnSpc>
                <a:spcPts val="2160"/>
              </a:lnSpc>
            </a:pPr>
            <a:r>
              <a:rPr lang="en-US" sz="1800" b="true">
                <a:solidFill>
                  <a:srgbClr val="FFFFFF"/>
                </a:solidFill>
                <a:latin typeface="Calibri (MS) Bold"/>
                <a:ea typeface="Calibri (MS) Bold"/>
                <a:cs typeface="Calibri (MS) Bold"/>
                <a:sym typeface="Calibri (MS) Bold"/>
              </a:rPr>
              <a:t>S2 · Transformation &amp; Qualité</a:t>
            </a:r>
          </a:p>
        </p:txBody>
      </p:sp>
      <p:grpSp>
        <p:nvGrpSpPr>
          <p:cNvPr name="Group 41" id="41"/>
          <p:cNvGrpSpPr/>
          <p:nvPr/>
        </p:nvGrpSpPr>
        <p:grpSpPr>
          <a:xfrm rot="0">
            <a:off x="5376672" y="3113532"/>
            <a:ext cx="3525012" cy="3333750"/>
            <a:chOff x="0" y="0"/>
            <a:chExt cx="4700016" cy="4445000"/>
          </a:xfrm>
        </p:grpSpPr>
        <p:sp>
          <p:nvSpPr>
            <p:cNvPr name="Freeform 42" id="42"/>
            <p:cNvSpPr/>
            <p:nvPr/>
          </p:nvSpPr>
          <p:spPr>
            <a:xfrm flipH="false" flipV="false" rot="0">
              <a:off x="0" y="0"/>
              <a:ext cx="4700016" cy="4445000"/>
            </a:xfrm>
            <a:custGeom>
              <a:avLst/>
              <a:gdLst/>
              <a:ahLst/>
              <a:cxnLst/>
              <a:rect r="r" b="b" t="t" l="l"/>
              <a:pathLst>
                <a:path h="4445000" w="4700016">
                  <a:moveTo>
                    <a:pt x="0" y="0"/>
                  </a:moveTo>
                  <a:lnTo>
                    <a:pt x="4700016" y="0"/>
                  </a:lnTo>
                  <a:lnTo>
                    <a:pt x="4700016" y="4445000"/>
                  </a:lnTo>
                  <a:lnTo>
                    <a:pt x="0" y="4445000"/>
                  </a:lnTo>
                  <a:close/>
                </a:path>
              </a:pathLst>
            </a:custGeom>
            <a:blipFill>
              <a:blip r:embed="rId3">
                <a:alphaModFix amt="0"/>
              </a:blip>
              <a:stretch>
                <a:fillRect l="-12404" t="0" r="-12404" b="48571"/>
              </a:stretch>
            </a:blipFill>
          </p:spPr>
        </p:sp>
        <p:sp>
          <p:nvSpPr>
            <p:cNvPr name="TextBox 43" id="43"/>
            <p:cNvSpPr txBox="true"/>
            <p:nvPr/>
          </p:nvSpPr>
          <p:spPr>
            <a:xfrm>
              <a:off x="0" y="-38100"/>
              <a:ext cx="4700016" cy="4483100"/>
            </a:xfrm>
            <a:prstGeom prst="rect">
              <a:avLst/>
            </a:prstGeom>
          </p:spPr>
          <p:txBody>
            <a:bodyPr anchor="ctr" rtlCol="false" tIns="0" lIns="0" bIns="0" rIns="0"/>
            <a:lstStyle/>
            <a:p>
              <a:pPr algn="l">
                <a:lnSpc>
                  <a:spcPts val="2070"/>
                </a:lnSpc>
              </a:pPr>
              <a:r>
                <a:rPr lang="en-US" sz="1725">
                  <a:solidFill>
                    <a:srgbClr val="6B707A"/>
                  </a:solidFill>
                  <a:latin typeface="Calibri (MS)"/>
                  <a:ea typeface="Calibri (MS)"/>
                  <a:cs typeface="Calibri (MS)"/>
                  <a:sym typeface="Calibri (MS)"/>
                </a:rPr>
                <a:t>Transformations (dbt)</a:t>
              </a:r>
            </a:p>
            <a:p>
              <a:pPr algn="l">
                <a:lnSpc>
                  <a:spcPts val="2070"/>
                </a:lnSpc>
              </a:pPr>
              <a:r>
                <a:rPr lang="en-US" sz="1725">
                  <a:solidFill>
                    <a:srgbClr val="6B707A"/>
                  </a:solidFill>
                  <a:latin typeface="Calibri (MS)"/>
                  <a:ea typeface="Calibri (MS)"/>
                  <a:cs typeface="Calibri (MS)"/>
                  <a:sym typeface="Calibri (MS)"/>
                </a:rPr>
                <a:t>→ nettoyage, chunks, Parquet</a:t>
              </a:r>
            </a:p>
            <a:p>
              <a:pPr algn="l">
                <a:lnSpc>
                  <a:spcPts val="2070"/>
                </a:lnSpc>
              </a:pPr>
            </a:p>
            <a:p>
              <a:pPr algn="l">
                <a:lnSpc>
                  <a:spcPts val="2070"/>
                </a:lnSpc>
              </a:pPr>
              <a:r>
                <a:rPr lang="en-US" sz="1725">
                  <a:solidFill>
                    <a:srgbClr val="6B707A"/>
                  </a:solidFill>
                  <a:latin typeface="Calibri (MS)"/>
                  <a:ea typeface="Calibri (MS)"/>
                  <a:cs typeface="Calibri (MS)"/>
                  <a:sym typeface="Calibri (MS)"/>
                </a:rPr>
                <a:t>Tests qualité (data contracts)</a:t>
              </a:r>
            </a:p>
            <a:p>
              <a:pPr algn="l">
                <a:lnSpc>
                  <a:spcPts val="2070"/>
                </a:lnSpc>
              </a:pPr>
              <a:r>
                <a:rPr lang="en-US" sz="1725">
                  <a:solidFill>
                    <a:srgbClr val="6B707A"/>
                  </a:solidFill>
                  <a:latin typeface="Calibri (MS)"/>
                  <a:ea typeface="Calibri (MS)"/>
                  <a:cs typeface="Calibri (MS)"/>
                  <a:sym typeface="Calibri (MS)"/>
                </a:rPr>
                <a:t>→ Pydantic + 8 tests pytest</a:t>
              </a:r>
            </a:p>
            <a:p>
              <a:pPr algn="l">
                <a:lnSpc>
                  <a:spcPts val="2070"/>
                </a:lnSpc>
              </a:pPr>
            </a:p>
            <a:p>
              <a:pPr algn="l">
                <a:lnSpc>
                  <a:spcPts val="2070"/>
                </a:lnSpc>
              </a:pPr>
              <a:r>
                <a:rPr lang="en-US" sz="1725">
                  <a:solidFill>
                    <a:srgbClr val="6B707A"/>
                  </a:solidFill>
                  <a:latin typeface="Calibri (MS)"/>
                  <a:ea typeface="Calibri (MS)"/>
                  <a:cs typeface="Calibri (MS)"/>
                  <a:sym typeface="Calibri (MS)"/>
                </a:rPr>
                <a:t>Orchestration (Dagster)</a:t>
              </a:r>
            </a:p>
            <a:p>
              <a:pPr algn="l">
                <a:lnSpc>
                  <a:spcPts val="2070"/>
                </a:lnSpc>
              </a:pPr>
              <a:r>
                <a:rPr lang="en-US" sz="1725">
                  <a:solidFill>
                    <a:srgbClr val="6B707A"/>
                  </a:solidFill>
                  <a:latin typeface="Calibri (MS)"/>
                  <a:ea typeface="Calibri (MS)"/>
                  <a:cs typeface="Calibri (MS)"/>
                  <a:sym typeface="Calibri (MS)"/>
                </a:rPr>
                <a:t>→ Prefect</a:t>
              </a:r>
            </a:p>
            <a:p>
              <a:pPr algn="l">
                <a:lnSpc>
                  <a:spcPts val="2070"/>
                </a:lnSpc>
              </a:pPr>
            </a:p>
            <a:p>
              <a:pPr algn="l">
                <a:lnSpc>
                  <a:spcPts val="2070"/>
                </a:lnSpc>
              </a:pPr>
              <a:r>
                <a:rPr lang="en-US" sz="1725">
                  <a:solidFill>
                    <a:srgbClr val="6B707A"/>
                  </a:solidFill>
                  <a:latin typeface="Calibri (MS)"/>
                  <a:ea typeface="Calibri (MS)"/>
                  <a:cs typeface="Calibri (MS)"/>
                  <a:sym typeface="Calibri (MS)"/>
                </a:rPr>
                <a:t>Imane, Hanane, Maroua</a:t>
              </a:r>
            </a:p>
            <a:p>
              <a:pPr algn="l">
                <a:lnSpc>
                  <a:spcPts val="2070"/>
                </a:lnSpc>
              </a:pPr>
              <a:r>
                <a:rPr lang="en-US" sz="1725" b="true">
                  <a:solidFill>
                    <a:srgbClr val="B8860B"/>
                  </a:solidFill>
                  <a:latin typeface="Calibri (MS) Bold"/>
                  <a:ea typeface="Calibri (MS) Bold"/>
                  <a:cs typeface="Calibri (MS) Bold"/>
                  <a:sym typeface="Calibri (MS) Bold"/>
                </a:rPr>
                <a:t>32 146 chunks validés</a:t>
              </a:r>
            </a:p>
          </p:txBody>
        </p:sp>
      </p:grpSp>
      <p:sp>
        <p:nvSpPr>
          <p:cNvPr name="TextBox 44" id="44"/>
          <p:cNvSpPr txBox="true"/>
          <p:nvPr/>
        </p:nvSpPr>
        <p:spPr>
          <a:xfrm rot="0">
            <a:off x="9117073" y="4133850"/>
            <a:ext cx="474469" cy="692153"/>
          </a:xfrm>
          <a:prstGeom prst="rect">
            <a:avLst/>
          </a:prstGeom>
        </p:spPr>
        <p:txBody>
          <a:bodyPr anchor="t" rtlCol="false" tIns="0" lIns="0" bIns="0" rIns="0">
            <a:spAutoFit/>
          </a:bodyPr>
          <a:lstStyle/>
          <a:p>
            <a:pPr algn="l">
              <a:lnSpc>
                <a:spcPts val="3240"/>
              </a:lnSpc>
            </a:pPr>
            <a:r>
              <a:rPr lang="en-US" sz="2700" b="true">
                <a:solidFill>
                  <a:srgbClr val="B8860B"/>
                </a:solidFill>
                <a:latin typeface="Calibri (MS) Bold"/>
                <a:ea typeface="Calibri (MS) Bold"/>
                <a:cs typeface="Calibri (MS) Bold"/>
                <a:sym typeface="Calibri (MS) Bold"/>
              </a:rPr>
              <a:t>▶</a:t>
            </a:r>
          </a:p>
        </p:txBody>
      </p:sp>
      <p:grpSp>
        <p:nvGrpSpPr>
          <p:cNvPr name="Group 45" id="45"/>
          <p:cNvGrpSpPr/>
          <p:nvPr/>
        </p:nvGrpSpPr>
        <p:grpSpPr>
          <a:xfrm rot="0">
            <a:off x="9595866" y="2518410"/>
            <a:ext cx="3947160" cy="4095750"/>
            <a:chOff x="0" y="0"/>
            <a:chExt cx="5262880" cy="5461000"/>
          </a:xfrm>
        </p:grpSpPr>
        <p:sp>
          <p:nvSpPr>
            <p:cNvPr name="Freeform 46" id="46"/>
            <p:cNvSpPr/>
            <p:nvPr/>
          </p:nvSpPr>
          <p:spPr>
            <a:xfrm flipH="false" flipV="false" rot="0">
              <a:off x="0" y="0"/>
              <a:ext cx="5262880" cy="5461000"/>
            </a:xfrm>
            <a:custGeom>
              <a:avLst/>
              <a:gdLst/>
              <a:ahLst/>
              <a:cxnLst/>
              <a:rect r="r" b="b" t="t" l="l"/>
              <a:pathLst>
                <a:path h="5461000" w="5262880">
                  <a:moveTo>
                    <a:pt x="0" y="0"/>
                  </a:moveTo>
                  <a:lnTo>
                    <a:pt x="5262880" y="0"/>
                  </a:lnTo>
                  <a:lnTo>
                    <a:pt x="5262880" y="5461000"/>
                  </a:lnTo>
                  <a:lnTo>
                    <a:pt x="0" y="5461000"/>
                  </a:lnTo>
                  <a:close/>
                </a:path>
              </a:pathLst>
            </a:custGeom>
            <a:solidFill>
              <a:srgbClr val="FFFFFF"/>
            </a:solidFill>
            <a:ln w="38100" cap="sq">
              <a:solidFill>
                <a:srgbClr val="3F3DB0"/>
              </a:solidFill>
              <a:prstDash val="solid"/>
              <a:miter/>
            </a:ln>
          </p:spPr>
        </p:sp>
      </p:grpSp>
      <p:grpSp>
        <p:nvGrpSpPr>
          <p:cNvPr name="Group 47" id="47"/>
          <p:cNvGrpSpPr/>
          <p:nvPr/>
        </p:nvGrpSpPr>
        <p:grpSpPr>
          <a:xfrm rot="0">
            <a:off x="9614916" y="2537460"/>
            <a:ext cx="3909060" cy="495300"/>
            <a:chOff x="0" y="0"/>
            <a:chExt cx="5212080" cy="660400"/>
          </a:xfrm>
        </p:grpSpPr>
        <p:sp>
          <p:nvSpPr>
            <p:cNvPr name="Freeform 48" id="48"/>
            <p:cNvSpPr/>
            <p:nvPr/>
          </p:nvSpPr>
          <p:spPr>
            <a:xfrm flipH="false" flipV="false" rot="0">
              <a:off x="0" y="0"/>
              <a:ext cx="5212080" cy="660400"/>
            </a:xfrm>
            <a:custGeom>
              <a:avLst/>
              <a:gdLst/>
              <a:ahLst/>
              <a:cxnLst/>
              <a:rect r="r" b="b" t="t" l="l"/>
              <a:pathLst>
                <a:path h="660400" w="5212080">
                  <a:moveTo>
                    <a:pt x="0" y="0"/>
                  </a:moveTo>
                  <a:lnTo>
                    <a:pt x="5212080" y="0"/>
                  </a:lnTo>
                  <a:lnTo>
                    <a:pt x="5212080" y="660400"/>
                  </a:lnTo>
                  <a:lnTo>
                    <a:pt x="0" y="660400"/>
                  </a:lnTo>
                  <a:close/>
                </a:path>
              </a:pathLst>
            </a:custGeom>
            <a:solidFill>
              <a:srgbClr val="3F3DB0"/>
            </a:solidFill>
          </p:spPr>
        </p:sp>
      </p:grpSp>
      <p:sp>
        <p:nvSpPr>
          <p:cNvPr name="TextBox 49" id="49"/>
          <p:cNvSpPr txBox="true"/>
          <p:nvPr/>
        </p:nvSpPr>
        <p:spPr>
          <a:xfrm rot="0">
            <a:off x="9830305" y="2538479"/>
            <a:ext cx="3533137" cy="444503"/>
          </a:xfrm>
          <a:prstGeom prst="rect">
            <a:avLst/>
          </a:prstGeom>
        </p:spPr>
        <p:txBody>
          <a:bodyPr anchor="t" rtlCol="false" tIns="0" lIns="0" bIns="0" rIns="0">
            <a:spAutoFit/>
          </a:bodyPr>
          <a:lstStyle/>
          <a:p>
            <a:pPr algn="l">
              <a:lnSpc>
                <a:spcPts val="2160"/>
              </a:lnSpc>
            </a:pPr>
            <a:r>
              <a:rPr lang="en-US" sz="1800" b="true">
                <a:solidFill>
                  <a:srgbClr val="FFFFFF"/>
                </a:solidFill>
                <a:latin typeface="Calibri (MS) Bold"/>
                <a:ea typeface="Calibri (MS) Bold"/>
                <a:cs typeface="Calibri (MS) Bold"/>
                <a:sym typeface="Calibri (MS) Bold"/>
              </a:rPr>
              <a:t>S3 · Embeddings &amp; RAG</a:t>
            </a:r>
          </a:p>
        </p:txBody>
      </p:sp>
      <p:grpSp>
        <p:nvGrpSpPr>
          <p:cNvPr name="Group 50" id="50"/>
          <p:cNvGrpSpPr/>
          <p:nvPr/>
        </p:nvGrpSpPr>
        <p:grpSpPr>
          <a:xfrm rot="0">
            <a:off x="9806940" y="3113532"/>
            <a:ext cx="3525012" cy="3333750"/>
            <a:chOff x="0" y="0"/>
            <a:chExt cx="4700016" cy="4445000"/>
          </a:xfrm>
        </p:grpSpPr>
        <p:sp>
          <p:nvSpPr>
            <p:cNvPr name="Freeform 51" id="51"/>
            <p:cNvSpPr/>
            <p:nvPr/>
          </p:nvSpPr>
          <p:spPr>
            <a:xfrm flipH="false" flipV="false" rot="0">
              <a:off x="0" y="0"/>
              <a:ext cx="4700016" cy="4445000"/>
            </a:xfrm>
            <a:custGeom>
              <a:avLst/>
              <a:gdLst/>
              <a:ahLst/>
              <a:cxnLst/>
              <a:rect r="r" b="b" t="t" l="l"/>
              <a:pathLst>
                <a:path h="4445000" w="4700016">
                  <a:moveTo>
                    <a:pt x="0" y="0"/>
                  </a:moveTo>
                  <a:lnTo>
                    <a:pt x="4700016" y="0"/>
                  </a:lnTo>
                  <a:lnTo>
                    <a:pt x="4700016" y="4445000"/>
                  </a:lnTo>
                  <a:lnTo>
                    <a:pt x="0" y="4445000"/>
                  </a:lnTo>
                  <a:close/>
                </a:path>
              </a:pathLst>
            </a:custGeom>
            <a:blipFill>
              <a:blip r:embed="rId3">
                <a:alphaModFix amt="0"/>
              </a:blip>
              <a:stretch>
                <a:fillRect l="-12404" t="0" r="-12404" b="48571"/>
              </a:stretch>
            </a:blipFill>
          </p:spPr>
        </p:sp>
        <p:sp>
          <p:nvSpPr>
            <p:cNvPr name="TextBox 52" id="52"/>
            <p:cNvSpPr txBox="true"/>
            <p:nvPr/>
          </p:nvSpPr>
          <p:spPr>
            <a:xfrm>
              <a:off x="0" y="-38100"/>
              <a:ext cx="4700016" cy="4483100"/>
            </a:xfrm>
            <a:prstGeom prst="rect">
              <a:avLst/>
            </a:prstGeom>
          </p:spPr>
          <p:txBody>
            <a:bodyPr anchor="ctr" rtlCol="false" tIns="0" lIns="0" bIns="0" rIns="0"/>
            <a:lstStyle/>
            <a:p>
              <a:pPr algn="l">
                <a:lnSpc>
                  <a:spcPts val="2070"/>
                </a:lnSpc>
              </a:pPr>
              <a:r>
                <a:rPr lang="en-US" sz="1725">
                  <a:solidFill>
                    <a:srgbClr val="6B707A"/>
                  </a:solidFill>
                  <a:latin typeface="Calibri (MS)"/>
                  <a:ea typeface="Calibri (MS)"/>
                  <a:cs typeface="Calibri (MS)"/>
                  <a:sym typeface="Calibri (MS)"/>
                </a:rPr>
                <a:t>Machine learning (scikit-learn)</a:t>
              </a:r>
            </a:p>
            <a:p>
              <a:pPr algn="l">
                <a:lnSpc>
                  <a:spcPts val="2070"/>
                </a:lnSpc>
              </a:pPr>
              <a:r>
                <a:rPr lang="en-US" sz="1725">
                  <a:solidFill>
                    <a:srgbClr val="6B707A"/>
                  </a:solidFill>
                  <a:latin typeface="Calibri (MS)"/>
                  <a:ea typeface="Calibri (MS)"/>
                  <a:cs typeface="Calibri (MS)"/>
                  <a:sym typeface="Calibri (MS)"/>
                </a:rPr>
                <a:t>→ BGE + Chroma + Groq</a:t>
              </a:r>
            </a:p>
            <a:p>
              <a:pPr algn="l">
                <a:lnSpc>
                  <a:spcPts val="2070"/>
                </a:lnSpc>
              </a:pPr>
            </a:p>
            <a:p>
              <a:pPr algn="l">
                <a:lnSpc>
                  <a:spcPts val="2070"/>
                </a:lnSpc>
              </a:pPr>
              <a:r>
                <a:rPr lang="en-US" sz="1725">
                  <a:solidFill>
                    <a:srgbClr val="6B707A"/>
                  </a:solidFill>
                  <a:latin typeface="Calibri (MS)"/>
                  <a:ea typeface="Calibri (MS)"/>
                  <a:cs typeface="Calibri (MS)"/>
                  <a:sym typeface="Calibri (MS)"/>
                </a:rPr>
                <a:t>Suivi (MLflow)</a:t>
              </a:r>
            </a:p>
            <a:p>
              <a:pPr algn="l">
                <a:lnSpc>
                  <a:spcPts val="2070"/>
                </a:lnSpc>
              </a:pPr>
              <a:r>
                <a:rPr lang="en-US" sz="1725">
                  <a:solidFill>
                    <a:srgbClr val="6B707A"/>
                  </a:solidFill>
                  <a:latin typeface="Calibri (MS)"/>
                  <a:ea typeface="Calibri (MS)"/>
                  <a:cs typeface="Calibri (MS)"/>
                  <a:sym typeface="Calibri (MS)"/>
                </a:rPr>
                <a:t>→ MLflow, identique au cours</a:t>
              </a:r>
            </a:p>
            <a:p>
              <a:pPr algn="l">
                <a:lnSpc>
                  <a:spcPts val="2070"/>
                </a:lnSpc>
              </a:pPr>
            </a:p>
            <a:p>
              <a:pPr algn="l">
                <a:lnSpc>
                  <a:spcPts val="2070"/>
                </a:lnSpc>
              </a:pPr>
              <a:r>
                <a:rPr lang="en-US" sz="1725">
                  <a:solidFill>
                    <a:srgbClr val="6B707A"/>
                  </a:solidFill>
                  <a:latin typeface="Calibri (MS)"/>
                  <a:ea typeface="Calibri (MS)"/>
                  <a:cs typeface="Calibri (MS)"/>
                  <a:sym typeface="Calibri (MS)"/>
                </a:rPr>
                <a:t>Évaluation</a:t>
              </a:r>
            </a:p>
            <a:p>
              <a:pPr algn="l">
                <a:lnSpc>
                  <a:spcPts val="2070"/>
                </a:lnSpc>
              </a:pPr>
              <a:r>
                <a:rPr lang="en-US" sz="1725">
                  <a:solidFill>
                    <a:srgbClr val="6B707A"/>
                  </a:solidFill>
                  <a:latin typeface="Calibri (MS)"/>
                  <a:ea typeface="Calibri (MS)"/>
                  <a:cs typeface="Calibri (MS)"/>
                  <a:sym typeface="Calibri (MS)"/>
                </a:rPr>
                <a:t>→ 8 questions de test suivies dans MLflow</a:t>
              </a:r>
            </a:p>
            <a:p>
              <a:pPr algn="l">
                <a:lnSpc>
                  <a:spcPts val="2070"/>
                </a:lnSpc>
              </a:pPr>
            </a:p>
            <a:p>
              <a:pPr algn="l">
                <a:lnSpc>
                  <a:spcPts val="2070"/>
                </a:lnSpc>
              </a:pPr>
              <a:r>
                <a:rPr lang="en-US" sz="1725">
                  <a:solidFill>
                    <a:srgbClr val="6B707A"/>
                  </a:solidFill>
                  <a:latin typeface="Calibri (MS)"/>
                  <a:ea typeface="Calibri (MS)"/>
                  <a:cs typeface="Calibri (MS)"/>
                  <a:sym typeface="Calibri (MS)"/>
                </a:rPr>
                <a:t>Jihad, Hafsa</a:t>
              </a:r>
            </a:p>
            <a:p>
              <a:pPr algn="l">
                <a:lnSpc>
                  <a:spcPts val="2070"/>
                </a:lnSpc>
              </a:pPr>
              <a:r>
                <a:rPr lang="en-US" sz="1725" b="true">
                  <a:solidFill>
                    <a:srgbClr val="3F3DB0"/>
                  </a:solidFill>
                  <a:latin typeface="Calibri (MS) Bold"/>
                  <a:ea typeface="Calibri (MS) Bold"/>
                  <a:cs typeface="Calibri (MS) Bold"/>
                  <a:sym typeface="Calibri (MS) Bold"/>
                </a:rPr>
                <a:t>vecteurs 768-d + chaîne RAG</a:t>
              </a:r>
            </a:p>
          </p:txBody>
        </p:sp>
      </p:grpSp>
      <p:sp>
        <p:nvSpPr>
          <p:cNvPr name="TextBox 53" id="53"/>
          <p:cNvSpPr txBox="true"/>
          <p:nvPr/>
        </p:nvSpPr>
        <p:spPr>
          <a:xfrm rot="0">
            <a:off x="13547341" y="4133850"/>
            <a:ext cx="474469" cy="692153"/>
          </a:xfrm>
          <a:prstGeom prst="rect">
            <a:avLst/>
          </a:prstGeom>
        </p:spPr>
        <p:txBody>
          <a:bodyPr anchor="t" rtlCol="false" tIns="0" lIns="0" bIns="0" rIns="0">
            <a:spAutoFit/>
          </a:bodyPr>
          <a:lstStyle/>
          <a:p>
            <a:pPr algn="l">
              <a:lnSpc>
                <a:spcPts val="3240"/>
              </a:lnSpc>
            </a:pPr>
            <a:r>
              <a:rPr lang="en-US" sz="2700" b="true">
                <a:solidFill>
                  <a:srgbClr val="3F3DB0"/>
                </a:solidFill>
                <a:latin typeface="Calibri (MS) Bold"/>
                <a:ea typeface="Calibri (MS) Bold"/>
                <a:cs typeface="Calibri (MS) Bold"/>
                <a:sym typeface="Calibri (MS) Bold"/>
              </a:rPr>
              <a:t>▶</a:t>
            </a:r>
          </a:p>
        </p:txBody>
      </p:sp>
      <p:grpSp>
        <p:nvGrpSpPr>
          <p:cNvPr name="Group 54" id="54"/>
          <p:cNvGrpSpPr/>
          <p:nvPr/>
        </p:nvGrpSpPr>
        <p:grpSpPr>
          <a:xfrm rot="0">
            <a:off x="14026134" y="2518410"/>
            <a:ext cx="3947160" cy="4095750"/>
            <a:chOff x="0" y="0"/>
            <a:chExt cx="5262880" cy="5461000"/>
          </a:xfrm>
        </p:grpSpPr>
        <p:sp>
          <p:nvSpPr>
            <p:cNvPr name="Freeform 55" id="55"/>
            <p:cNvSpPr/>
            <p:nvPr/>
          </p:nvSpPr>
          <p:spPr>
            <a:xfrm flipH="false" flipV="false" rot="0">
              <a:off x="0" y="0"/>
              <a:ext cx="5262880" cy="5461000"/>
            </a:xfrm>
            <a:custGeom>
              <a:avLst/>
              <a:gdLst/>
              <a:ahLst/>
              <a:cxnLst/>
              <a:rect r="r" b="b" t="t" l="l"/>
              <a:pathLst>
                <a:path h="5461000" w="5262880">
                  <a:moveTo>
                    <a:pt x="0" y="0"/>
                  </a:moveTo>
                  <a:lnTo>
                    <a:pt x="5262880" y="0"/>
                  </a:lnTo>
                  <a:lnTo>
                    <a:pt x="5262880" y="5461000"/>
                  </a:lnTo>
                  <a:lnTo>
                    <a:pt x="0" y="5461000"/>
                  </a:lnTo>
                  <a:close/>
                </a:path>
              </a:pathLst>
            </a:custGeom>
            <a:solidFill>
              <a:srgbClr val="FFFFFF"/>
            </a:solidFill>
            <a:ln w="38100" cap="sq">
              <a:solidFill>
                <a:srgbClr val="7A1F2B"/>
              </a:solidFill>
              <a:prstDash val="solid"/>
              <a:miter/>
            </a:ln>
          </p:spPr>
        </p:sp>
      </p:grpSp>
      <p:grpSp>
        <p:nvGrpSpPr>
          <p:cNvPr name="Group 56" id="56"/>
          <p:cNvGrpSpPr/>
          <p:nvPr/>
        </p:nvGrpSpPr>
        <p:grpSpPr>
          <a:xfrm rot="0">
            <a:off x="14045184" y="2537460"/>
            <a:ext cx="3909060" cy="495300"/>
            <a:chOff x="0" y="0"/>
            <a:chExt cx="5212080" cy="660400"/>
          </a:xfrm>
        </p:grpSpPr>
        <p:sp>
          <p:nvSpPr>
            <p:cNvPr name="Freeform 57" id="57"/>
            <p:cNvSpPr/>
            <p:nvPr/>
          </p:nvSpPr>
          <p:spPr>
            <a:xfrm flipH="false" flipV="false" rot="0">
              <a:off x="0" y="0"/>
              <a:ext cx="5212080" cy="660400"/>
            </a:xfrm>
            <a:custGeom>
              <a:avLst/>
              <a:gdLst/>
              <a:ahLst/>
              <a:cxnLst/>
              <a:rect r="r" b="b" t="t" l="l"/>
              <a:pathLst>
                <a:path h="660400" w="5212080">
                  <a:moveTo>
                    <a:pt x="0" y="0"/>
                  </a:moveTo>
                  <a:lnTo>
                    <a:pt x="5212080" y="0"/>
                  </a:lnTo>
                  <a:lnTo>
                    <a:pt x="5212080" y="660400"/>
                  </a:lnTo>
                  <a:lnTo>
                    <a:pt x="0" y="660400"/>
                  </a:lnTo>
                  <a:close/>
                </a:path>
              </a:pathLst>
            </a:custGeom>
            <a:solidFill>
              <a:srgbClr val="7A1F2B"/>
            </a:solidFill>
          </p:spPr>
        </p:sp>
      </p:grpSp>
      <p:sp>
        <p:nvSpPr>
          <p:cNvPr name="TextBox 58" id="58"/>
          <p:cNvSpPr txBox="true"/>
          <p:nvPr/>
        </p:nvSpPr>
        <p:spPr>
          <a:xfrm rot="0">
            <a:off x="14260573" y="2538479"/>
            <a:ext cx="3533137" cy="444503"/>
          </a:xfrm>
          <a:prstGeom prst="rect">
            <a:avLst/>
          </a:prstGeom>
        </p:spPr>
        <p:txBody>
          <a:bodyPr anchor="t" rtlCol="false" tIns="0" lIns="0" bIns="0" rIns="0">
            <a:spAutoFit/>
          </a:bodyPr>
          <a:lstStyle/>
          <a:p>
            <a:pPr algn="l">
              <a:lnSpc>
                <a:spcPts val="2160"/>
              </a:lnSpc>
            </a:pPr>
            <a:r>
              <a:rPr lang="en-US" sz="1800" b="true">
                <a:solidFill>
                  <a:srgbClr val="FFFFFF"/>
                </a:solidFill>
                <a:latin typeface="Calibri (MS) Bold"/>
                <a:ea typeface="Calibri (MS) Bold"/>
                <a:cs typeface="Calibri (MS) Bold"/>
                <a:sym typeface="Calibri (MS) Bold"/>
              </a:rPr>
              <a:t>S4 · Industrialisation</a:t>
            </a:r>
          </a:p>
        </p:txBody>
      </p:sp>
      <p:grpSp>
        <p:nvGrpSpPr>
          <p:cNvPr name="Group 59" id="59"/>
          <p:cNvGrpSpPr/>
          <p:nvPr/>
        </p:nvGrpSpPr>
        <p:grpSpPr>
          <a:xfrm rot="0">
            <a:off x="14237208" y="3113532"/>
            <a:ext cx="3525012" cy="3333750"/>
            <a:chOff x="0" y="0"/>
            <a:chExt cx="4700016" cy="4445000"/>
          </a:xfrm>
        </p:grpSpPr>
        <p:sp>
          <p:nvSpPr>
            <p:cNvPr name="Freeform 60" id="60"/>
            <p:cNvSpPr/>
            <p:nvPr/>
          </p:nvSpPr>
          <p:spPr>
            <a:xfrm flipH="false" flipV="false" rot="0">
              <a:off x="0" y="0"/>
              <a:ext cx="4700016" cy="4445000"/>
            </a:xfrm>
            <a:custGeom>
              <a:avLst/>
              <a:gdLst/>
              <a:ahLst/>
              <a:cxnLst/>
              <a:rect r="r" b="b" t="t" l="l"/>
              <a:pathLst>
                <a:path h="4445000" w="4700016">
                  <a:moveTo>
                    <a:pt x="0" y="0"/>
                  </a:moveTo>
                  <a:lnTo>
                    <a:pt x="4700016" y="0"/>
                  </a:lnTo>
                  <a:lnTo>
                    <a:pt x="4700016" y="4445000"/>
                  </a:lnTo>
                  <a:lnTo>
                    <a:pt x="0" y="4445000"/>
                  </a:lnTo>
                  <a:close/>
                </a:path>
              </a:pathLst>
            </a:custGeom>
            <a:blipFill>
              <a:blip r:embed="rId3">
                <a:alphaModFix amt="0"/>
              </a:blip>
              <a:stretch>
                <a:fillRect l="-12404" t="0" r="-12404" b="48571"/>
              </a:stretch>
            </a:blipFill>
          </p:spPr>
        </p:sp>
        <p:sp>
          <p:nvSpPr>
            <p:cNvPr name="TextBox 61" id="61"/>
            <p:cNvSpPr txBox="true"/>
            <p:nvPr/>
          </p:nvSpPr>
          <p:spPr>
            <a:xfrm>
              <a:off x="0" y="-38100"/>
              <a:ext cx="4700016" cy="4483100"/>
            </a:xfrm>
            <a:prstGeom prst="rect">
              <a:avLst/>
            </a:prstGeom>
          </p:spPr>
          <p:txBody>
            <a:bodyPr anchor="ctr" rtlCol="false" tIns="0" lIns="0" bIns="0" rIns="0"/>
            <a:lstStyle/>
            <a:p>
              <a:pPr algn="l">
                <a:lnSpc>
                  <a:spcPts val="2070"/>
                </a:lnSpc>
              </a:pPr>
              <a:r>
                <a:rPr lang="en-US" sz="1725">
                  <a:solidFill>
                    <a:srgbClr val="6B707A"/>
                  </a:solidFill>
                  <a:latin typeface="Calibri (MS)"/>
                  <a:ea typeface="Calibri (MS)"/>
                  <a:cs typeface="Calibri (MS)"/>
                  <a:sym typeface="Calibri (MS)"/>
                </a:rPr>
                <a:t>Service (FastAPI), Docker</a:t>
              </a:r>
            </a:p>
            <a:p>
              <a:pPr algn="l">
                <a:lnSpc>
                  <a:spcPts val="2070"/>
                </a:lnSpc>
              </a:pPr>
              <a:r>
                <a:rPr lang="en-US" sz="1725">
                  <a:solidFill>
                    <a:srgbClr val="6B707A"/>
                  </a:solidFill>
                  <a:latin typeface="Calibri (MS)"/>
                  <a:ea typeface="Calibri (MS)"/>
                  <a:cs typeface="Calibri (MS)"/>
                  <a:sym typeface="Calibri (MS)"/>
                </a:rPr>
                <a:t>→ identiques au cours</a:t>
              </a:r>
            </a:p>
            <a:p>
              <a:pPr algn="l">
                <a:lnSpc>
                  <a:spcPts val="2070"/>
                </a:lnSpc>
              </a:pPr>
            </a:p>
            <a:p>
              <a:pPr algn="l">
                <a:lnSpc>
                  <a:spcPts val="2070"/>
                </a:lnSpc>
              </a:pPr>
              <a:r>
                <a:rPr lang="en-US" sz="1725">
                  <a:solidFill>
                    <a:srgbClr val="6B707A"/>
                  </a:solidFill>
                  <a:latin typeface="Calibri (MS)"/>
                  <a:ea typeface="Calibri (MS)"/>
                  <a:cs typeface="Calibri (MS)"/>
                  <a:sym typeface="Calibri (MS)"/>
                </a:rPr>
                <a:t>CI/CD et déploiement</a:t>
              </a:r>
            </a:p>
            <a:p>
              <a:pPr algn="l">
                <a:lnSpc>
                  <a:spcPts val="2070"/>
                </a:lnSpc>
              </a:pPr>
              <a:r>
                <a:rPr lang="en-US" sz="1725">
                  <a:solidFill>
                    <a:srgbClr val="6B707A"/>
                  </a:solidFill>
                  <a:latin typeface="Calibri (MS)"/>
                  <a:ea typeface="Calibri (MS)"/>
                  <a:cs typeface="Calibri (MS)"/>
                  <a:sym typeface="Calibri (MS)"/>
                </a:rPr>
                <a:t>→ GitHub Actions, Komodo</a:t>
              </a:r>
            </a:p>
            <a:p>
              <a:pPr algn="l">
                <a:lnSpc>
                  <a:spcPts val="2070"/>
                </a:lnSpc>
              </a:pPr>
            </a:p>
            <a:p>
              <a:pPr algn="l">
                <a:lnSpc>
                  <a:spcPts val="2070"/>
                </a:lnSpc>
              </a:pPr>
              <a:r>
                <a:rPr lang="en-US" sz="1725">
                  <a:solidFill>
                    <a:srgbClr val="6B707A"/>
                  </a:solidFill>
                  <a:latin typeface="Calibri (MS)"/>
                  <a:ea typeface="Calibri (MS)"/>
                  <a:cs typeface="Calibri (MS)"/>
                  <a:sym typeface="Calibri (MS)"/>
                </a:rPr>
                <a:t>Monitoring</a:t>
              </a:r>
            </a:p>
            <a:p>
              <a:pPr algn="l">
                <a:lnSpc>
                  <a:spcPts val="2070"/>
                </a:lnSpc>
              </a:pPr>
              <a:r>
                <a:rPr lang="en-US" sz="1725">
                  <a:solidFill>
                    <a:srgbClr val="6B707A"/>
                  </a:solidFill>
                  <a:latin typeface="Calibri (MS)"/>
                  <a:ea typeface="Calibri (MS)"/>
                  <a:cs typeface="Calibri (MS)"/>
                  <a:sym typeface="Calibri (MS)"/>
                </a:rPr>
                <a:t>→ Prometheus + Grafana</a:t>
              </a:r>
            </a:p>
            <a:p>
              <a:pPr algn="l">
                <a:lnSpc>
                  <a:spcPts val="2070"/>
                </a:lnSpc>
              </a:pPr>
            </a:p>
            <a:p>
              <a:pPr algn="l">
                <a:lnSpc>
                  <a:spcPts val="2070"/>
                </a:lnSpc>
              </a:pPr>
              <a:r>
                <a:rPr lang="en-US" sz="1725">
                  <a:solidFill>
                    <a:srgbClr val="6B707A"/>
                  </a:solidFill>
                  <a:latin typeface="Calibri (MS)"/>
                  <a:ea typeface="Calibri (MS)"/>
                  <a:cs typeface="Calibri (MS)"/>
                  <a:sym typeface="Calibri (MS)"/>
                </a:rPr>
                <a:t>Brahim, Amina</a:t>
              </a:r>
            </a:p>
            <a:p>
              <a:pPr algn="l">
                <a:lnSpc>
                  <a:spcPts val="2070"/>
                </a:lnSpc>
              </a:pPr>
              <a:r>
                <a:rPr lang="en-US" sz="1725" b="true">
                  <a:solidFill>
                    <a:srgbClr val="7A1F2B"/>
                  </a:solidFill>
                  <a:latin typeface="Calibri (MS) Bold"/>
                  <a:ea typeface="Calibri (MS) Bold"/>
                  <a:cs typeface="Calibri (MS) Bold"/>
                  <a:sym typeface="Calibri (MS) Bold"/>
                </a:rPr>
                <a:t>service déployé</a:t>
              </a:r>
            </a:p>
          </p:txBody>
        </p:sp>
      </p:grpSp>
      <p:grpSp>
        <p:nvGrpSpPr>
          <p:cNvPr name="Group 62" id="62"/>
          <p:cNvGrpSpPr/>
          <p:nvPr/>
        </p:nvGrpSpPr>
        <p:grpSpPr>
          <a:xfrm rot="0">
            <a:off x="754380" y="6953250"/>
            <a:ext cx="3909060" cy="1238250"/>
            <a:chOff x="0" y="0"/>
            <a:chExt cx="5212080" cy="1651000"/>
          </a:xfrm>
        </p:grpSpPr>
        <p:sp>
          <p:nvSpPr>
            <p:cNvPr name="Freeform 63" id="63"/>
            <p:cNvSpPr/>
            <p:nvPr/>
          </p:nvSpPr>
          <p:spPr>
            <a:xfrm flipH="false" flipV="false" rot="0">
              <a:off x="0" y="0"/>
              <a:ext cx="5212080" cy="1651000"/>
            </a:xfrm>
            <a:custGeom>
              <a:avLst/>
              <a:gdLst/>
              <a:ahLst/>
              <a:cxnLst/>
              <a:rect r="r" b="b" t="t" l="l"/>
              <a:pathLst>
                <a:path h="1651000" w="5212080">
                  <a:moveTo>
                    <a:pt x="0" y="0"/>
                  </a:moveTo>
                  <a:lnTo>
                    <a:pt x="5212080" y="0"/>
                  </a:lnTo>
                  <a:lnTo>
                    <a:pt x="5212080" y="1651000"/>
                  </a:lnTo>
                  <a:lnTo>
                    <a:pt x="0" y="1651000"/>
                  </a:lnTo>
                  <a:close/>
                </a:path>
              </a:pathLst>
            </a:custGeom>
            <a:solidFill>
              <a:srgbClr val="F2F3F5"/>
            </a:solidFill>
          </p:spPr>
        </p:sp>
        <p:sp>
          <p:nvSpPr>
            <p:cNvPr name="TextBox 64" id="64"/>
            <p:cNvSpPr txBox="true"/>
            <p:nvPr/>
          </p:nvSpPr>
          <p:spPr>
            <a:xfrm>
              <a:off x="0" y="-66675"/>
              <a:ext cx="5212080" cy="1717675"/>
            </a:xfrm>
            <a:prstGeom prst="rect">
              <a:avLst/>
            </a:prstGeom>
          </p:spPr>
          <p:txBody>
            <a:bodyPr anchor="ctr" rtlCol="false" tIns="50800" lIns="50800" bIns="50800" rIns="50800"/>
            <a:lstStyle/>
            <a:p>
              <a:pPr algn="ctr">
                <a:lnSpc>
                  <a:spcPts val="4320"/>
                </a:lnSpc>
              </a:pPr>
              <a:r>
                <a:rPr lang="en-US" sz="3600" b="true">
                  <a:solidFill>
                    <a:srgbClr val="0F766E"/>
                  </a:solidFill>
                  <a:latin typeface="Calibri (MS) Bold"/>
                  <a:ea typeface="Calibri (MS) Bold"/>
                  <a:cs typeface="Calibri (MS) Bold"/>
                  <a:sym typeface="Calibri (MS) Bold"/>
                </a:rPr>
                <a:t>700</a:t>
              </a:r>
            </a:p>
            <a:p>
              <a:pPr algn="ctr">
                <a:lnSpc>
                  <a:spcPts val="1800"/>
                </a:lnSpc>
              </a:pPr>
              <a:r>
                <a:rPr lang="en-US" sz="1500">
                  <a:solidFill>
                    <a:srgbClr val="6B707A"/>
                  </a:solidFill>
                  <a:latin typeface="Calibri (MS)"/>
                  <a:ea typeface="Calibri (MS)"/>
                  <a:cs typeface="Calibri (MS)"/>
                  <a:sym typeface="Calibri (MS)"/>
                </a:rPr>
                <a:t>articles ingérés</a:t>
              </a:r>
            </a:p>
          </p:txBody>
        </p:sp>
      </p:grpSp>
      <p:grpSp>
        <p:nvGrpSpPr>
          <p:cNvPr name="Group 65" id="65"/>
          <p:cNvGrpSpPr/>
          <p:nvPr/>
        </p:nvGrpSpPr>
        <p:grpSpPr>
          <a:xfrm rot="0">
            <a:off x="5184648" y="6953250"/>
            <a:ext cx="3909060" cy="1238250"/>
            <a:chOff x="0" y="0"/>
            <a:chExt cx="5212080" cy="1651000"/>
          </a:xfrm>
        </p:grpSpPr>
        <p:sp>
          <p:nvSpPr>
            <p:cNvPr name="Freeform 66" id="66"/>
            <p:cNvSpPr/>
            <p:nvPr/>
          </p:nvSpPr>
          <p:spPr>
            <a:xfrm flipH="false" flipV="false" rot="0">
              <a:off x="0" y="0"/>
              <a:ext cx="5212080" cy="1651000"/>
            </a:xfrm>
            <a:custGeom>
              <a:avLst/>
              <a:gdLst/>
              <a:ahLst/>
              <a:cxnLst/>
              <a:rect r="r" b="b" t="t" l="l"/>
              <a:pathLst>
                <a:path h="1651000" w="5212080">
                  <a:moveTo>
                    <a:pt x="0" y="0"/>
                  </a:moveTo>
                  <a:lnTo>
                    <a:pt x="5212080" y="0"/>
                  </a:lnTo>
                  <a:lnTo>
                    <a:pt x="5212080" y="1651000"/>
                  </a:lnTo>
                  <a:lnTo>
                    <a:pt x="0" y="1651000"/>
                  </a:lnTo>
                  <a:close/>
                </a:path>
              </a:pathLst>
            </a:custGeom>
            <a:solidFill>
              <a:srgbClr val="F2F3F5"/>
            </a:solidFill>
          </p:spPr>
        </p:sp>
        <p:sp>
          <p:nvSpPr>
            <p:cNvPr name="TextBox 67" id="67"/>
            <p:cNvSpPr txBox="true"/>
            <p:nvPr/>
          </p:nvSpPr>
          <p:spPr>
            <a:xfrm>
              <a:off x="0" y="-66675"/>
              <a:ext cx="5212080" cy="1717675"/>
            </a:xfrm>
            <a:prstGeom prst="rect">
              <a:avLst/>
            </a:prstGeom>
          </p:spPr>
          <p:txBody>
            <a:bodyPr anchor="ctr" rtlCol="false" tIns="50800" lIns="50800" bIns="50800" rIns="50800"/>
            <a:lstStyle/>
            <a:p>
              <a:pPr algn="ctr">
                <a:lnSpc>
                  <a:spcPts val="4320"/>
                </a:lnSpc>
              </a:pPr>
              <a:r>
                <a:rPr lang="en-US" sz="3600" b="true">
                  <a:solidFill>
                    <a:srgbClr val="B8860B"/>
                  </a:solidFill>
                  <a:latin typeface="Calibri (MS) Bold"/>
                  <a:ea typeface="Calibri (MS) Bold"/>
                  <a:cs typeface="Calibri (MS) Bold"/>
                  <a:sym typeface="Calibri (MS) Bold"/>
                </a:rPr>
                <a:t>32 146</a:t>
              </a:r>
            </a:p>
            <a:p>
              <a:pPr algn="ctr">
                <a:lnSpc>
                  <a:spcPts val="1800"/>
                </a:lnSpc>
              </a:pPr>
              <a:r>
                <a:rPr lang="en-US" sz="1500">
                  <a:solidFill>
                    <a:srgbClr val="6B707A"/>
                  </a:solidFill>
                  <a:latin typeface="Calibri (MS)"/>
                  <a:ea typeface="Calibri (MS)"/>
                  <a:cs typeface="Calibri (MS)"/>
                  <a:sym typeface="Calibri (MS)"/>
                </a:rPr>
                <a:t>chunks validés (8/8 tests)</a:t>
              </a:r>
            </a:p>
          </p:txBody>
        </p:sp>
      </p:grpSp>
      <p:grpSp>
        <p:nvGrpSpPr>
          <p:cNvPr name="Group 68" id="68"/>
          <p:cNvGrpSpPr/>
          <p:nvPr/>
        </p:nvGrpSpPr>
        <p:grpSpPr>
          <a:xfrm rot="0">
            <a:off x="9614916" y="6953250"/>
            <a:ext cx="3909060" cy="1238250"/>
            <a:chOff x="0" y="0"/>
            <a:chExt cx="5212080" cy="1651000"/>
          </a:xfrm>
        </p:grpSpPr>
        <p:sp>
          <p:nvSpPr>
            <p:cNvPr name="Freeform 69" id="69"/>
            <p:cNvSpPr/>
            <p:nvPr/>
          </p:nvSpPr>
          <p:spPr>
            <a:xfrm flipH="false" flipV="false" rot="0">
              <a:off x="0" y="0"/>
              <a:ext cx="5212080" cy="1651000"/>
            </a:xfrm>
            <a:custGeom>
              <a:avLst/>
              <a:gdLst/>
              <a:ahLst/>
              <a:cxnLst/>
              <a:rect r="r" b="b" t="t" l="l"/>
              <a:pathLst>
                <a:path h="1651000" w="5212080">
                  <a:moveTo>
                    <a:pt x="0" y="0"/>
                  </a:moveTo>
                  <a:lnTo>
                    <a:pt x="5212080" y="0"/>
                  </a:lnTo>
                  <a:lnTo>
                    <a:pt x="5212080" y="1651000"/>
                  </a:lnTo>
                  <a:lnTo>
                    <a:pt x="0" y="1651000"/>
                  </a:lnTo>
                  <a:close/>
                </a:path>
              </a:pathLst>
            </a:custGeom>
            <a:solidFill>
              <a:srgbClr val="F2F3F5"/>
            </a:solidFill>
          </p:spPr>
        </p:sp>
        <p:sp>
          <p:nvSpPr>
            <p:cNvPr name="TextBox 70" id="70"/>
            <p:cNvSpPr txBox="true"/>
            <p:nvPr/>
          </p:nvSpPr>
          <p:spPr>
            <a:xfrm>
              <a:off x="0" y="-66675"/>
              <a:ext cx="5212080" cy="1717675"/>
            </a:xfrm>
            <a:prstGeom prst="rect">
              <a:avLst/>
            </a:prstGeom>
          </p:spPr>
          <p:txBody>
            <a:bodyPr anchor="ctr" rtlCol="false" tIns="50800" lIns="50800" bIns="50800" rIns="50800"/>
            <a:lstStyle/>
            <a:p>
              <a:pPr algn="ctr">
                <a:lnSpc>
                  <a:spcPts val="4320"/>
                </a:lnSpc>
              </a:pPr>
              <a:r>
                <a:rPr lang="en-US" sz="3600" b="true">
                  <a:solidFill>
                    <a:srgbClr val="3F3DB0"/>
                  </a:solidFill>
                  <a:latin typeface="Calibri (MS) Bold"/>
                  <a:ea typeface="Calibri (MS) Bold"/>
                  <a:cs typeface="Calibri (MS) Bold"/>
                  <a:sym typeface="Calibri (MS) Bold"/>
                </a:rPr>
                <a:t>768</a:t>
              </a:r>
            </a:p>
            <a:p>
              <a:pPr algn="ctr">
                <a:lnSpc>
                  <a:spcPts val="1800"/>
                </a:lnSpc>
              </a:pPr>
              <a:r>
                <a:rPr lang="en-US" sz="1500">
                  <a:solidFill>
                    <a:srgbClr val="6B707A"/>
                  </a:solidFill>
                  <a:latin typeface="Calibri (MS)"/>
                  <a:ea typeface="Calibri (MS)"/>
                  <a:cs typeface="Calibri (MS)"/>
                  <a:sym typeface="Calibri (MS)"/>
                </a:rPr>
                <a:t>dimensions BGE · 338 Mo</a:t>
              </a:r>
            </a:p>
          </p:txBody>
        </p:sp>
      </p:grpSp>
      <p:grpSp>
        <p:nvGrpSpPr>
          <p:cNvPr name="Group 71" id="71"/>
          <p:cNvGrpSpPr/>
          <p:nvPr/>
        </p:nvGrpSpPr>
        <p:grpSpPr>
          <a:xfrm rot="0">
            <a:off x="14045184" y="6953250"/>
            <a:ext cx="3909060" cy="1238250"/>
            <a:chOff x="0" y="0"/>
            <a:chExt cx="5212080" cy="1651000"/>
          </a:xfrm>
        </p:grpSpPr>
        <p:sp>
          <p:nvSpPr>
            <p:cNvPr name="Freeform 72" id="72"/>
            <p:cNvSpPr/>
            <p:nvPr/>
          </p:nvSpPr>
          <p:spPr>
            <a:xfrm flipH="false" flipV="false" rot="0">
              <a:off x="0" y="0"/>
              <a:ext cx="5212080" cy="1651000"/>
            </a:xfrm>
            <a:custGeom>
              <a:avLst/>
              <a:gdLst/>
              <a:ahLst/>
              <a:cxnLst/>
              <a:rect r="r" b="b" t="t" l="l"/>
              <a:pathLst>
                <a:path h="1651000" w="5212080">
                  <a:moveTo>
                    <a:pt x="0" y="0"/>
                  </a:moveTo>
                  <a:lnTo>
                    <a:pt x="5212080" y="0"/>
                  </a:lnTo>
                  <a:lnTo>
                    <a:pt x="5212080" y="1651000"/>
                  </a:lnTo>
                  <a:lnTo>
                    <a:pt x="0" y="1651000"/>
                  </a:lnTo>
                  <a:close/>
                </a:path>
              </a:pathLst>
            </a:custGeom>
            <a:solidFill>
              <a:srgbClr val="F2F3F5"/>
            </a:solidFill>
          </p:spPr>
        </p:sp>
        <p:sp>
          <p:nvSpPr>
            <p:cNvPr name="TextBox 73" id="73"/>
            <p:cNvSpPr txBox="true"/>
            <p:nvPr/>
          </p:nvSpPr>
          <p:spPr>
            <a:xfrm>
              <a:off x="0" y="-66675"/>
              <a:ext cx="5212080" cy="1717675"/>
            </a:xfrm>
            <a:prstGeom prst="rect">
              <a:avLst/>
            </a:prstGeom>
          </p:spPr>
          <p:txBody>
            <a:bodyPr anchor="ctr" rtlCol="false" tIns="50800" lIns="50800" bIns="50800" rIns="50800"/>
            <a:lstStyle/>
            <a:p>
              <a:pPr algn="ctr">
                <a:lnSpc>
                  <a:spcPts val="4320"/>
                </a:lnSpc>
              </a:pPr>
              <a:r>
                <a:rPr lang="en-US" sz="3600" b="true">
                  <a:solidFill>
                    <a:srgbClr val="7A1F2B"/>
                  </a:solidFill>
                  <a:latin typeface="Calibri (MS) Bold"/>
                  <a:ea typeface="Calibri (MS) Bold"/>
                  <a:cs typeface="Calibri (MS) Bold"/>
                  <a:sym typeface="Calibri (MS) Bold"/>
                </a:rPr>
                <a:t>1</a:t>
              </a:r>
            </a:p>
            <a:p>
              <a:pPr algn="ctr">
                <a:lnSpc>
                  <a:spcPts val="1800"/>
                </a:lnSpc>
              </a:pPr>
              <a:r>
                <a:rPr lang="en-US" sz="1500">
                  <a:solidFill>
                    <a:srgbClr val="6B707A"/>
                  </a:solidFill>
                  <a:latin typeface="Calibri (MS)"/>
                  <a:ea typeface="Calibri (MS)"/>
                  <a:cs typeface="Calibri (MS)"/>
                  <a:sym typeface="Calibri (MS)"/>
                </a:rPr>
                <a:t>réponse sourcée par requête</a:t>
              </a:r>
            </a:p>
          </p:txBody>
        </p:sp>
      </p:grpSp>
      <p:sp>
        <p:nvSpPr>
          <p:cNvPr name="TextBox 74" id="74"/>
          <p:cNvSpPr txBox="true"/>
          <p:nvPr/>
        </p:nvSpPr>
        <p:spPr>
          <a:xfrm rot="0">
            <a:off x="805177" y="8439150"/>
            <a:ext cx="16631917" cy="323850"/>
          </a:xfrm>
          <a:prstGeom prst="rect">
            <a:avLst/>
          </a:prstGeom>
        </p:spPr>
        <p:txBody>
          <a:bodyPr anchor="t" rtlCol="false" tIns="0" lIns="0" bIns="0" rIns="0">
            <a:spAutoFit/>
          </a:bodyPr>
          <a:lstStyle/>
          <a:p>
            <a:pPr algn="l">
              <a:lnSpc>
                <a:spcPts val="2250"/>
              </a:lnSpc>
            </a:pPr>
            <a:r>
              <a:rPr lang="en-US" sz="1875">
                <a:solidFill>
                  <a:srgbClr val="262A33"/>
                </a:solidFill>
                <a:latin typeface="Calibri (MS)"/>
                <a:ea typeface="Calibri (MS)"/>
                <a:cs typeface="Calibri (MS)"/>
                <a:sym typeface="Calibri (MS)"/>
              </a:rPr>
              <a:t>Chaque étape du pipeline du cours a son équivalent dans notre chaîne, et chaque étape consomme le livrable de la précédente. </a:t>
            </a:r>
            <a:r>
              <a:rPr lang="en-US" sz="1875" b="true">
                <a:solidFill>
                  <a:srgbClr val="1F3A5F"/>
                </a:solidFill>
                <a:latin typeface="Calibri (MS) Bold"/>
                <a:ea typeface="Calibri (MS) Bold"/>
                <a:cs typeface="Calibri (MS) Bold"/>
                <a:sym typeface="Calibri (MS) Bold"/>
              </a:rPr>
              <a:t>Huit rôles, quatre sprints, un seul pipeline.</a:t>
            </a:r>
          </a:p>
        </p:txBody>
      </p:sp>
      <p:sp>
        <p:nvSpPr>
          <p:cNvPr name="TextBox 75" id="7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FFFFFF"/>
            </a:solidFill>
          </p:spPr>
        </p:sp>
      </p:grpSp>
      <p:grpSp>
        <p:nvGrpSpPr>
          <p:cNvPr name="Group 4" id="4"/>
          <p:cNvGrpSpPr/>
          <p:nvPr/>
        </p:nvGrpSpPr>
        <p:grpSpPr>
          <a:xfrm rot="0">
            <a:off x="0" y="0"/>
            <a:ext cx="18287543" cy="114300"/>
            <a:chOff x="0" y="0"/>
            <a:chExt cx="24383390" cy="152400"/>
          </a:xfrm>
        </p:grpSpPr>
        <p:sp>
          <p:nvSpPr>
            <p:cNvPr name="Freeform 5" id="5"/>
            <p:cNvSpPr/>
            <p:nvPr/>
          </p:nvSpPr>
          <p:spPr>
            <a:xfrm flipH="false" flipV="false" rot="0">
              <a:off x="0" y="0"/>
              <a:ext cx="24383364" cy="152400"/>
            </a:xfrm>
            <a:custGeom>
              <a:avLst/>
              <a:gdLst/>
              <a:ahLst/>
              <a:cxnLst/>
              <a:rect r="r" b="b" t="t" l="l"/>
              <a:pathLst>
                <a:path h="152400" w="24383364">
                  <a:moveTo>
                    <a:pt x="0" y="0"/>
                  </a:moveTo>
                  <a:lnTo>
                    <a:pt x="24383364" y="0"/>
                  </a:lnTo>
                  <a:lnTo>
                    <a:pt x="24383364" y="152400"/>
                  </a:lnTo>
                  <a:lnTo>
                    <a:pt x="0" y="152400"/>
                  </a:lnTo>
                  <a:close/>
                </a:path>
              </a:pathLst>
            </a:custGeom>
            <a:solidFill>
              <a:srgbClr val="0F766E"/>
            </a:solidFill>
          </p:spPr>
        </p:sp>
      </p:grpSp>
      <p:sp>
        <p:nvSpPr>
          <p:cNvPr name="TextBox 6" id="6"/>
          <p:cNvSpPr txBox="true"/>
          <p:nvPr/>
        </p:nvSpPr>
        <p:spPr>
          <a:xfrm rot="0">
            <a:off x="805177" y="360683"/>
            <a:ext cx="13065757" cy="1054103"/>
          </a:xfrm>
          <a:prstGeom prst="rect">
            <a:avLst/>
          </a:prstGeom>
        </p:spPr>
        <p:txBody>
          <a:bodyPr anchor="t" rtlCol="false" tIns="0" lIns="0" bIns="0" rIns="0">
            <a:spAutoFit/>
          </a:bodyPr>
          <a:lstStyle/>
          <a:p>
            <a:pPr algn="l">
              <a:lnSpc>
                <a:spcPts val="4680"/>
              </a:lnSpc>
            </a:pPr>
            <a:r>
              <a:rPr lang="en-US" sz="3900" b="true">
                <a:solidFill>
                  <a:srgbClr val="262A33"/>
                </a:solidFill>
                <a:latin typeface="Calibri (MS) Bold"/>
                <a:ea typeface="Calibri (MS) Bold"/>
                <a:cs typeface="Calibri (MS) Bold"/>
                <a:sym typeface="Calibri (MS) Bold"/>
              </a:rPr>
              <a:t>Sprint 1 — Ingestion des données</a:t>
            </a:r>
          </a:p>
        </p:txBody>
      </p:sp>
      <p:sp>
        <p:nvSpPr>
          <p:cNvPr name="TextBox 7" id="7"/>
          <p:cNvSpPr txBox="true"/>
          <p:nvPr/>
        </p:nvSpPr>
        <p:spPr>
          <a:xfrm rot="0">
            <a:off x="846325" y="1331471"/>
            <a:ext cx="13065757" cy="323850"/>
          </a:xfrm>
          <a:prstGeom prst="rect">
            <a:avLst/>
          </a:prstGeom>
        </p:spPr>
        <p:txBody>
          <a:bodyPr anchor="t" rtlCol="false" tIns="0" lIns="0" bIns="0" rIns="0">
            <a:spAutoFit/>
          </a:bodyPr>
          <a:lstStyle/>
          <a:p>
            <a:pPr algn="l">
              <a:lnSpc>
                <a:spcPts val="2250"/>
              </a:lnSpc>
            </a:pPr>
            <a:r>
              <a:rPr lang="en-US" sz="1875" i="true">
                <a:solidFill>
                  <a:srgbClr val="6B707A"/>
                </a:solidFill>
                <a:latin typeface="Calibri (MS) Italics"/>
                <a:ea typeface="Calibri (MS) Italics"/>
                <a:cs typeface="Calibri (MS) Italics"/>
                <a:sym typeface="Calibri (MS) Italics"/>
              </a:rPr>
              <a:t>De PubMed Central à un corpus brut de 700 articles</a:t>
            </a:r>
          </a:p>
        </p:txBody>
      </p:sp>
      <p:grpSp>
        <p:nvGrpSpPr>
          <p:cNvPr name="Group 8" id="8"/>
          <p:cNvGrpSpPr/>
          <p:nvPr/>
        </p:nvGrpSpPr>
        <p:grpSpPr>
          <a:xfrm rot="0">
            <a:off x="14470380" y="493776"/>
            <a:ext cx="3223260" cy="850392"/>
            <a:chOff x="0" y="0"/>
            <a:chExt cx="4297680" cy="1133856"/>
          </a:xfrm>
        </p:grpSpPr>
        <p:sp>
          <p:nvSpPr>
            <p:cNvPr name="Freeform 9" id="9"/>
            <p:cNvSpPr/>
            <p:nvPr/>
          </p:nvSpPr>
          <p:spPr>
            <a:xfrm flipH="false" flipV="false" rot="0">
              <a:off x="0" y="0"/>
              <a:ext cx="4297680" cy="1133856"/>
            </a:xfrm>
            <a:custGeom>
              <a:avLst/>
              <a:gdLst/>
              <a:ahLst/>
              <a:cxnLst/>
              <a:rect r="r" b="b" t="t" l="l"/>
              <a:pathLst>
                <a:path h="1133856" w="4297680">
                  <a:moveTo>
                    <a:pt x="0" y="0"/>
                  </a:moveTo>
                  <a:lnTo>
                    <a:pt x="4297680" y="0"/>
                  </a:lnTo>
                  <a:lnTo>
                    <a:pt x="4297680" y="1133856"/>
                  </a:lnTo>
                  <a:lnTo>
                    <a:pt x="0" y="1133856"/>
                  </a:lnTo>
                  <a:close/>
                </a:path>
              </a:pathLst>
            </a:custGeom>
            <a:solidFill>
              <a:srgbClr val="0F766E"/>
            </a:solidFill>
          </p:spPr>
        </p:sp>
        <p:sp>
          <p:nvSpPr>
            <p:cNvPr name="TextBox 10" id="10"/>
            <p:cNvSpPr txBox="true"/>
            <p:nvPr/>
          </p:nvSpPr>
          <p:spPr>
            <a:xfrm>
              <a:off x="0" y="-47625"/>
              <a:ext cx="4297680" cy="1181481"/>
            </a:xfrm>
            <a:prstGeom prst="rect">
              <a:avLst/>
            </a:prstGeom>
          </p:spPr>
          <p:txBody>
            <a:bodyPr anchor="ctr" rtlCol="false" tIns="50800" lIns="50800" bIns="50800" rIns="50800"/>
            <a:lstStyle/>
            <a:p>
              <a:pPr algn="ctr">
                <a:lnSpc>
                  <a:spcPts val="2340"/>
                </a:lnSpc>
              </a:pPr>
              <a:r>
                <a:rPr lang="en-US" sz="1950" b="true">
                  <a:solidFill>
                    <a:srgbClr val="FFFFFF"/>
                  </a:solidFill>
                  <a:latin typeface="Calibri (MS) Bold"/>
                  <a:ea typeface="Calibri (MS) Bold"/>
                  <a:cs typeface="Calibri (MS) Bold"/>
                  <a:sym typeface="Calibri (MS) Bold"/>
                </a:rPr>
                <a:t>SPRINT 1</a:t>
              </a:r>
            </a:p>
            <a:p>
              <a:pPr algn="ctr">
                <a:lnSpc>
                  <a:spcPts val="1709"/>
                </a:lnSpc>
              </a:pPr>
              <a:r>
                <a:rPr lang="en-US" sz="1425">
                  <a:solidFill>
                    <a:srgbClr val="FFFFFF"/>
                  </a:solidFill>
                  <a:latin typeface="Calibri (MS)"/>
                  <a:ea typeface="Calibri (MS)"/>
                  <a:cs typeface="Calibri (MS)"/>
                  <a:sym typeface="Calibri (MS)"/>
                </a:rPr>
                <a:t>Marouane Daouki</a:t>
              </a:r>
            </a:p>
          </p:txBody>
        </p:sp>
      </p:grpSp>
      <p:grpSp>
        <p:nvGrpSpPr>
          <p:cNvPr name="Group 11" id="11"/>
          <p:cNvGrpSpPr/>
          <p:nvPr/>
        </p:nvGrpSpPr>
        <p:grpSpPr>
          <a:xfrm rot="0">
            <a:off x="0" y="9791700"/>
            <a:ext cx="18287543" cy="495300"/>
            <a:chOff x="0" y="0"/>
            <a:chExt cx="24383390" cy="660400"/>
          </a:xfrm>
        </p:grpSpPr>
        <p:sp>
          <p:nvSpPr>
            <p:cNvPr name="Freeform 12" id="12"/>
            <p:cNvSpPr/>
            <p:nvPr/>
          </p:nvSpPr>
          <p:spPr>
            <a:xfrm flipH="false" flipV="false" rot="0">
              <a:off x="0" y="0"/>
              <a:ext cx="24383364" cy="660400"/>
            </a:xfrm>
            <a:custGeom>
              <a:avLst/>
              <a:gdLst/>
              <a:ahLst/>
              <a:cxnLst/>
              <a:rect r="r" b="b" t="t" l="l"/>
              <a:pathLst>
                <a:path h="660400" w="24383364">
                  <a:moveTo>
                    <a:pt x="0" y="0"/>
                  </a:moveTo>
                  <a:lnTo>
                    <a:pt x="24383364" y="0"/>
                  </a:lnTo>
                  <a:lnTo>
                    <a:pt x="24383364" y="660400"/>
                  </a:lnTo>
                  <a:lnTo>
                    <a:pt x="0" y="660400"/>
                  </a:lnTo>
                  <a:close/>
                </a:path>
              </a:pathLst>
            </a:custGeom>
            <a:solidFill>
              <a:srgbClr val="F2F3F5"/>
            </a:solidFill>
          </p:spPr>
        </p:sp>
      </p:grpSp>
      <p:grpSp>
        <p:nvGrpSpPr>
          <p:cNvPr name="Group 13" id="13"/>
          <p:cNvGrpSpPr/>
          <p:nvPr/>
        </p:nvGrpSpPr>
        <p:grpSpPr>
          <a:xfrm rot="0">
            <a:off x="754380" y="9810750"/>
            <a:ext cx="9601200" cy="381000"/>
            <a:chOff x="0" y="0"/>
            <a:chExt cx="12801600" cy="508000"/>
          </a:xfrm>
        </p:grpSpPr>
        <p:sp>
          <p:nvSpPr>
            <p:cNvPr name="Freeform 14" id="14"/>
            <p:cNvSpPr/>
            <p:nvPr/>
          </p:nvSpPr>
          <p:spPr>
            <a:xfrm flipH="false" flipV="false" rot="0">
              <a:off x="0" y="0"/>
              <a:ext cx="12801600" cy="508000"/>
            </a:xfrm>
            <a:custGeom>
              <a:avLst/>
              <a:gdLst/>
              <a:ahLst/>
              <a:cxnLst/>
              <a:rect r="r" b="b" t="t" l="l"/>
              <a:pathLst>
                <a:path h="508000" w="12801600">
                  <a:moveTo>
                    <a:pt x="0" y="0"/>
                  </a:moveTo>
                  <a:lnTo>
                    <a:pt x="12801600" y="0"/>
                  </a:lnTo>
                  <a:lnTo>
                    <a:pt x="12801600" y="508000"/>
                  </a:lnTo>
                  <a:lnTo>
                    <a:pt x="0" y="508000"/>
                  </a:lnTo>
                  <a:close/>
                </a:path>
              </a:pathLst>
            </a:custGeom>
            <a:blipFill>
              <a:blip r:embed="rId3">
                <a:alphaModFix amt="0"/>
              </a:blip>
              <a:stretch>
                <a:fillRect l="0" t="-441022" r="0" b="-441022"/>
              </a:stretch>
            </a:blipFill>
          </p:spPr>
        </p:sp>
        <p:sp>
          <p:nvSpPr>
            <p:cNvPr name="TextBox 15" id="15"/>
            <p:cNvSpPr txBox="true"/>
            <p:nvPr/>
          </p:nvSpPr>
          <p:spPr>
            <a:xfrm>
              <a:off x="0" y="-28575"/>
              <a:ext cx="12801600" cy="536575"/>
            </a:xfrm>
            <a:prstGeom prst="rect">
              <a:avLst/>
            </a:prstGeom>
          </p:spPr>
          <p:txBody>
            <a:bodyPr anchor="ctr" rtlCol="false" tIns="0" lIns="0" bIns="0" rIns="0"/>
            <a:lstStyle/>
            <a:p>
              <a:pPr algn="l">
                <a:lnSpc>
                  <a:spcPts val="1620"/>
                </a:lnSpc>
              </a:pPr>
              <a:r>
                <a:rPr lang="en-US" sz="1350">
                  <a:solidFill>
                    <a:srgbClr val="6B707A"/>
                  </a:solidFill>
                  <a:latin typeface="Calibri (MS)"/>
                  <a:ea typeface="Calibri (MS)"/>
                  <a:cs typeface="Calibri (MS)"/>
                  <a:sym typeface="Calibri (MS)"/>
                </a:rPr>
                <a:t>PipelineForge — Assistant Scientifique Documentaire (LLMOps)</a:t>
              </a:r>
            </a:p>
          </p:txBody>
        </p:sp>
      </p:grpSp>
      <p:grpSp>
        <p:nvGrpSpPr>
          <p:cNvPr name="Group 16" id="16"/>
          <p:cNvGrpSpPr/>
          <p:nvPr/>
        </p:nvGrpSpPr>
        <p:grpSpPr>
          <a:xfrm rot="0">
            <a:off x="11292383" y="9810750"/>
            <a:ext cx="6309360" cy="381000"/>
            <a:chOff x="0" y="0"/>
            <a:chExt cx="8412480" cy="508000"/>
          </a:xfrm>
        </p:grpSpPr>
        <p:sp>
          <p:nvSpPr>
            <p:cNvPr name="Freeform 17" id="17"/>
            <p:cNvSpPr/>
            <p:nvPr/>
          </p:nvSpPr>
          <p:spPr>
            <a:xfrm flipH="false" flipV="false" rot="0">
              <a:off x="0" y="0"/>
              <a:ext cx="8412480" cy="508000"/>
            </a:xfrm>
            <a:custGeom>
              <a:avLst/>
              <a:gdLst/>
              <a:ahLst/>
              <a:cxnLst/>
              <a:rect r="r" b="b" t="t" l="l"/>
              <a:pathLst>
                <a:path h="508000" w="8412480">
                  <a:moveTo>
                    <a:pt x="0" y="0"/>
                  </a:moveTo>
                  <a:lnTo>
                    <a:pt x="8412480" y="0"/>
                  </a:lnTo>
                  <a:lnTo>
                    <a:pt x="8412480" y="508000"/>
                  </a:lnTo>
                  <a:lnTo>
                    <a:pt x="0" y="508000"/>
                  </a:lnTo>
                  <a:close/>
                </a:path>
              </a:pathLst>
            </a:custGeom>
            <a:blipFill>
              <a:blip r:embed="rId3">
                <a:alphaModFix amt="0"/>
              </a:blip>
              <a:stretch>
                <a:fillRect l="0" t="-272672" r="0" b="-272672"/>
              </a:stretch>
            </a:blipFill>
          </p:spPr>
        </p:sp>
        <p:sp>
          <p:nvSpPr>
            <p:cNvPr name="TextBox 18" id="18"/>
            <p:cNvSpPr txBox="true"/>
            <p:nvPr/>
          </p:nvSpPr>
          <p:spPr>
            <a:xfrm>
              <a:off x="0" y="-28575"/>
              <a:ext cx="8412480" cy="536575"/>
            </a:xfrm>
            <a:prstGeom prst="rect">
              <a:avLst/>
            </a:prstGeom>
          </p:spPr>
          <p:txBody>
            <a:bodyPr anchor="ctr" rtlCol="false" tIns="0" lIns="0" bIns="0" rIns="0"/>
            <a:lstStyle/>
            <a:p>
              <a:pPr algn="r">
                <a:lnSpc>
                  <a:spcPts val="1620"/>
                </a:lnSpc>
              </a:pPr>
              <a:r>
                <a:rPr lang="en-US" sz="1350" b="true">
                  <a:solidFill>
                    <a:srgbClr val="0F766E"/>
                  </a:solidFill>
                  <a:latin typeface="Calibri (MS) Bold"/>
                  <a:ea typeface="Calibri (MS) Bold"/>
                  <a:cs typeface="Calibri (MS) Bold"/>
                  <a:sym typeface="Calibri (MS) Bold"/>
                </a:rPr>
                <a:t>Sprint 1 · Ingestion  ·  Marouane Daouki</a:t>
              </a:r>
            </a:p>
          </p:txBody>
        </p:sp>
      </p:grpSp>
      <p:grpSp>
        <p:nvGrpSpPr>
          <p:cNvPr name="Group 19" id="19"/>
          <p:cNvGrpSpPr/>
          <p:nvPr/>
        </p:nvGrpSpPr>
        <p:grpSpPr>
          <a:xfrm rot="0">
            <a:off x="6565163" y="9563100"/>
            <a:ext cx="1165860" cy="133350"/>
            <a:chOff x="0" y="0"/>
            <a:chExt cx="1554480" cy="177800"/>
          </a:xfrm>
        </p:grpSpPr>
        <p:sp>
          <p:nvSpPr>
            <p:cNvPr name="Freeform 20" id="20"/>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0F766E"/>
            </a:solidFill>
          </p:spPr>
        </p:sp>
      </p:grpSp>
      <p:grpSp>
        <p:nvGrpSpPr>
          <p:cNvPr name="Group 21" id="21"/>
          <p:cNvGrpSpPr/>
          <p:nvPr/>
        </p:nvGrpSpPr>
        <p:grpSpPr>
          <a:xfrm rot="0">
            <a:off x="7895615" y="9563100"/>
            <a:ext cx="1165860" cy="133350"/>
            <a:chOff x="0" y="0"/>
            <a:chExt cx="1554480" cy="177800"/>
          </a:xfrm>
        </p:grpSpPr>
        <p:sp>
          <p:nvSpPr>
            <p:cNvPr name="Freeform 22" id="22"/>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3" id="23"/>
          <p:cNvGrpSpPr/>
          <p:nvPr/>
        </p:nvGrpSpPr>
        <p:grpSpPr>
          <a:xfrm rot="0">
            <a:off x="9226067" y="9563100"/>
            <a:ext cx="1165860" cy="133350"/>
            <a:chOff x="0" y="0"/>
            <a:chExt cx="1554480" cy="177800"/>
          </a:xfrm>
        </p:grpSpPr>
        <p:sp>
          <p:nvSpPr>
            <p:cNvPr name="Freeform 24" id="24"/>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grpSp>
        <p:nvGrpSpPr>
          <p:cNvPr name="Group 25" id="25"/>
          <p:cNvGrpSpPr/>
          <p:nvPr/>
        </p:nvGrpSpPr>
        <p:grpSpPr>
          <a:xfrm rot="0">
            <a:off x="10556519" y="9563100"/>
            <a:ext cx="1165860" cy="133350"/>
            <a:chOff x="0" y="0"/>
            <a:chExt cx="1554480" cy="177800"/>
          </a:xfrm>
        </p:grpSpPr>
        <p:sp>
          <p:nvSpPr>
            <p:cNvPr name="Freeform 26" id="26"/>
            <p:cNvSpPr/>
            <p:nvPr/>
          </p:nvSpPr>
          <p:spPr>
            <a:xfrm flipH="false" flipV="false" rot="0">
              <a:off x="0" y="0"/>
              <a:ext cx="1554480" cy="177800"/>
            </a:xfrm>
            <a:custGeom>
              <a:avLst/>
              <a:gdLst/>
              <a:ahLst/>
              <a:cxnLst/>
              <a:rect r="r" b="b" t="t" l="l"/>
              <a:pathLst>
                <a:path h="177800" w="1554480">
                  <a:moveTo>
                    <a:pt x="0" y="0"/>
                  </a:moveTo>
                  <a:lnTo>
                    <a:pt x="1554480" y="0"/>
                  </a:lnTo>
                  <a:lnTo>
                    <a:pt x="1554480" y="177800"/>
                  </a:lnTo>
                  <a:lnTo>
                    <a:pt x="0" y="177800"/>
                  </a:lnTo>
                  <a:close/>
                </a:path>
              </a:pathLst>
            </a:custGeom>
            <a:solidFill>
              <a:srgbClr val="D5D8DD"/>
            </a:solidFill>
          </p:spPr>
        </p:sp>
      </p:grpSp>
      <p:sp>
        <p:nvSpPr>
          <p:cNvPr name="TextBox 27" id="27"/>
          <p:cNvSpPr txBox="true"/>
          <p:nvPr/>
        </p:nvSpPr>
        <p:spPr>
          <a:xfrm rot="0">
            <a:off x="805177" y="2251710"/>
            <a:ext cx="8950957" cy="6041708"/>
          </a:xfrm>
          <a:prstGeom prst="rect">
            <a:avLst/>
          </a:prstGeom>
        </p:spPr>
        <p:txBody>
          <a:bodyPr anchor="t" rtlCol="false" tIns="0" lIns="0" bIns="0" rIns="0">
            <a:spAutoFit/>
          </a:bodyPr>
          <a:lstStyle/>
          <a:p>
            <a:pPr algn="l">
              <a:lnSpc>
                <a:spcPts val="3187"/>
              </a:lnSpc>
            </a:pPr>
            <a:r>
              <a:rPr lang="en-US" sz="2550">
                <a:solidFill>
                  <a:srgbClr val="1F3A5F"/>
                </a:solidFill>
                <a:latin typeface="Calibri (MS)"/>
                <a:ea typeface="Calibri (MS)"/>
                <a:cs typeface="Calibri (MS)"/>
                <a:sym typeface="Calibri (MS)"/>
              </a:rPr>
              <a:t>▪ </a:t>
            </a:r>
            <a:r>
              <a:rPr lang="en-US" sz="2550" b="true">
                <a:solidFill>
                  <a:srgbClr val="262A33"/>
                </a:solidFill>
                <a:latin typeface="Calibri (MS) Bold"/>
                <a:ea typeface="Calibri (MS) Bold"/>
                <a:cs typeface="Calibri (MS) Bold"/>
                <a:sym typeface="Calibri (MS) Bold"/>
              </a:rPr>
              <a:t>Source :</a:t>
            </a:r>
            <a:r>
              <a:rPr lang="en-US" sz="2550">
                <a:solidFill>
                  <a:srgbClr val="262A33"/>
                </a:solidFill>
                <a:latin typeface="Calibri (MS)"/>
                <a:ea typeface="Calibri (MS)"/>
                <a:cs typeface="Calibri (MS)"/>
                <a:sym typeface="Calibri (MS)"/>
              </a:rPr>
              <a:t> PubMed Central Open Access, via l'API NCBI Entrez (texte intégral depuis le bucket S3 public pmc-oa-opendata)</a:t>
            </a:r>
          </a:p>
          <a:p>
            <a:pPr algn="l">
              <a:lnSpc>
                <a:spcPts val="3187"/>
              </a:lnSpc>
            </a:pPr>
          </a:p>
          <a:p>
            <a:pPr algn="l">
              <a:lnSpc>
                <a:spcPts val="3187"/>
              </a:lnSpc>
            </a:pPr>
            <a:r>
              <a:rPr lang="en-US" sz="2550">
                <a:solidFill>
                  <a:srgbClr val="1F3A5F"/>
                </a:solidFill>
                <a:latin typeface="Calibri (MS)"/>
                <a:ea typeface="Calibri (MS)"/>
                <a:cs typeface="Calibri (MS)"/>
                <a:sym typeface="Calibri (MS)"/>
              </a:rPr>
              <a:t>▪ </a:t>
            </a:r>
            <a:r>
              <a:rPr lang="en-US" sz="2550" b="true">
                <a:solidFill>
                  <a:srgbClr val="262A33"/>
                </a:solidFill>
                <a:latin typeface="Calibri (MS) Bold"/>
                <a:ea typeface="Calibri (MS) Bold"/>
                <a:cs typeface="Calibri (MS) Bold"/>
                <a:sym typeface="Calibri (MS) Bold"/>
              </a:rPr>
              <a:t>Méthode :</a:t>
            </a:r>
            <a:r>
              <a:rPr lang="en-US" sz="2550">
                <a:solidFill>
                  <a:srgbClr val="262A33"/>
                </a:solidFill>
                <a:latin typeface="Calibri (MS)"/>
                <a:ea typeface="Calibri (MS)"/>
                <a:cs typeface="Calibri (MS)"/>
                <a:sym typeface="Calibri (MS)"/>
              </a:rPr>
              <a:t> 10 requêtes thématiques (cancer, vaccin, diabète, épidémiologie…), filtre open access ou manuscrit d'auteur, 150 résultats maximum par mot-clé, arrêt à 700 articles, pause de 0,4 s entre les requêtes (limite NCBI)</a:t>
            </a:r>
          </a:p>
          <a:p>
            <a:pPr algn="l">
              <a:lnSpc>
                <a:spcPts val="3187"/>
              </a:lnSpc>
            </a:pPr>
          </a:p>
          <a:p>
            <a:pPr algn="l">
              <a:lnSpc>
                <a:spcPts val="3187"/>
              </a:lnSpc>
            </a:pPr>
            <a:r>
              <a:rPr lang="en-US" sz="2550">
                <a:solidFill>
                  <a:srgbClr val="1F3A5F"/>
                </a:solidFill>
                <a:latin typeface="Calibri (MS)"/>
                <a:ea typeface="Calibri (MS)"/>
                <a:cs typeface="Calibri (MS)"/>
                <a:sym typeface="Calibri (MS)"/>
              </a:rPr>
              <a:t>▪ </a:t>
            </a:r>
            <a:r>
              <a:rPr lang="en-US" sz="2550" b="true">
                <a:solidFill>
                  <a:srgbClr val="262A33"/>
                </a:solidFill>
                <a:latin typeface="Calibri (MS) Bold"/>
                <a:ea typeface="Calibri (MS) Bold"/>
                <a:cs typeface="Calibri (MS) Bold"/>
                <a:sym typeface="Calibri (MS) Bold"/>
              </a:rPr>
              <a:t>Livrable : </a:t>
            </a:r>
            <a:r>
              <a:rPr lang="en-US" sz="2550">
                <a:solidFill>
                  <a:srgbClr val="262A33"/>
                </a:solidFill>
                <a:latin typeface="Calibri (MS)"/>
                <a:ea typeface="Calibri (MS)"/>
                <a:cs typeface="Calibri (MS)"/>
                <a:sym typeface="Calibri (MS)"/>
              </a:rPr>
              <a:t>700 articles en 1 400 fichiers (texte et métadonnées) et un index metadata_index.csv : pmcid, titre, licence, DOI, taille, mot-clé</a:t>
            </a:r>
          </a:p>
          <a:p>
            <a:pPr algn="l">
              <a:lnSpc>
                <a:spcPts val="3187"/>
              </a:lnSpc>
            </a:pPr>
          </a:p>
          <a:p>
            <a:pPr algn="l">
              <a:lnSpc>
                <a:spcPts val="3187"/>
              </a:lnSpc>
            </a:pPr>
            <a:r>
              <a:rPr lang="en-US" sz="2550">
                <a:solidFill>
                  <a:srgbClr val="1F3A5F"/>
                </a:solidFill>
                <a:latin typeface="Calibri (MS)"/>
                <a:ea typeface="Calibri (MS)"/>
                <a:cs typeface="Calibri (MS)"/>
                <a:sym typeface="Calibri (MS)"/>
              </a:rPr>
              <a:t>▪ </a:t>
            </a:r>
            <a:r>
              <a:rPr lang="en-US" sz="2550" b="true">
                <a:solidFill>
                  <a:srgbClr val="262A33"/>
                </a:solidFill>
                <a:latin typeface="Calibri (MS) Bold"/>
                <a:ea typeface="Calibri (MS) Bold"/>
                <a:cs typeface="Calibri (MS) Bold"/>
                <a:sym typeface="Calibri (MS) Bold"/>
              </a:rPr>
              <a:t>Décision clé :</a:t>
            </a:r>
            <a:r>
              <a:rPr lang="en-US" sz="2550">
                <a:solidFill>
                  <a:srgbClr val="262A33"/>
                </a:solidFill>
                <a:latin typeface="Calibri (MS)"/>
                <a:ea typeface="Calibri (MS)"/>
                <a:cs typeface="Calibri (MS)"/>
                <a:sym typeface="Calibri (MS)"/>
              </a:rPr>
              <a:t> la licence est conservée dès la source, puis suit tout le pipeline : indicateur restricted_license, tests qualité, filtre where de POST /ask</a:t>
            </a:r>
          </a:p>
        </p:txBody>
      </p:sp>
      <p:grpSp>
        <p:nvGrpSpPr>
          <p:cNvPr name="Group 28" id="28"/>
          <p:cNvGrpSpPr/>
          <p:nvPr/>
        </p:nvGrpSpPr>
        <p:grpSpPr>
          <a:xfrm rot="0">
            <a:off x="10287000" y="2400300"/>
            <a:ext cx="7132320" cy="4457700"/>
            <a:chOff x="0" y="0"/>
            <a:chExt cx="9509760" cy="5943600"/>
          </a:xfrm>
        </p:grpSpPr>
        <p:sp>
          <p:nvSpPr>
            <p:cNvPr name="Freeform 29" id="29"/>
            <p:cNvSpPr/>
            <p:nvPr/>
          </p:nvSpPr>
          <p:spPr>
            <a:xfrm flipH="false" flipV="false" rot="0">
              <a:off x="0" y="0"/>
              <a:ext cx="9509760" cy="5943600"/>
            </a:xfrm>
            <a:custGeom>
              <a:avLst/>
              <a:gdLst/>
              <a:ahLst/>
              <a:cxnLst/>
              <a:rect r="r" b="b" t="t" l="l"/>
              <a:pathLst>
                <a:path h="5943600" w="9509760">
                  <a:moveTo>
                    <a:pt x="0" y="0"/>
                  </a:moveTo>
                  <a:lnTo>
                    <a:pt x="9509760" y="0"/>
                  </a:lnTo>
                  <a:lnTo>
                    <a:pt x="9509760" y="5943600"/>
                  </a:lnTo>
                  <a:lnTo>
                    <a:pt x="0" y="5943600"/>
                  </a:lnTo>
                  <a:close/>
                </a:path>
              </a:pathLst>
            </a:custGeom>
            <a:solidFill>
              <a:srgbClr val="F2F3F5"/>
            </a:solidFill>
          </p:spPr>
        </p:sp>
      </p:grpSp>
      <p:grpSp>
        <p:nvGrpSpPr>
          <p:cNvPr name="Group 30" id="30"/>
          <p:cNvGrpSpPr/>
          <p:nvPr/>
        </p:nvGrpSpPr>
        <p:grpSpPr>
          <a:xfrm rot="0">
            <a:off x="10287000" y="2400300"/>
            <a:ext cx="95250" cy="4457700"/>
            <a:chOff x="0" y="0"/>
            <a:chExt cx="127000" cy="5943600"/>
          </a:xfrm>
        </p:grpSpPr>
        <p:sp>
          <p:nvSpPr>
            <p:cNvPr name="Freeform 31" id="31"/>
            <p:cNvSpPr/>
            <p:nvPr/>
          </p:nvSpPr>
          <p:spPr>
            <a:xfrm flipH="false" flipV="false" rot="0">
              <a:off x="0" y="0"/>
              <a:ext cx="127000" cy="5943600"/>
            </a:xfrm>
            <a:custGeom>
              <a:avLst/>
              <a:gdLst/>
              <a:ahLst/>
              <a:cxnLst/>
              <a:rect r="r" b="b" t="t" l="l"/>
              <a:pathLst>
                <a:path h="5943600" w="127000">
                  <a:moveTo>
                    <a:pt x="0" y="0"/>
                  </a:moveTo>
                  <a:lnTo>
                    <a:pt x="127000" y="0"/>
                  </a:lnTo>
                  <a:lnTo>
                    <a:pt x="127000" y="5943600"/>
                  </a:lnTo>
                  <a:lnTo>
                    <a:pt x="0" y="5943600"/>
                  </a:lnTo>
                  <a:close/>
                </a:path>
              </a:pathLst>
            </a:custGeom>
            <a:solidFill>
              <a:srgbClr val="7A1F2B"/>
            </a:solidFill>
          </p:spPr>
        </p:sp>
      </p:grpSp>
      <p:sp>
        <p:nvSpPr>
          <p:cNvPr name="TextBox 32" id="32"/>
          <p:cNvSpPr txBox="true"/>
          <p:nvPr/>
        </p:nvSpPr>
        <p:spPr>
          <a:xfrm rot="0">
            <a:off x="10584685" y="2515238"/>
            <a:ext cx="6619237" cy="361950"/>
          </a:xfrm>
          <a:prstGeom prst="rect">
            <a:avLst/>
          </a:prstGeom>
        </p:spPr>
        <p:txBody>
          <a:bodyPr anchor="t" rtlCol="false" tIns="0" lIns="0" bIns="0" rIns="0">
            <a:spAutoFit/>
          </a:bodyPr>
          <a:lstStyle/>
          <a:p>
            <a:pPr algn="l">
              <a:lnSpc>
                <a:spcPts val="2520"/>
              </a:lnSpc>
            </a:pPr>
            <a:r>
              <a:rPr lang="en-US" sz="2100" b="true">
                <a:solidFill>
                  <a:srgbClr val="7A1F2B"/>
                </a:solidFill>
                <a:latin typeface="Calibri (MS) Bold"/>
                <a:ea typeface="Calibri (MS) Bold"/>
                <a:cs typeface="Calibri (MS) Bold"/>
                <a:sym typeface="Calibri (MS) Bold"/>
              </a:rPr>
              <a:t>Licences des 700 articles (TDM = restreint)</a:t>
            </a:r>
          </a:p>
        </p:txBody>
      </p:sp>
      <p:sp>
        <p:nvSpPr>
          <p:cNvPr name="TextBox 33" id="33"/>
          <p:cNvSpPr txBox="true"/>
          <p:nvPr/>
        </p:nvSpPr>
        <p:spPr>
          <a:xfrm rot="0">
            <a:off x="10584656" y="3286125"/>
            <a:ext cx="6572250" cy="319087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262A33"/>
                </a:solidFill>
                <a:latin typeface="Calibri (MS)"/>
                <a:ea typeface="Calibri (MS)"/>
                <a:cs typeface="Calibri (MS)"/>
                <a:sym typeface="Calibri (MS)"/>
              </a:rPr>
              <a:t>CC BY : 367 (52 %)</a:t>
            </a:r>
          </a:p>
          <a:p>
            <a:pPr algn="l" marL="0" indent="0" lvl="0">
              <a:lnSpc>
                <a:spcPts val="2520"/>
              </a:lnSpc>
              <a:spcBef>
                <a:spcPct val="0"/>
              </a:spcBef>
            </a:pPr>
          </a:p>
          <a:p>
            <a:pPr algn="l" marL="0" indent="0" lvl="0">
              <a:lnSpc>
                <a:spcPts val="2520"/>
              </a:lnSpc>
              <a:spcBef>
                <a:spcPct val="0"/>
              </a:spcBef>
            </a:pPr>
            <a:r>
              <a:rPr lang="en-US" sz="2100" strike="noStrike" u="none">
                <a:solidFill>
                  <a:srgbClr val="262A33"/>
                </a:solidFill>
                <a:latin typeface="Calibri (MS)"/>
                <a:ea typeface="Calibri (MS)"/>
                <a:cs typeface="Calibri (MS)"/>
                <a:sym typeface="Calibri (MS)"/>
              </a:rPr>
              <a:t>CC BY-NC-ND : 178 (25 %)</a:t>
            </a:r>
          </a:p>
          <a:p>
            <a:pPr algn="l" marL="0" indent="0" lvl="0">
              <a:lnSpc>
                <a:spcPts val="2520"/>
              </a:lnSpc>
              <a:spcBef>
                <a:spcPct val="0"/>
              </a:spcBef>
            </a:pPr>
          </a:p>
          <a:p>
            <a:pPr algn="l" marL="0" indent="0" lvl="0">
              <a:lnSpc>
                <a:spcPts val="2520"/>
              </a:lnSpc>
              <a:spcBef>
                <a:spcPct val="0"/>
              </a:spcBef>
            </a:pPr>
            <a:r>
              <a:rPr lang="en-US" sz="2100" strike="noStrike" u="none">
                <a:solidFill>
                  <a:srgbClr val="262A33"/>
                </a:solidFill>
                <a:latin typeface="Calibri (MS)"/>
                <a:ea typeface="Calibri (MS)"/>
                <a:cs typeface="Calibri (MS)"/>
                <a:sym typeface="Calibri (MS)"/>
              </a:rPr>
              <a:t>CC BY-NC : 151 (22 %)</a:t>
            </a:r>
          </a:p>
          <a:p>
            <a:pPr algn="l" marL="0" indent="0" lvl="0">
              <a:lnSpc>
                <a:spcPts val="2520"/>
              </a:lnSpc>
              <a:spcBef>
                <a:spcPct val="0"/>
              </a:spcBef>
            </a:pPr>
          </a:p>
          <a:p>
            <a:pPr algn="l" marL="0" indent="0" lvl="0">
              <a:lnSpc>
                <a:spcPts val="2520"/>
              </a:lnSpc>
              <a:spcBef>
                <a:spcPct val="0"/>
              </a:spcBef>
            </a:pPr>
            <a:r>
              <a:rPr lang="en-US" sz="2100" strike="noStrike" u="none">
                <a:solidFill>
                  <a:srgbClr val="262A33"/>
                </a:solidFill>
                <a:latin typeface="Calibri (MS)"/>
                <a:ea typeface="Calibri (MS)"/>
                <a:cs typeface="Calibri (MS)"/>
                <a:sym typeface="Calibri (MS)"/>
              </a:rPr>
              <a:t>TDM : 4 (0,6 %)</a:t>
            </a:r>
          </a:p>
          <a:p>
            <a:pPr algn="l" marL="0" indent="0" lvl="0">
              <a:lnSpc>
                <a:spcPts val="2520"/>
              </a:lnSpc>
              <a:spcBef>
                <a:spcPct val="0"/>
              </a:spcBef>
            </a:pPr>
          </a:p>
          <a:p>
            <a:pPr algn="l" marL="0" indent="0" lvl="0">
              <a:lnSpc>
                <a:spcPts val="2520"/>
              </a:lnSpc>
              <a:spcBef>
                <a:spcPct val="0"/>
              </a:spcBef>
            </a:pPr>
            <a:r>
              <a:rPr lang="en-US" sz="2100" strike="noStrike" u="none">
                <a:solidFill>
                  <a:srgbClr val="262A33"/>
                </a:solidFill>
                <a:latin typeface="Calibri (MS)"/>
                <a:ea typeface="Calibri (MS)"/>
                <a:cs typeface="Calibri (MS)"/>
                <a:sym typeface="Calibri (MS)"/>
              </a:rPr>
              <a:t>Le filtre where {restricted_license: false} exclut ces 4 articles TDM.</a:t>
            </a:r>
          </a:p>
        </p:txBody>
      </p:sp>
      <p:grpSp>
        <p:nvGrpSpPr>
          <p:cNvPr name="Group 34" id="34"/>
          <p:cNvGrpSpPr/>
          <p:nvPr/>
        </p:nvGrpSpPr>
        <p:grpSpPr>
          <a:xfrm rot="0">
            <a:off x="14011275" y="3303270"/>
            <a:ext cx="3143250" cy="381000"/>
            <a:chOff x="0" y="0"/>
            <a:chExt cx="4191000" cy="508000"/>
          </a:xfrm>
        </p:grpSpPr>
        <p:sp>
          <p:nvSpPr>
            <p:cNvPr name="Freeform 35" id="35"/>
            <p:cNvSpPr/>
            <p:nvPr/>
          </p:nvSpPr>
          <p:spPr>
            <a:xfrm flipH="false" flipV="false" rot="0">
              <a:off x="0" y="0"/>
              <a:ext cx="4191000" cy="508000"/>
            </a:xfrm>
            <a:custGeom>
              <a:avLst/>
              <a:gdLst/>
              <a:ahLst/>
              <a:cxnLst/>
              <a:rect r="r" b="b" t="t" l="l"/>
              <a:pathLst>
                <a:path h="508000" w="4191000">
                  <a:moveTo>
                    <a:pt x="0" y="0"/>
                  </a:moveTo>
                  <a:lnTo>
                    <a:pt x="4191000" y="0"/>
                  </a:lnTo>
                  <a:lnTo>
                    <a:pt x="4191000" y="508000"/>
                  </a:lnTo>
                  <a:lnTo>
                    <a:pt x="0" y="508000"/>
                  </a:lnTo>
                  <a:close/>
                </a:path>
              </a:pathLst>
            </a:custGeom>
            <a:solidFill>
              <a:srgbClr val="0F766E"/>
            </a:solidFill>
          </p:spPr>
        </p:sp>
        <p:sp>
          <p:nvSpPr>
            <p:cNvPr name="TextBox 36" id="36"/>
            <p:cNvSpPr txBox="true"/>
            <p:nvPr/>
          </p:nvSpPr>
          <p:spPr>
            <a:xfrm>
              <a:off x="0" y="-38100"/>
              <a:ext cx="4191000" cy="546100"/>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14011275" y="3943350"/>
            <a:ext cx="1524000" cy="381000"/>
            <a:chOff x="0" y="0"/>
            <a:chExt cx="2032000" cy="508000"/>
          </a:xfrm>
        </p:grpSpPr>
        <p:sp>
          <p:nvSpPr>
            <p:cNvPr name="Freeform 38" id="38"/>
            <p:cNvSpPr/>
            <p:nvPr/>
          </p:nvSpPr>
          <p:spPr>
            <a:xfrm flipH="false" flipV="false" rot="0">
              <a:off x="0" y="0"/>
              <a:ext cx="2032000" cy="508000"/>
            </a:xfrm>
            <a:custGeom>
              <a:avLst/>
              <a:gdLst/>
              <a:ahLst/>
              <a:cxnLst/>
              <a:rect r="r" b="b" t="t" l="l"/>
              <a:pathLst>
                <a:path h="508000" w="2032000">
                  <a:moveTo>
                    <a:pt x="0" y="0"/>
                  </a:moveTo>
                  <a:lnTo>
                    <a:pt x="2032000" y="0"/>
                  </a:lnTo>
                  <a:lnTo>
                    <a:pt x="2032000" y="508000"/>
                  </a:lnTo>
                  <a:lnTo>
                    <a:pt x="0" y="508000"/>
                  </a:lnTo>
                  <a:close/>
                </a:path>
              </a:pathLst>
            </a:custGeom>
            <a:solidFill>
              <a:srgbClr val="4F9F98"/>
            </a:solidFill>
          </p:spPr>
        </p:sp>
        <p:sp>
          <p:nvSpPr>
            <p:cNvPr name="TextBox 39" id="39"/>
            <p:cNvSpPr txBox="true"/>
            <p:nvPr/>
          </p:nvSpPr>
          <p:spPr>
            <a:xfrm>
              <a:off x="0" y="-38100"/>
              <a:ext cx="2032000" cy="546100"/>
            </a:xfrm>
            <a:prstGeom prst="rect">
              <a:avLst/>
            </a:prstGeom>
          </p:spPr>
          <p:txBody>
            <a:bodyPr anchor="ctr" rtlCol="false" tIns="50800" lIns="50800" bIns="50800" rIns="50800"/>
            <a:lstStyle/>
            <a:p>
              <a:pPr algn="l">
                <a:lnSpc>
                  <a:spcPts val="1679"/>
                </a:lnSpc>
              </a:pPr>
            </a:p>
          </p:txBody>
        </p:sp>
      </p:grpSp>
      <p:grpSp>
        <p:nvGrpSpPr>
          <p:cNvPr name="Group 40" id="40"/>
          <p:cNvGrpSpPr/>
          <p:nvPr/>
        </p:nvGrpSpPr>
        <p:grpSpPr>
          <a:xfrm rot="0">
            <a:off x="14011275" y="4583430"/>
            <a:ext cx="1295400" cy="381000"/>
            <a:chOff x="0" y="0"/>
            <a:chExt cx="1727200" cy="508000"/>
          </a:xfrm>
        </p:grpSpPr>
        <p:sp>
          <p:nvSpPr>
            <p:cNvPr name="Freeform 41" id="41"/>
            <p:cNvSpPr/>
            <p:nvPr/>
          </p:nvSpPr>
          <p:spPr>
            <a:xfrm flipH="false" flipV="false" rot="0">
              <a:off x="0" y="0"/>
              <a:ext cx="1727200" cy="508000"/>
            </a:xfrm>
            <a:custGeom>
              <a:avLst/>
              <a:gdLst/>
              <a:ahLst/>
              <a:cxnLst/>
              <a:rect r="r" b="b" t="t" l="l"/>
              <a:pathLst>
                <a:path h="508000" w="1727200">
                  <a:moveTo>
                    <a:pt x="0" y="0"/>
                  </a:moveTo>
                  <a:lnTo>
                    <a:pt x="1727200" y="0"/>
                  </a:lnTo>
                  <a:lnTo>
                    <a:pt x="1727200" y="508000"/>
                  </a:lnTo>
                  <a:lnTo>
                    <a:pt x="0" y="508000"/>
                  </a:lnTo>
                  <a:close/>
                </a:path>
              </a:pathLst>
            </a:custGeom>
            <a:solidFill>
              <a:srgbClr val="8FC4BF"/>
            </a:solidFill>
          </p:spPr>
        </p:sp>
        <p:sp>
          <p:nvSpPr>
            <p:cNvPr name="TextBox 42" id="42"/>
            <p:cNvSpPr txBox="true"/>
            <p:nvPr/>
          </p:nvSpPr>
          <p:spPr>
            <a:xfrm>
              <a:off x="0" y="-38100"/>
              <a:ext cx="1727200" cy="546100"/>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14011275" y="5223510"/>
            <a:ext cx="57150" cy="381000"/>
            <a:chOff x="0" y="0"/>
            <a:chExt cx="76200" cy="508000"/>
          </a:xfrm>
        </p:grpSpPr>
        <p:sp>
          <p:nvSpPr>
            <p:cNvPr name="Freeform 44" id="44"/>
            <p:cNvSpPr/>
            <p:nvPr/>
          </p:nvSpPr>
          <p:spPr>
            <a:xfrm flipH="false" flipV="false" rot="0">
              <a:off x="0" y="0"/>
              <a:ext cx="76200" cy="508000"/>
            </a:xfrm>
            <a:custGeom>
              <a:avLst/>
              <a:gdLst/>
              <a:ahLst/>
              <a:cxnLst/>
              <a:rect r="r" b="b" t="t" l="l"/>
              <a:pathLst>
                <a:path h="508000" w="76200">
                  <a:moveTo>
                    <a:pt x="0" y="0"/>
                  </a:moveTo>
                  <a:lnTo>
                    <a:pt x="76200" y="0"/>
                  </a:lnTo>
                  <a:lnTo>
                    <a:pt x="76200" y="508000"/>
                  </a:lnTo>
                  <a:lnTo>
                    <a:pt x="0" y="508000"/>
                  </a:lnTo>
                  <a:close/>
                </a:path>
              </a:pathLst>
            </a:custGeom>
            <a:solidFill>
              <a:srgbClr val="7A1F2B"/>
            </a:solidFill>
          </p:spPr>
        </p:sp>
        <p:sp>
          <p:nvSpPr>
            <p:cNvPr name="TextBox 45" id="45"/>
            <p:cNvSpPr txBox="true"/>
            <p:nvPr/>
          </p:nvSpPr>
          <p:spPr>
            <a:xfrm>
              <a:off x="0" y="-38100"/>
              <a:ext cx="76200" cy="5461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42280" cy="75438"/>
            <a:chOff x="0" y="0"/>
            <a:chExt cx="24323040" cy="100584"/>
          </a:xfrm>
        </p:grpSpPr>
        <p:sp>
          <p:nvSpPr>
            <p:cNvPr name="Freeform 3" id="3"/>
            <p:cNvSpPr/>
            <p:nvPr/>
          </p:nvSpPr>
          <p:spPr>
            <a:xfrm flipH="false" flipV="false" rot="0">
              <a:off x="0" y="0"/>
              <a:ext cx="24323039" cy="100584"/>
            </a:xfrm>
            <a:custGeom>
              <a:avLst/>
              <a:gdLst/>
              <a:ahLst/>
              <a:cxnLst/>
              <a:rect r="r" b="b" t="t" l="l"/>
              <a:pathLst>
                <a:path h="100584" w="24323039">
                  <a:moveTo>
                    <a:pt x="0" y="0"/>
                  </a:moveTo>
                  <a:lnTo>
                    <a:pt x="24323039" y="0"/>
                  </a:lnTo>
                  <a:lnTo>
                    <a:pt x="24323039" y="100584"/>
                  </a:lnTo>
                  <a:lnTo>
                    <a:pt x="0" y="100584"/>
                  </a:lnTo>
                  <a:close/>
                </a:path>
              </a:pathLst>
            </a:custGeom>
            <a:solidFill>
              <a:srgbClr val="C89A1A"/>
            </a:solidFill>
          </p:spPr>
        </p:sp>
      </p:grpSp>
      <p:grpSp>
        <p:nvGrpSpPr>
          <p:cNvPr name="Group 4" id="4"/>
          <p:cNvGrpSpPr/>
          <p:nvPr/>
        </p:nvGrpSpPr>
        <p:grpSpPr>
          <a:xfrm rot="0">
            <a:off x="14196060" y="521208"/>
            <a:ext cx="3566160" cy="1124712"/>
            <a:chOff x="0" y="0"/>
            <a:chExt cx="4754880" cy="1499616"/>
          </a:xfrm>
        </p:grpSpPr>
        <p:sp>
          <p:nvSpPr>
            <p:cNvPr name="Freeform 5" id="5"/>
            <p:cNvSpPr/>
            <p:nvPr/>
          </p:nvSpPr>
          <p:spPr>
            <a:xfrm flipH="false" flipV="false" rot="0">
              <a:off x="0" y="0"/>
              <a:ext cx="4754880" cy="1499616"/>
            </a:xfrm>
            <a:custGeom>
              <a:avLst/>
              <a:gdLst/>
              <a:ahLst/>
              <a:cxnLst/>
              <a:rect r="r" b="b" t="t" l="l"/>
              <a:pathLst>
                <a:path h="1499616" w="4754880">
                  <a:moveTo>
                    <a:pt x="0" y="0"/>
                  </a:moveTo>
                  <a:lnTo>
                    <a:pt x="4754880" y="0"/>
                  </a:lnTo>
                  <a:lnTo>
                    <a:pt x="4754880" y="1499616"/>
                  </a:lnTo>
                  <a:lnTo>
                    <a:pt x="0" y="1499616"/>
                  </a:lnTo>
                  <a:close/>
                </a:path>
              </a:pathLst>
            </a:custGeom>
            <a:solidFill>
              <a:srgbClr val="C89A1A"/>
            </a:solidFill>
          </p:spPr>
        </p:sp>
      </p:grpSp>
      <p:grpSp>
        <p:nvGrpSpPr>
          <p:cNvPr name="Group 6" id="6"/>
          <p:cNvGrpSpPr/>
          <p:nvPr/>
        </p:nvGrpSpPr>
        <p:grpSpPr>
          <a:xfrm rot="0">
            <a:off x="14196060" y="576072"/>
            <a:ext cx="3566160" cy="466344"/>
            <a:chOff x="0" y="0"/>
            <a:chExt cx="4754880" cy="621792"/>
          </a:xfrm>
        </p:grpSpPr>
        <p:sp>
          <p:nvSpPr>
            <p:cNvPr name="Freeform 7" id="7"/>
            <p:cNvSpPr/>
            <p:nvPr/>
          </p:nvSpPr>
          <p:spPr>
            <a:xfrm flipH="false" flipV="false" rot="0">
              <a:off x="0" y="0"/>
              <a:ext cx="4754880" cy="621792"/>
            </a:xfrm>
            <a:custGeom>
              <a:avLst/>
              <a:gdLst/>
              <a:ahLst/>
              <a:cxnLst/>
              <a:rect r="r" b="b" t="t" l="l"/>
              <a:pathLst>
                <a:path h="621792" w="4754880">
                  <a:moveTo>
                    <a:pt x="0" y="0"/>
                  </a:moveTo>
                  <a:lnTo>
                    <a:pt x="4754880" y="0"/>
                  </a:lnTo>
                  <a:lnTo>
                    <a:pt x="4754880" y="621792"/>
                  </a:lnTo>
                  <a:lnTo>
                    <a:pt x="0" y="621792"/>
                  </a:lnTo>
                  <a:close/>
                </a:path>
              </a:pathLst>
            </a:custGeom>
            <a:blipFill>
              <a:blip r:embed="rId2">
                <a:alphaModFix amt="0"/>
              </a:blip>
              <a:stretch>
                <a:fillRect l="0" t="-99003" r="0" b="-99003"/>
              </a:stretch>
            </a:blipFill>
          </p:spPr>
        </p:sp>
        <p:sp>
          <p:nvSpPr>
            <p:cNvPr name="TextBox 8" id="8"/>
            <p:cNvSpPr txBox="true"/>
            <p:nvPr/>
          </p:nvSpPr>
          <p:spPr>
            <a:xfrm>
              <a:off x="0" y="-47625"/>
              <a:ext cx="4754880" cy="66941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SPRINT 2</a:t>
              </a:r>
            </a:p>
          </p:txBody>
        </p:sp>
      </p:grpSp>
      <p:grpSp>
        <p:nvGrpSpPr>
          <p:cNvPr name="Group 9" id="9"/>
          <p:cNvGrpSpPr/>
          <p:nvPr/>
        </p:nvGrpSpPr>
        <p:grpSpPr>
          <a:xfrm rot="0">
            <a:off x="14196060" y="1042416"/>
            <a:ext cx="3566160" cy="329184"/>
            <a:chOff x="0" y="0"/>
            <a:chExt cx="4754880" cy="438912"/>
          </a:xfrm>
        </p:grpSpPr>
        <p:sp>
          <p:nvSpPr>
            <p:cNvPr name="Freeform 10" id="10"/>
            <p:cNvSpPr/>
            <p:nvPr/>
          </p:nvSpPr>
          <p:spPr>
            <a:xfrm flipH="false" flipV="false" rot="0">
              <a:off x="0" y="0"/>
              <a:ext cx="4754880" cy="438912"/>
            </a:xfrm>
            <a:custGeom>
              <a:avLst/>
              <a:gdLst/>
              <a:ahLst/>
              <a:cxnLst/>
              <a:rect r="r" b="b" t="t" l="l"/>
              <a:pathLst>
                <a:path h="438912" w="4754880">
                  <a:moveTo>
                    <a:pt x="0" y="0"/>
                  </a:moveTo>
                  <a:lnTo>
                    <a:pt x="4754880" y="0"/>
                  </a:lnTo>
                  <a:lnTo>
                    <a:pt x="4754880" y="438912"/>
                  </a:lnTo>
                  <a:lnTo>
                    <a:pt x="0" y="438912"/>
                  </a:lnTo>
                  <a:close/>
                </a:path>
              </a:pathLst>
            </a:custGeom>
            <a:blipFill>
              <a:blip r:embed="rId2">
                <a:alphaModFix amt="0"/>
              </a:blip>
              <a:stretch>
                <a:fillRect l="0" t="-161087" r="0" b="-161087"/>
              </a:stretch>
            </a:blipFill>
          </p:spPr>
        </p:sp>
        <p:sp>
          <p:nvSpPr>
            <p:cNvPr name="TextBox 11" id="11"/>
            <p:cNvSpPr txBox="true"/>
            <p:nvPr/>
          </p:nvSpPr>
          <p:spPr>
            <a:xfrm>
              <a:off x="0" y="-38100"/>
              <a:ext cx="4754880" cy="477012"/>
            </a:xfrm>
            <a:prstGeom prst="rect">
              <a:avLst/>
            </a:prstGeom>
          </p:spPr>
          <p:txBody>
            <a:bodyPr anchor="ctr" rtlCol="false" tIns="0" lIns="0" bIns="0" rIns="0"/>
            <a:lstStyle/>
            <a:p>
              <a:pPr algn="ctr">
                <a:lnSpc>
                  <a:spcPts val="1800"/>
                </a:lnSpc>
              </a:pPr>
              <a:r>
                <a:rPr lang="en-US" sz="1500">
                  <a:solidFill>
                    <a:srgbClr val="FFFFFF"/>
                  </a:solidFill>
                  <a:latin typeface="Calibri (MS)"/>
                  <a:ea typeface="Calibri (MS)"/>
                  <a:cs typeface="Calibri (MS)"/>
                  <a:sym typeface="Calibri (MS)"/>
                </a:rPr>
                <a:t>Imane Alouani</a:t>
              </a:r>
            </a:p>
          </p:txBody>
        </p:sp>
      </p:grpSp>
      <p:grpSp>
        <p:nvGrpSpPr>
          <p:cNvPr name="Group 12" id="12"/>
          <p:cNvGrpSpPr/>
          <p:nvPr/>
        </p:nvGrpSpPr>
        <p:grpSpPr>
          <a:xfrm rot="0">
            <a:off x="617220" y="1303020"/>
            <a:ext cx="13167360" cy="850392"/>
            <a:chOff x="0" y="0"/>
            <a:chExt cx="17556480" cy="1133856"/>
          </a:xfrm>
        </p:grpSpPr>
        <p:sp>
          <p:nvSpPr>
            <p:cNvPr name="Freeform 13" id="13"/>
            <p:cNvSpPr/>
            <p:nvPr/>
          </p:nvSpPr>
          <p:spPr>
            <a:xfrm flipH="false" flipV="false" rot="0">
              <a:off x="0" y="0"/>
              <a:ext cx="17556480" cy="1133856"/>
            </a:xfrm>
            <a:custGeom>
              <a:avLst/>
              <a:gdLst/>
              <a:ahLst/>
              <a:cxnLst/>
              <a:rect r="r" b="b" t="t" l="l"/>
              <a:pathLst>
                <a:path h="1133856" w="17556480">
                  <a:moveTo>
                    <a:pt x="0" y="0"/>
                  </a:moveTo>
                  <a:lnTo>
                    <a:pt x="17556480" y="0"/>
                  </a:lnTo>
                  <a:lnTo>
                    <a:pt x="17556480" y="1133856"/>
                  </a:lnTo>
                  <a:lnTo>
                    <a:pt x="0" y="1133856"/>
                  </a:lnTo>
                  <a:close/>
                </a:path>
              </a:pathLst>
            </a:custGeom>
            <a:blipFill>
              <a:blip r:embed="rId2">
                <a:alphaModFix amt="0"/>
              </a:blip>
              <a:stretch>
                <a:fillRect l="0" t="-251703" r="0" b="-251703"/>
              </a:stretch>
            </a:blipFill>
          </p:spPr>
        </p:sp>
        <p:sp>
          <p:nvSpPr>
            <p:cNvPr name="TextBox 14" id="14"/>
            <p:cNvSpPr txBox="true"/>
            <p:nvPr/>
          </p:nvSpPr>
          <p:spPr>
            <a:xfrm>
              <a:off x="0" y="-95250"/>
              <a:ext cx="17556480" cy="1229106"/>
            </a:xfrm>
            <a:prstGeom prst="rect">
              <a:avLst/>
            </a:prstGeom>
          </p:spPr>
          <p:txBody>
            <a:bodyPr anchor="ctr" rtlCol="false" tIns="0" lIns="0" bIns="0" rIns="0"/>
            <a:lstStyle/>
            <a:p>
              <a:pPr algn="l">
                <a:lnSpc>
                  <a:spcPts val="5400"/>
                </a:lnSpc>
              </a:pPr>
              <a:r>
                <a:rPr lang="en-US" sz="4500" b="true">
                  <a:solidFill>
                    <a:srgbClr val="1A1A1A"/>
                  </a:solidFill>
                  <a:latin typeface="Calibri (MS) Bold"/>
                  <a:ea typeface="Calibri (MS) Bold"/>
                  <a:cs typeface="Calibri (MS) Bold"/>
                  <a:sym typeface="Calibri (MS) Bold"/>
                </a:rPr>
                <a:t>Sprint 2 — Transformation des données</a:t>
              </a:r>
            </a:p>
          </p:txBody>
        </p:sp>
      </p:grpSp>
      <p:grpSp>
        <p:nvGrpSpPr>
          <p:cNvPr name="Group 15" id="15"/>
          <p:cNvGrpSpPr/>
          <p:nvPr/>
        </p:nvGrpSpPr>
        <p:grpSpPr>
          <a:xfrm rot="0">
            <a:off x="617220" y="2221992"/>
            <a:ext cx="13167360" cy="521208"/>
            <a:chOff x="0" y="0"/>
            <a:chExt cx="17556480" cy="694944"/>
          </a:xfrm>
        </p:grpSpPr>
        <p:sp>
          <p:nvSpPr>
            <p:cNvPr name="Freeform 16" id="16"/>
            <p:cNvSpPr/>
            <p:nvPr/>
          </p:nvSpPr>
          <p:spPr>
            <a:xfrm flipH="false" flipV="false" rot="0">
              <a:off x="0" y="0"/>
              <a:ext cx="17556480" cy="694944"/>
            </a:xfrm>
            <a:custGeom>
              <a:avLst/>
              <a:gdLst/>
              <a:ahLst/>
              <a:cxnLst/>
              <a:rect r="r" b="b" t="t" l="l"/>
              <a:pathLst>
                <a:path h="694944" w="17556480">
                  <a:moveTo>
                    <a:pt x="0" y="0"/>
                  </a:moveTo>
                  <a:lnTo>
                    <a:pt x="17556480" y="0"/>
                  </a:lnTo>
                  <a:lnTo>
                    <a:pt x="17556480" y="694944"/>
                  </a:lnTo>
                  <a:lnTo>
                    <a:pt x="0" y="694944"/>
                  </a:lnTo>
                  <a:close/>
                </a:path>
              </a:pathLst>
            </a:custGeom>
            <a:blipFill>
              <a:blip r:embed="rId2">
                <a:alphaModFix amt="0"/>
              </a:blip>
              <a:stretch>
                <a:fillRect l="0" t="-442253" r="0" b="-442253"/>
              </a:stretch>
            </a:blipFill>
          </p:spPr>
        </p:sp>
        <p:sp>
          <p:nvSpPr>
            <p:cNvPr name="TextBox 17" id="17"/>
            <p:cNvSpPr txBox="true"/>
            <p:nvPr/>
          </p:nvSpPr>
          <p:spPr>
            <a:xfrm>
              <a:off x="0" y="-38100"/>
              <a:ext cx="17556480" cy="733044"/>
            </a:xfrm>
            <a:prstGeom prst="rect">
              <a:avLst/>
            </a:prstGeom>
          </p:spPr>
          <p:txBody>
            <a:bodyPr anchor="ctr" rtlCol="false" tIns="0" lIns="0" bIns="0" rIns="0"/>
            <a:lstStyle/>
            <a:p>
              <a:pPr algn="l">
                <a:lnSpc>
                  <a:spcPts val="2160"/>
                </a:lnSpc>
              </a:pPr>
              <a:r>
                <a:rPr lang="en-US" sz="1800" i="true">
                  <a:solidFill>
                    <a:srgbClr val="6B6B6B"/>
                  </a:solidFill>
                  <a:latin typeface="Calibri (MS) Italics"/>
                  <a:ea typeface="Calibri (MS) Italics"/>
                  <a:cs typeface="Calibri (MS) Italics"/>
                  <a:sym typeface="Calibri (MS) Italics"/>
                </a:rPr>
                <a:t>De 700 articles bruts à 32 146 chunks propres et indexables</a:t>
              </a:r>
            </a:p>
          </p:txBody>
        </p:sp>
      </p:grpSp>
      <p:sp>
        <p:nvSpPr>
          <p:cNvPr name="TextBox 18" id="18"/>
          <p:cNvSpPr txBox="true"/>
          <p:nvPr/>
        </p:nvSpPr>
        <p:spPr>
          <a:xfrm rot="0">
            <a:off x="708660" y="2997708"/>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Source : 700 fichiers .txt livrés par Marouane (pmc-oa-opendata, pré-sectionnés) — structure réelle mesurée par inspection avant d'écrire la moindre ligne de code</a:t>
            </a:r>
          </a:p>
        </p:txBody>
      </p:sp>
      <p:sp>
        <p:nvSpPr>
          <p:cNvPr name="TextBox 19" id="19"/>
          <p:cNvSpPr txBox="true"/>
          <p:nvPr/>
        </p:nvSpPr>
        <p:spPr>
          <a:xfrm rot="0">
            <a:off x="708660" y="4191000"/>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Nettoyage : normalisation NFKC, caractères de contrôle (dont \x9f), recollage des césures, métadonnées d'article écartées (auteurs, affiliations, dates, copyright)</a:t>
            </a:r>
          </a:p>
        </p:txBody>
      </p:sp>
      <p:sp>
        <p:nvSpPr>
          <p:cNvPr name="TextBox 20" id="20"/>
          <p:cNvSpPr txBox="true"/>
          <p:nvPr/>
        </p:nvSpPr>
        <p:spPr>
          <a:xfrm rot="0">
            <a:off x="708660" y="5384292"/>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Découpage : vocabulaire de sections fermé, sous-titres héritent de la section parente, boilerplate supprimé (references, funding, author contributions, ethics…)</a:t>
            </a:r>
          </a:p>
        </p:txBody>
      </p:sp>
      <p:sp>
        <p:nvSpPr>
          <p:cNvPr name="TextBox 21" id="21"/>
          <p:cNvSpPr txBox="true"/>
          <p:nvPr/>
        </p:nvSpPr>
        <p:spPr>
          <a:xfrm rot="0">
            <a:off x="708660" y="6577584"/>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Chunking : cible ~1 200 car., overlap 200, frontières de section jamais traversées — livrable : chunks.parquet + SCHEMA.md v2.4.0 figé</a:t>
            </a:r>
          </a:p>
        </p:txBody>
      </p:sp>
      <p:grpSp>
        <p:nvGrpSpPr>
          <p:cNvPr name="Group 22" id="22"/>
          <p:cNvGrpSpPr/>
          <p:nvPr/>
        </p:nvGrpSpPr>
        <p:grpSpPr>
          <a:xfrm rot="0">
            <a:off x="11109960" y="2880360"/>
            <a:ext cx="6789420" cy="6309360"/>
            <a:chOff x="0" y="0"/>
            <a:chExt cx="9052560" cy="8412480"/>
          </a:xfrm>
        </p:grpSpPr>
        <p:sp>
          <p:nvSpPr>
            <p:cNvPr name="Freeform 23" id="23"/>
            <p:cNvSpPr/>
            <p:nvPr/>
          </p:nvSpPr>
          <p:spPr>
            <a:xfrm flipH="false" flipV="false" rot="0">
              <a:off x="0" y="0"/>
              <a:ext cx="9052560" cy="8412480"/>
            </a:xfrm>
            <a:custGeom>
              <a:avLst/>
              <a:gdLst/>
              <a:ahLst/>
              <a:cxnLst/>
              <a:rect r="r" b="b" t="t" l="l"/>
              <a:pathLst>
                <a:path h="8412480" w="9052560">
                  <a:moveTo>
                    <a:pt x="0" y="0"/>
                  </a:moveTo>
                  <a:lnTo>
                    <a:pt x="9052560" y="0"/>
                  </a:lnTo>
                  <a:lnTo>
                    <a:pt x="9052560" y="8412480"/>
                  </a:lnTo>
                  <a:lnTo>
                    <a:pt x="0" y="8412480"/>
                  </a:lnTo>
                  <a:close/>
                </a:path>
              </a:pathLst>
            </a:custGeom>
            <a:solidFill>
              <a:srgbClr val="F0F2EF"/>
            </a:solidFill>
          </p:spPr>
        </p:sp>
      </p:grpSp>
      <p:grpSp>
        <p:nvGrpSpPr>
          <p:cNvPr name="Group 24" id="24"/>
          <p:cNvGrpSpPr/>
          <p:nvPr/>
        </p:nvGrpSpPr>
        <p:grpSpPr>
          <a:xfrm rot="0">
            <a:off x="11384280" y="3099816"/>
            <a:ext cx="6309360" cy="521208"/>
            <a:chOff x="0" y="0"/>
            <a:chExt cx="8412480" cy="694944"/>
          </a:xfrm>
        </p:grpSpPr>
        <p:sp>
          <p:nvSpPr>
            <p:cNvPr name="Freeform 25" id="25"/>
            <p:cNvSpPr/>
            <p:nvPr/>
          </p:nvSpPr>
          <p:spPr>
            <a:xfrm flipH="false" flipV="false" rot="0">
              <a:off x="0" y="0"/>
              <a:ext cx="8412480" cy="694944"/>
            </a:xfrm>
            <a:custGeom>
              <a:avLst/>
              <a:gdLst/>
              <a:ahLst/>
              <a:cxnLst/>
              <a:rect r="r" b="b" t="t" l="l"/>
              <a:pathLst>
                <a:path h="694944" w="8412480">
                  <a:moveTo>
                    <a:pt x="0" y="0"/>
                  </a:moveTo>
                  <a:lnTo>
                    <a:pt x="8412480" y="0"/>
                  </a:lnTo>
                  <a:lnTo>
                    <a:pt x="8412480" y="694944"/>
                  </a:lnTo>
                  <a:lnTo>
                    <a:pt x="0" y="694944"/>
                  </a:lnTo>
                  <a:close/>
                </a:path>
              </a:pathLst>
            </a:custGeom>
            <a:blipFill>
              <a:blip r:embed="rId2">
                <a:alphaModFix amt="0"/>
              </a:blip>
              <a:stretch>
                <a:fillRect l="0" t="-185871" r="0" b="-185871"/>
              </a:stretch>
            </a:blipFill>
          </p:spPr>
        </p:sp>
        <p:sp>
          <p:nvSpPr>
            <p:cNvPr name="TextBox 26" id="26"/>
            <p:cNvSpPr txBox="true"/>
            <p:nvPr/>
          </p:nvSpPr>
          <p:spPr>
            <a:xfrm>
              <a:off x="0" y="-38100"/>
              <a:ext cx="8412480" cy="733044"/>
            </a:xfrm>
            <a:prstGeom prst="rect">
              <a:avLst/>
            </a:prstGeom>
          </p:spPr>
          <p:txBody>
            <a:bodyPr anchor="ctr" rtlCol="false" tIns="0" lIns="0" bIns="0" rIns="0"/>
            <a:lstStyle/>
            <a:p>
              <a:pPr algn="l">
                <a:lnSpc>
                  <a:spcPts val="2160"/>
                </a:lnSpc>
              </a:pPr>
              <a:r>
                <a:rPr lang="en-US" sz="1800" b="true">
                  <a:solidFill>
                    <a:srgbClr val="C89A1A"/>
                  </a:solidFill>
                  <a:latin typeface="Calibri (MS) Bold"/>
                  <a:ea typeface="Calibri (MS) Bold"/>
                  <a:cs typeface="Calibri (MS) Bold"/>
                  <a:sym typeface="Calibri (MS) Bold"/>
                </a:rPr>
                <a:t>Résultats du run (v2.4.0)</a:t>
              </a:r>
            </a:p>
          </p:txBody>
        </p:sp>
      </p:grpSp>
      <p:grpSp>
        <p:nvGrpSpPr>
          <p:cNvPr name="Group 27" id="27"/>
          <p:cNvGrpSpPr/>
          <p:nvPr/>
        </p:nvGrpSpPr>
        <p:grpSpPr>
          <a:xfrm rot="0">
            <a:off x="11384280" y="3607308"/>
            <a:ext cx="617220" cy="54864"/>
            <a:chOff x="0" y="0"/>
            <a:chExt cx="822960" cy="73152"/>
          </a:xfrm>
        </p:grpSpPr>
        <p:sp>
          <p:nvSpPr>
            <p:cNvPr name="Freeform 28" id="28"/>
            <p:cNvSpPr/>
            <p:nvPr/>
          </p:nvSpPr>
          <p:spPr>
            <a:xfrm flipH="false" flipV="false" rot="0">
              <a:off x="0" y="0"/>
              <a:ext cx="822960" cy="73152"/>
            </a:xfrm>
            <a:custGeom>
              <a:avLst/>
              <a:gdLst/>
              <a:ahLst/>
              <a:cxnLst/>
              <a:rect r="r" b="b" t="t" l="l"/>
              <a:pathLst>
                <a:path h="73152" w="822960">
                  <a:moveTo>
                    <a:pt x="0" y="0"/>
                  </a:moveTo>
                  <a:lnTo>
                    <a:pt x="822960" y="0"/>
                  </a:lnTo>
                  <a:lnTo>
                    <a:pt x="822960" y="73152"/>
                  </a:lnTo>
                  <a:lnTo>
                    <a:pt x="0" y="73152"/>
                  </a:lnTo>
                  <a:close/>
                </a:path>
              </a:pathLst>
            </a:custGeom>
            <a:solidFill>
              <a:srgbClr val="C89A1A"/>
            </a:solidFill>
          </p:spPr>
        </p:sp>
      </p:grpSp>
      <p:grpSp>
        <p:nvGrpSpPr>
          <p:cNvPr name="Group 29" id="29"/>
          <p:cNvGrpSpPr/>
          <p:nvPr/>
        </p:nvGrpSpPr>
        <p:grpSpPr>
          <a:xfrm rot="0">
            <a:off x="11247120" y="3703320"/>
            <a:ext cx="2990088" cy="1179576"/>
            <a:chOff x="0" y="0"/>
            <a:chExt cx="3986784" cy="1572768"/>
          </a:xfrm>
        </p:grpSpPr>
        <p:sp>
          <p:nvSpPr>
            <p:cNvPr name="Freeform 30" id="30"/>
            <p:cNvSpPr/>
            <p:nvPr/>
          </p:nvSpPr>
          <p:spPr>
            <a:xfrm flipH="false" flipV="false" rot="0">
              <a:off x="0" y="0"/>
              <a:ext cx="3986784" cy="1572768"/>
            </a:xfrm>
            <a:custGeom>
              <a:avLst/>
              <a:gdLst/>
              <a:ahLst/>
              <a:cxnLst/>
              <a:rect r="r" b="b" t="t" l="l"/>
              <a:pathLst>
                <a:path h="1572768" w="3986784">
                  <a:moveTo>
                    <a:pt x="0" y="0"/>
                  </a:moveTo>
                  <a:lnTo>
                    <a:pt x="3986784" y="0"/>
                  </a:lnTo>
                  <a:lnTo>
                    <a:pt x="3986784" y="1572768"/>
                  </a:lnTo>
                  <a:lnTo>
                    <a:pt x="0" y="1572768"/>
                  </a:lnTo>
                  <a:close/>
                </a:path>
              </a:pathLst>
            </a:custGeom>
            <a:solidFill>
              <a:srgbClr val="FAFBF9"/>
            </a:solidFill>
          </p:spPr>
        </p:sp>
      </p:grpSp>
      <p:grpSp>
        <p:nvGrpSpPr>
          <p:cNvPr name="Group 31" id="31"/>
          <p:cNvGrpSpPr/>
          <p:nvPr/>
        </p:nvGrpSpPr>
        <p:grpSpPr>
          <a:xfrm rot="0">
            <a:off x="11247120" y="3758184"/>
            <a:ext cx="2990088" cy="658368"/>
            <a:chOff x="0" y="0"/>
            <a:chExt cx="3986784" cy="877824"/>
          </a:xfrm>
        </p:grpSpPr>
        <p:sp>
          <p:nvSpPr>
            <p:cNvPr name="Freeform 32" id="32"/>
            <p:cNvSpPr/>
            <p:nvPr/>
          </p:nvSpPr>
          <p:spPr>
            <a:xfrm flipH="false" flipV="false" rot="0">
              <a:off x="0" y="0"/>
              <a:ext cx="3986784" cy="877824"/>
            </a:xfrm>
            <a:custGeom>
              <a:avLst/>
              <a:gdLst/>
              <a:ahLst/>
              <a:cxnLst/>
              <a:rect r="r" b="b" t="t" l="l"/>
              <a:pathLst>
                <a:path h="877824" w="3986784">
                  <a:moveTo>
                    <a:pt x="0" y="0"/>
                  </a:moveTo>
                  <a:lnTo>
                    <a:pt x="3986784" y="0"/>
                  </a:lnTo>
                  <a:lnTo>
                    <a:pt x="3986784" y="877824"/>
                  </a:lnTo>
                  <a:lnTo>
                    <a:pt x="0" y="877824"/>
                  </a:lnTo>
                  <a:close/>
                </a:path>
              </a:pathLst>
            </a:custGeom>
            <a:blipFill>
              <a:blip r:embed="rId2">
                <a:alphaModFix amt="0"/>
              </a:blip>
              <a:stretch>
                <a:fillRect l="0" t="-38494" r="0" b="-38494"/>
              </a:stretch>
            </a:blipFill>
          </p:spPr>
        </p:sp>
        <p:sp>
          <p:nvSpPr>
            <p:cNvPr name="TextBox 33" id="33"/>
            <p:cNvSpPr txBox="true"/>
            <p:nvPr/>
          </p:nvSpPr>
          <p:spPr>
            <a:xfrm>
              <a:off x="0" y="-66675"/>
              <a:ext cx="3986784" cy="944499"/>
            </a:xfrm>
            <a:prstGeom prst="rect">
              <a:avLst/>
            </a:prstGeom>
          </p:spPr>
          <p:txBody>
            <a:bodyPr anchor="ctr" rtlCol="false" tIns="0" lIns="0" bIns="0" rIns="0"/>
            <a:lstStyle/>
            <a:p>
              <a:pPr algn="ctr">
                <a:lnSpc>
                  <a:spcPts val="4320"/>
                </a:lnSpc>
              </a:pPr>
              <a:r>
                <a:rPr lang="en-US" sz="3600" b="true">
                  <a:solidFill>
                    <a:srgbClr val="1A6B52"/>
                  </a:solidFill>
                  <a:latin typeface="Calibri (MS) Bold"/>
                  <a:ea typeface="Calibri (MS) Bold"/>
                  <a:cs typeface="Calibri (MS) Bold"/>
                  <a:sym typeface="Calibri (MS) Bold"/>
                </a:rPr>
                <a:t>700</a:t>
              </a:r>
            </a:p>
          </p:txBody>
        </p:sp>
      </p:grpSp>
      <p:grpSp>
        <p:nvGrpSpPr>
          <p:cNvPr name="Group 34" id="34"/>
          <p:cNvGrpSpPr/>
          <p:nvPr/>
        </p:nvGrpSpPr>
        <p:grpSpPr>
          <a:xfrm rot="0">
            <a:off x="11247120" y="4430268"/>
            <a:ext cx="2990088" cy="384048"/>
            <a:chOff x="0" y="0"/>
            <a:chExt cx="3986784" cy="512064"/>
          </a:xfrm>
        </p:grpSpPr>
        <p:sp>
          <p:nvSpPr>
            <p:cNvPr name="Freeform 35" id="35"/>
            <p:cNvSpPr/>
            <p:nvPr/>
          </p:nvSpPr>
          <p:spPr>
            <a:xfrm flipH="false" flipV="false" rot="0">
              <a:off x="0" y="0"/>
              <a:ext cx="3986784" cy="512064"/>
            </a:xfrm>
            <a:custGeom>
              <a:avLst/>
              <a:gdLst/>
              <a:ahLst/>
              <a:cxnLst/>
              <a:rect r="r" b="b" t="t" l="l"/>
              <a:pathLst>
                <a:path h="512064" w="3986784">
                  <a:moveTo>
                    <a:pt x="0" y="0"/>
                  </a:moveTo>
                  <a:lnTo>
                    <a:pt x="3986784" y="0"/>
                  </a:lnTo>
                  <a:lnTo>
                    <a:pt x="3986784" y="512064"/>
                  </a:lnTo>
                  <a:lnTo>
                    <a:pt x="0" y="512064"/>
                  </a:lnTo>
                  <a:close/>
                </a:path>
              </a:pathLst>
            </a:custGeom>
            <a:blipFill>
              <a:blip r:embed="rId2">
                <a:alphaModFix amt="0"/>
              </a:blip>
              <a:stretch>
                <a:fillRect l="0" t="-101704" r="0" b="-101704"/>
              </a:stretch>
            </a:blipFill>
          </p:spPr>
        </p:sp>
        <p:sp>
          <p:nvSpPr>
            <p:cNvPr name="TextBox 36" id="36"/>
            <p:cNvSpPr txBox="true"/>
            <p:nvPr/>
          </p:nvSpPr>
          <p:spPr>
            <a:xfrm>
              <a:off x="0" y="-28575"/>
              <a:ext cx="3986784" cy="540639"/>
            </a:xfrm>
            <a:prstGeom prst="rect">
              <a:avLst/>
            </a:prstGeom>
          </p:spPr>
          <p:txBody>
            <a:bodyPr anchor="ctr" rtlCol="false" tIns="0" lIns="0" bIns="0" rIns="0"/>
            <a:lstStyle/>
            <a:p>
              <a:pPr algn="ctr">
                <a:lnSpc>
                  <a:spcPts val="1620"/>
                </a:lnSpc>
              </a:pPr>
              <a:r>
                <a:rPr lang="en-US" sz="1350">
                  <a:solidFill>
                    <a:srgbClr val="6B6B6B"/>
                  </a:solidFill>
                  <a:latin typeface="Calibri (MS)"/>
                  <a:ea typeface="Calibri (MS)"/>
                  <a:cs typeface="Calibri (MS)"/>
                  <a:sym typeface="Calibri (MS)"/>
                </a:rPr>
                <a:t>docs transformés</a:t>
              </a:r>
            </a:p>
          </p:txBody>
        </p:sp>
      </p:grpSp>
      <p:grpSp>
        <p:nvGrpSpPr>
          <p:cNvPr name="Group 37" id="37"/>
          <p:cNvGrpSpPr/>
          <p:nvPr/>
        </p:nvGrpSpPr>
        <p:grpSpPr>
          <a:xfrm rot="0">
            <a:off x="14429232" y="3703320"/>
            <a:ext cx="2990088" cy="1179576"/>
            <a:chOff x="0" y="0"/>
            <a:chExt cx="3986784" cy="1572768"/>
          </a:xfrm>
        </p:grpSpPr>
        <p:sp>
          <p:nvSpPr>
            <p:cNvPr name="Freeform 38" id="38"/>
            <p:cNvSpPr/>
            <p:nvPr/>
          </p:nvSpPr>
          <p:spPr>
            <a:xfrm flipH="false" flipV="false" rot="0">
              <a:off x="0" y="0"/>
              <a:ext cx="3986784" cy="1572768"/>
            </a:xfrm>
            <a:custGeom>
              <a:avLst/>
              <a:gdLst/>
              <a:ahLst/>
              <a:cxnLst/>
              <a:rect r="r" b="b" t="t" l="l"/>
              <a:pathLst>
                <a:path h="1572768" w="3986784">
                  <a:moveTo>
                    <a:pt x="0" y="0"/>
                  </a:moveTo>
                  <a:lnTo>
                    <a:pt x="3986784" y="0"/>
                  </a:lnTo>
                  <a:lnTo>
                    <a:pt x="3986784" y="1572768"/>
                  </a:lnTo>
                  <a:lnTo>
                    <a:pt x="0" y="1572768"/>
                  </a:lnTo>
                  <a:close/>
                </a:path>
              </a:pathLst>
            </a:custGeom>
            <a:solidFill>
              <a:srgbClr val="FAFBF9"/>
            </a:solidFill>
          </p:spPr>
        </p:sp>
      </p:grpSp>
      <p:grpSp>
        <p:nvGrpSpPr>
          <p:cNvPr name="Group 39" id="39"/>
          <p:cNvGrpSpPr/>
          <p:nvPr/>
        </p:nvGrpSpPr>
        <p:grpSpPr>
          <a:xfrm rot="0">
            <a:off x="14429232" y="3758184"/>
            <a:ext cx="2990088" cy="658368"/>
            <a:chOff x="0" y="0"/>
            <a:chExt cx="3986784" cy="877824"/>
          </a:xfrm>
        </p:grpSpPr>
        <p:sp>
          <p:nvSpPr>
            <p:cNvPr name="Freeform 40" id="40"/>
            <p:cNvSpPr/>
            <p:nvPr/>
          </p:nvSpPr>
          <p:spPr>
            <a:xfrm flipH="false" flipV="false" rot="0">
              <a:off x="0" y="0"/>
              <a:ext cx="3986784" cy="877824"/>
            </a:xfrm>
            <a:custGeom>
              <a:avLst/>
              <a:gdLst/>
              <a:ahLst/>
              <a:cxnLst/>
              <a:rect r="r" b="b" t="t" l="l"/>
              <a:pathLst>
                <a:path h="877824" w="3986784">
                  <a:moveTo>
                    <a:pt x="0" y="0"/>
                  </a:moveTo>
                  <a:lnTo>
                    <a:pt x="3986784" y="0"/>
                  </a:lnTo>
                  <a:lnTo>
                    <a:pt x="3986784" y="877824"/>
                  </a:lnTo>
                  <a:lnTo>
                    <a:pt x="0" y="877824"/>
                  </a:lnTo>
                  <a:close/>
                </a:path>
              </a:pathLst>
            </a:custGeom>
            <a:blipFill>
              <a:blip r:embed="rId2">
                <a:alphaModFix amt="0"/>
              </a:blip>
              <a:stretch>
                <a:fillRect l="0" t="-38494" r="0" b="-38494"/>
              </a:stretch>
            </a:blipFill>
          </p:spPr>
        </p:sp>
        <p:sp>
          <p:nvSpPr>
            <p:cNvPr name="TextBox 41" id="41"/>
            <p:cNvSpPr txBox="true"/>
            <p:nvPr/>
          </p:nvSpPr>
          <p:spPr>
            <a:xfrm>
              <a:off x="0" y="-66675"/>
              <a:ext cx="3986784" cy="944499"/>
            </a:xfrm>
            <a:prstGeom prst="rect">
              <a:avLst/>
            </a:prstGeom>
          </p:spPr>
          <p:txBody>
            <a:bodyPr anchor="ctr" rtlCol="false" tIns="0" lIns="0" bIns="0" rIns="0"/>
            <a:lstStyle/>
            <a:p>
              <a:pPr algn="ctr">
                <a:lnSpc>
                  <a:spcPts val="4320"/>
                </a:lnSpc>
              </a:pPr>
              <a:r>
                <a:rPr lang="en-US" sz="3600" b="true">
                  <a:solidFill>
                    <a:srgbClr val="C89A1A"/>
                  </a:solidFill>
                  <a:latin typeface="Calibri (MS) Bold"/>
                  <a:ea typeface="Calibri (MS) Bold"/>
                  <a:cs typeface="Calibri (MS) Bold"/>
                  <a:sym typeface="Calibri (MS) Bold"/>
                </a:rPr>
                <a:t>32 146</a:t>
              </a:r>
            </a:p>
          </p:txBody>
        </p:sp>
      </p:grpSp>
      <p:grpSp>
        <p:nvGrpSpPr>
          <p:cNvPr name="Group 42" id="42"/>
          <p:cNvGrpSpPr/>
          <p:nvPr/>
        </p:nvGrpSpPr>
        <p:grpSpPr>
          <a:xfrm rot="0">
            <a:off x="14429232" y="4430268"/>
            <a:ext cx="2990088" cy="384048"/>
            <a:chOff x="0" y="0"/>
            <a:chExt cx="3986784" cy="512064"/>
          </a:xfrm>
        </p:grpSpPr>
        <p:sp>
          <p:nvSpPr>
            <p:cNvPr name="Freeform 43" id="43"/>
            <p:cNvSpPr/>
            <p:nvPr/>
          </p:nvSpPr>
          <p:spPr>
            <a:xfrm flipH="false" flipV="false" rot="0">
              <a:off x="0" y="0"/>
              <a:ext cx="3986784" cy="512064"/>
            </a:xfrm>
            <a:custGeom>
              <a:avLst/>
              <a:gdLst/>
              <a:ahLst/>
              <a:cxnLst/>
              <a:rect r="r" b="b" t="t" l="l"/>
              <a:pathLst>
                <a:path h="512064" w="3986784">
                  <a:moveTo>
                    <a:pt x="0" y="0"/>
                  </a:moveTo>
                  <a:lnTo>
                    <a:pt x="3986784" y="0"/>
                  </a:lnTo>
                  <a:lnTo>
                    <a:pt x="3986784" y="512064"/>
                  </a:lnTo>
                  <a:lnTo>
                    <a:pt x="0" y="512064"/>
                  </a:lnTo>
                  <a:close/>
                </a:path>
              </a:pathLst>
            </a:custGeom>
            <a:blipFill>
              <a:blip r:embed="rId2">
                <a:alphaModFix amt="0"/>
              </a:blip>
              <a:stretch>
                <a:fillRect l="0" t="-101704" r="0" b="-101704"/>
              </a:stretch>
            </a:blipFill>
          </p:spPr>
        </p:sp>
        <p:sp>
          <p:nvSpPr>
            <p:cNvPr name="TextBox 44" id="44"/>
            <p:cNvSpPr txBox="true"/>
            <p:nvPr/>
          </p:nvSpPr>
          <p:spPr>
            <a:xfrm>
              <a:off x="0" y="-28575"/>
              <a:ext cx="3986784" cy="540639"/>
            </a:xfrm>
            <a:prstGeom prst="rect">
              <a:avLst/>
            </a:prstGeom>
          </p:spPr>
          <p:txBody>
            <a:bodyPr anchor="ctr" rtlCol="false" tIns="0" lIns="0" bIns="0" rIns="0"/>
            <a:lstStyle/>
            <a:p>
              <a:pPr algn="ctr">
                <a:lnSpc>
                  <a:spcPts val="1620"/>
                </a:lnSpc>
              </a:pPr>
              <a:r>
                <a:rPr lang="en-US" sz="1350">
                  <a:solidFill>
                    <a:srgbClr val="6B6B6B"/>
                  </a:solidFill>
                  <a:latin typeface="Calibri (MS)"/>
                  <a:ea typeface="Calibri (MS)"/>
                  <a:cs typeface="Calibri (MS)"/>
                  <a:sym typeface="Calibri (MS)"/>
                </a:rPr>
                <a:t>chunks produits</a:t>
              </a:r>
            </a:p>
          </p:txBody>
        </p:sp>
      </p:grpSp>
      <p:grpSp>
        <p:nvGrpSpPr>
          <p:cNvPr name="Group 45" id="45"/>
          <p:cNvGrpSpPr/>
          <p:nvPr/>
        </p:nvGrpSpPr>
        <p:grpSpPr>
          <a:xfrm rot="0">
            <a:off x="11247120" y="5074920"/>
            <a:ext cx="2990088" cy="1179576"/>
            <a:chOff x="0" y="0"/>
            <a:chExt cx="3986784" cy="1572768"/>
          </a:xfrm>
        </p:grpSpPr>
        <p:sp>
          <p:nvSpPr>
            <p:cNvPr name="Freeform 46" id="46"/>
            <p:cNvSpPr/>
            <p:nvPr/>
          </p:nvSpPr>
          <p:spPr>
            <a:xfrm flipH="false" flipV="false" rot="0">
              <a:off x="0" y="0"/>
              <a:ext cx="3986784" cy="1572768"/>
            </a:xfrm>
            <a:custGeom>
              <a:avLst/>
              <a:gdLst/>
              <a:ahLst/>
              <a:cxnLst/>
              <a:rect r="r" b="b" t="t" l="l"/>
              <a:pathLst>
                <a:path h="1572768" w="3986784">
                  <a:moveTo>
                    <a:pt x="0" y="0"/>
                  </a:moveTo>
                  <a:lnTo>
                    <a:pt x="3986784" y="0"/>
                  </a:lnTo>
                  <a:lnTo>
                    <a:pt x="3986784" y="1572768"/>
                  </a:lnTo>
                  <a:lnTo>
                    <a:pt x="0" y="1572768"/>
                  </a:lnTo>
                  <a:close/>
                </a:path>
              </a:pathLst>
            </a:custGeom>
            <a:solidFill>
              <a:srgbClr val="FAFBF9"/>
            </a:solidFill>
          </p:spPr>
        </p:sp>
      </p:grpSp>
      <p:grpSp>
        <p:nvGrpSpPr>
          <p:cNvPr name="Group 47" id="47"/>
          <p:cNvGrpSpPr/>
          <p:nvPr/>
        </p:nvGrpSpPr>
        <p:grpSpPr>
          <a:xfrm rot="0">
            <a:off x="11247120" y="5129784"/>
            <a:ext cx="2990088" cy="658368"/>
            <a:chOff x="0" y="0"/>
            <a:chExt cx="3986784" cy="877824"/>
          </a:xfrm>
        </p:grpSpPr>
        <p:sp>
          <p:nvSpPr>
            <p:cNvPr name="Freeform 48" id="48"/>
            <p:cNvSpPr/>
            <p:nvPr/>
          </p:nvSpPr>
          <p:spPr>
            <a:xfrm flipH="false" flipV="false" rot="0">
              <a:off x="0" y="0"/>
              <a:ext cx="3986784" cy="877824"/>
            </a:xfrm>
            <a:custGeom>
              <a:avLst/>
              <a:gdLst/>
              <a:ahLst/>
              <a:cxnLst/>
              <a:rect r="r" b="b" t="t" l="l"/>
              <a:pathLst>
                <a:path h="877824" w="3986784">
                  <a:moveTo>
                    <a:pt x="0" y="0"/>
                  </a:moveTo>
                  <a:lnTo>
                    <a:pt x="3986784" y="0"/>
                  </a:lnTo>
                  <a:lnTo>
                    <a:pt x="3986784" y="877824"/>
                  </a:lnTo>
                  <a:lnTo>
                    <a:pt x="0" y="877824"/>
                  </a:lnTo>
                  <a:close/>
                </a:path>
              </a:pathLst>
            </a:custGeom>
            <a:blipFill>
              <a:blip r:embed="rId2">
                <a:alphaModFix amt="0"/>
              </a:blip>
              <a:stretch>
                <a:fillRect l="0" t="-38494" r="0" b="-38494"/>
              </a:stretch>
            </a:blipFill>
          </p:spPr>
        </p:sp>
        <p:sp>
          <p:nvSpPr>
            <p:cNvPr name="TextBox 49" id="49"/>
            <p:cNvSpPr txBox="true"/>
            <p:nvPr/>
          </p:nvSpPr>
          <p:spPr>
            <a:xfrm>
              <a:off x="0" y="-66675"/>
              <a:ext cx="3986784" cy="944499"/>
            </a:xfrm>
            <a:prstGeom prst="rect">
              <a:avLst/>
            </a:prstGeom>
          </p:spPr>
          <p:txBody>
            <a:bodyPr anchor="ctr" rtlCol="false" tIns="0" lIns="0" bIns="0" rIns="0"/>
            <a:lstStyle/>
            <a:p>
              <a:pPr algn="ctr">
                <a:lnSpc>
                  <a:spcPts val="4320"/>
                </a:lnSpc>
              </a:pPr>
              <a:r>
                <a:rPr lang="en-US" sz="3600" b="true">
                  <a:solidFill>
                    <a:srgbClr val="1A6B52"/>
                  </a:solidFill>
                  <a:latin typeface="Calibri (MS) Bold"/>
                  <a:ea typeface="Calibri (MS) Bold"/>
                  <a:cs typeface="Calibri (MS) Bold"/>
                  <a:sym typeface="Calibri (MS) Bold"/>
                </a:rPr>
                <a:t>min 1</a:t>
              </a:r>
            </a:p>
          </p:txBody>
        </p:sp>
      </p:grpSp>
      <p:grpSp>
        <p:nvGrpSpPr>
          <p:cNvPr name="Group 50" id="50"/>
          <p:cNvGrpSpPr/>
          <p:nvPr/>
        </p:nvGrpSpPr>
        <p:grpSpPr>
          <a:xfrm rot="0">
            <a:off x="11247120" y="5801868"/>
            <a:ext cx="2990088" cy="384048"/>
            <a:chOff x="0" y="0"/>
            <a:chExt cx="3986784" cy="512064"/>
          </a:xfrm>
        </p:grpSpPr>
        <p:sp>
          <p:nvSpPr>
            <p:cNvPr name="Freeform 51" id="51"/>
            <p:cNvSpPr/>
            <p:nvPr/>
          </p:nvSpPr>
          <p:spPr>
            <a:xfrm flipH="false" flipV="false" rot="0">
              <a:off x="0" y="0"/>
              <a:ext cx="3986784" cy="512064"/>
            </a:xfrm>
            <a:custGeom>
              <a:avLst/>
              <a:gdLst/>
              <a:ahLst/>
              <a:cxnLst/>
              <a:rect r="r" b="b" t="t" l="l"/>
              <a:pathLst>
                <a:path h="512064" w="3986784">
                  <a:moveTo>
                    <a:pt x="0" y="0"/>
                  </a:moveTo>
                  <a:lnTo>
                    <a:pt x="3986784" y="0"/>
                  </a:lnTo>
                  <a:lnTo>
                    <a:pt x="3986784" y="512064"/>
                  </a:lnTo>
                  <a:lnTo>
                    <a:pt x="0" y="512064"/>
                  </a:lnTo>
                  <a:close/>
                </a:path>
              </a:pathLst>
            </a:custGeom>
            <a:blipFill>
              <a:blip r:embed="rId2">
                <a:alphaModFix amt="0"/>
              </a:blip>
              <a:stretch>
                <a:fillRect l="0" t="-101704" r="0" b="-101704"/>
              </a:stretch>
            </a:blipFill>
          </p:spPr>
        </p:sp>
        <p:sp>
          <p:nvSpPr>
            <p:cNvPr name="TextBox 52" id="52"/>
            <p:cNvSpPr txBox="true"/>
            <p:nvPr/>
          </p:nvSpPr>
          <p:spPr>
            <a:xfrm>
              <a:off x="0" y="-28575"/>
              <a:ext cx="3986784" cy="540639"/>
            </a:xfrm>
            <a:prstGeom prst="rect">
              <a:avLst/>
            </a:prstGeom>
          </p:spPr>
          <p:txBody>
            <a:bodyPr anchor="ctr" rtlCol="false" tIns="0" lIns="0" bIns="0" rIns="0"/>
            <a:lstStyle/>
            <a:p>
              <a:pPr algn="ctr">
                <a:lnSpc>
                  <a:spcPts val="1620"/>
                </a:lnSpc>
              </a:pPr>
              <a:r>
                <a:rPr lang="en-US" sz="1350">
                  <a:solidFill>
                    <a:srgbClr val="6B6B6B"/>
                  </a:solidFill>
                  <a:latin typeface="Calibri (MS)"/>
                  <a:ea typeface="Calibri (MS)"/>
                  <a:cs typeface="Calibri (MS)"/>
                  <a:sym typeface="Calibri (MS)"/>
                </a:rPr>
                <a:t>chunk / document</a:t>
              </a:r>
            </a:p>
          </p:txBody>
        </p:sp>
      </p:grpSp>
      <p:grpSp>
        <p:nvGrpSpPr>
          <p:cNvPr name="Group 53" id="53"/>
          <p:cNvGrpSpPr/>
          <p:nvPr/>
        </p:nvGrpSpPr>
        <p:grpSpPr>
          <a:xfrm rot="0">
            <a:off x="14429232" y="5074920"/>
            <a:ext cx="2990088" cy="1179576"/>
            <a:chOff x="0" y="0"/>
            <a:chExt cx="3986784" cy="1572768"/>
          </a:xfrm>
        </p:grpSpPr>
        <p:sp>
          <p:nvSpPr>
            <p:cNvPr name="Freeform 54" id="54"/>
            <p:cNvSpPr/>
            <p:nvPr/>
          </p:nvSpPr>
          <p:spPr>
            <a:xfrm flipH="false" flipV="false" rot="0">
              <a:off x="0" y="0"/>
              <a:ext cx="3986784" cy="1572768"/>
            </a:xfrm>
            <a:custGeom>
              <a:avLst/>
              <a:gdLst/>
              <a:ahLst/>
              <a:cxnLst/>
              <a:rect r="r" b="b" t="t" l="l"/>
              <a:pathLst>
                <a:path h="1572768" w="3986784">
                  <a:moveTo>
                    <a:pt x="0" y="0"/>
                  </a:moveTo>
                  <a:lnTo>
                    <a:pt x="3986784" y="0"/>
                  </a:lnTo>
                  <a:lnTo>
                    <a:pt x="3986784" y="1572768"/>
                  </a:lnTo>
                  <a:lnTo>
                    <a:pt x="0" y="1572768"/>
                  </a:lnTo>
                  <a:close/>
                </a:path>
              </a:pathLst>
            </a:custGeom>
            <a:solidFill>
              <a:srgbClr val="FAFBF9"/>
            </a:solidFill>
          </p:spPr>
        </p:sp>
      </p:grpSp>
      <p:grpSp>
        <p:nvGrpSpPr>
          <p:cNvPr name="Group 55" id="55"/>
          <p:cNvGrpSpPr/>
          <p:nvPr/>
        </p:nvGrpSpPr>
        <p:grpSpPr>
          <a:xfrm rot="0">
            <a:off x="14429232" y="5129784"/>
            <a:ext cx="2990088" cy="658368"/>
            <a:chOff x="0" y="0"/>
            <a:chExt cx="3986784" cy="877824"/>
          </a:xfrm>
        </p:grpSpPr>
        <p:sp>
          <p:nvSpPr>
            <p:cNvPr name="Freeform 56" id="56"/>
            <p:cNvSpPr/>
            <p:nvPr/>
          </p:nvSpPr>
          <p:spPr>
            <a:xfrm flipH="false" flipV="false" rot="0">
              <a:off x="0" y="0"/>
              <a:ext cx="3986784" cy="877824"/>
            </a:xfrm>
            <a:custGeom>
              <a:avLst/>
              <a:gdLst/>
              <a:ahLst/>
              <a:cxnLst/>
              <a:rect r="r" b="b" t="t" l="l"/>
              <a:pathLst>
                <a:path h="877824" w="3986784">
                  <a:moveTo>
                    <a:pt x="0" y="0"/>
                  </a:moveTo>
                  <a:lnTo>
                    <a:pt x="3986784" y="0"/>
                  </a:lnTo>
                  <a:lnTo>
                    <a:pt x="3986784" y="877824"/>
                  </a:lnTo>
                  <a:lnTo>
                    <a:pt x="0" y="877824"/>
                  </a:lnTo>
                  <a:close/>
                </a:path>
              </a:pathLst>
            </a:custGeom>
            <a:blipFill>
              <a:blip r:embed="rId2">
                <a:alphaModFix amt="0"/>
              </a:blip>
              <a:stretch>
                <a:fillRect l="0" t="-38494" r="0" b="-38494"/>
              </a:stretch>
            </a:blipFill>
          </p:spPr>
        </p:sp>
        <p:sp>
          <p:nvSpPr>
            <p:cNvPr name="TextBox 57" id="57"/>
            <p:cNvSpPr txBox="true"/>
            <p:nvPr/>
          </p:nvSpPr>
          <p:spPr>
            <a:xfrm>
              <a:off x="0" y="-66675"/>
              <a:ext cx="3986784" cy="944499"/>
            </a:xfrm>
            <a:prstGeom prst="rect">
              <a:avLst/>
            </a:prstGeom>
          </p:spPr>
          <p:txBody>
            <a:bodyPr anchor="ctr" rtlCol="false" tIns="0" lIns="0" bIns="0" rIns="0"/>
            <a:lstStyle/>
            <a:p>
              <a:pPr algn="ctr">
                <a:lnSpc>
                  <a:spcPts val="4320"/>
                </a:lnSpc>
              </a:pPr>
              <a:r>
                <a:rPr lang="en-US" sz="3600" b="true">
                  <a:solidFill>
                    <a:srgbClr val="1A6B52"/>
                  </a:solidFill>
                  <a:latin typeface="Calibri (MS) Bold"/>
                  <a:ea typeface="Calibri (MS) Bold"/>
                  <a:cs typeface="Calibri (MS) Bold"/>
                  <a:sym typeface="Calibri (MS) Bold"/>
                </a:rPr>
                <a:t>1,113</a:t>
              </a:r>
            </a:p>
          </p:txBody>
        </p:sp>
      </p:grpSp>
      <p:grpSp>
        <p:nvGrpSpPr>
          <p:cNvPr name="Group 58" id="58"/>
          <p:cNvGrpSpPr/>
          <p:nvPr/>
        </p:nvGrpSpPr>
        <p:grpSpPr>
          <a:xfrm rot="0">
            <a:off x="14429232" y="5801868"/>
            <a:ext cx="2990088" cy="384048"/>
            <a:chOff x="0" y="0"/>
            <a:chExt cx="3986784" cy="512064"/>
          </a:xfrm>
        </p:grpSpPr>
        <p:sp>
          <p:nvSpPr>
            <p:cNvPr name="Freeform 59" id="59"/>
            <p:cNvSpPr/>
            <p:nvPr/>
          </p:nvSpPr>
          <p:spPr>
            <a:xfrm flipH="false" flipV="false" rot="0">
              <a:off x="0" y="0"/>
              <a:ext cx="3986784" cy="512064"/>
            </a:xfrm>
            <a:custGeom>
              <a:avLst/>
              <a:gdLst/>
              <a:ahLst/>
              <a:cxnLst/>
              <a:rect r="r" b="b" t="t" l="l"/>
              <a:pathLst>
                <a:path h="512064" w="3986784">
                  <a:moveTo>
                    <a:pt x="0" y="0"/>
                  </a:moveTo>
                  <a:lnTo>
                    <a:pt x="3986784" y="0"/>
                  </a:lnTo>
                  <a:lnTo>
                    <a:pt x="3986784" y="512064"/>
                  </a:lnTo>
                  <a:lnTo>
                    <a:pt x="0" y="512064"/>
                  </a:lnTo>
                  <a:close/>
                </a:path>
              </a:pathLst>
            </a:custGeom>
            <a:blipFill>
              <a:blip r:embed="rId2">
                <a:alphaModFix amt="0"/>
              </a:blip>
              <a:stretch>
                <a:fillRect l="0" t="-101704" r="0" b="-101704"/>
              </a:stretch>
            </a:blipFill>
          </p:spPr>
        </p:sp>
        <p:sp>
          <p:nvSpPr>
            <p:cNvPr name="TextBox 60" id="60"/>
            <p:cNvSpPr txBox="true"/>
            <p:nvPr/>
          </p:nvSpPr>
          <p:spPr>
            <a:xfrm>
              <a:off x="0" y="-28575"/>
              <a:ext cx="3986784" cy="540639"/>
            </a:xfrm>
            <a:prstGeom prst="rect">
              <a:avLst/>
            </a:prstGeom>
          </p:spPr>
          <p:txBody>
            <a:bodyPr anchor="ctr" rtlCol="false" tIns="0" lIns="0" bIns="0" rIns="0"/>
            <a:lstStyle/>
            <a:p>
              <a:pPr algn="ctr">
                <a:lnSpc>
                  <a:spcPts val="1620"/>
                </a:lnSpc>
              </a:pPr>
              <a:r>
                <a:rPr lang="en-US" sz="1350">
                  <a:solidFill>
                    <a:srgbClr val="6B6B6B"/>
                  </a:solidFill>
                  <a:latin typeface="Calibri (MS)"/>
                  <a:ea typeface="Calibri (MS)"/>
                  <a:cs typeface="Calibri (MS)"/>
                  <a:sym typeface="Calibri (MS)"/>
                </a:rPr>
                <a:t>taux de rétention</a:t>
              </a:r>
            </a:p>
          </p:txBody>
        </p:sp>
      </p:grpSp>
      <p:grpSp>
        <p:nvGrpSpPr>
          <p:cNvPr name="Group 61" id="61"/>
          <p:cNvGrpSpPr/>
          <p:nvPr/>
        </p:nvGrpSpPr>
        <p:grpSpPr>
          <a:xfrm rot="0">
            <a:off x="11384280" y="6446520"/>
            <a:ext cx="6309360" cy="384048"/>
            <a:chOff x="0" y="0"/>
            <a:chExt cx="8412480" cy="512064"/>
          </a:xfrm>
        </p:grpSpPr>
        <p:sp>
          <p:nvSpPr>
            <p:cNvPr name="Freeform 62" id="62"/>
            <p:cNvSpPr/>
            <p:nvPr/>
          </p:nvSpPr>
          <p:spPr>
            <a:xfrm flipH="false" flipV="false" rot="0">
              <a:off x="0" y="0"/>
              <a:ext cx="8412480" cy="512064"/>
            </a:xfrm>
            <a:custGeom>
              <a:avLst/>
              <a:gdLst/>
              <a:ahLst/>
              <a:cxnLst/>
              <a:rect r="r" b="b" t="t" l="l"/>
              <a:pathLst>
                <a:path h="512064" w="8412480">
                  <a:moveTo>
                    <a:pt x="0" y="0"/>
                  </a:moveTo>
                  <a:lnTo>
                    <a:pt x="8412480" y="0"/>
                  </a:lnTo>
                  <a:lnTo>
                    <a:pt x="8412480" y="512064"/>
                  </a:lnTo>
                  <a:lnTo>
                    <a:pt x="0" y="512064"/>
                  </a:lnTo>
                  <a:close/>
                </a:path>
              </a:pathLst>
            </a:custGeom>
            <a:blipFill>
              <a:blip r:embed="rId2">
                <a:alphaModFix amt="0"/>
              </a:blip>
              <a:stretch>
                <a:fillRect l="0" t="-270111" r="0" b="-270111"/>
              </a:stretch>
            </a:blipFill>
          </p:spPr>
        </p:sp>
        <p:sp>
          <p:nvSpPr>
            <p:cNvPr name="TextBox 63" id="63"/>
            <p:cNvSpPr txBox="true"/>
            <p:nvPr/>
          </p:nvSpPr>
          <p:spPr>
            <a:xfrm>
              <a:off x="0" y="-38100"/>
              <a:ext cx="8412480" cy="550164"/>
            </a:xfrm>
            <a:prstGeom prst="rect">
              <a:avLst/>
            </a:prstGeom>
          </p:spPr>
          <p:txBody>
            <a:bodyPr anchor="ctr" rtlCol="false" tIns="0" lIns="0" bIns="0" rIns="0"/>
            <a:lstStyle/>
            <a:p>
              <a:pPr algn="l">
                <a:lnSpc>
                  <a:spcPts val="1800"/>
                </a:lnSpc>
              </a:pPr>
              <a:r>
                <a:rPr lang="en-US" sz="1500" b="true">
                  <a:solidFill>
                    <a:srgbClr val="1A1A1A"/>
                  </a:solidFill>
                  <a:latin typeface="Calibri (MS) Bold"/>
                  <a:ea typeface="Calibri (MS) Bold"/>
                  <a:cs typeface="Calibri (MS) Bold"/>
                  <a:sym typeface="Calibri (MS) Bold"/>
                </a:rPr>
                <a:t>Sections du corpus (% des documents)</a:t>
              </a:r>
            </a:p>
          </p:txBody>
        </p:sp>
      </p:grpSp>
      <p:grpSp>
        <p:nvGrpSpPr>
          <p:cNvPr name="Group 64" id="64"/>
          <p:cNvGrpSpPr/>
          <p:nvPr/>
        </p:nvGrpSpPr>
        <p:grpSpPr>
          <a:xfrm rot="0">
            <a:off x="11384280" y="6940296"/>
            <a:ext cx="1508760" cy="301752"/>
            <a:chOff x="0" y="0"/>
            <a:chExt cx="2011680" cy="402336"/>
          </a:xfrm>
        </p:grpSpPr>
        <p:sp>
          <p:nvSpPr>
            <p:cNvPr name="Freeform 65" id="65"/>
            <p:cNvSpPr/>
            <p:nvPr/>
          </p:nvSpPr>
          <p:spPr>
            <a:xfrm flipH="false" flipV="false" rot="0">
              <a:off x="0" y="0"/>
              <a:ext cx="2011680" cy="402336"/>
            </a:xfrm>
            <a:custGeom>
              <a:avLst/>
              <a:gdLst/>
              <a:ahLst/>
              <a:cxnLst/>
              <a:rect r="r" b="b" t="t" l="l"/>
              <a:pathLst>
                <a:path h="402336" w="2011680">
                  <a:moveTo>
                    <a:pt x="0" y="0"/>
                  </a:moveTo>
                  <a:lnTo>
                    <a:pt x="2011680" y="0"/>
                  </a:lnTo>
                  <a:lnTo>
                    <a:pt x="2011680" y="402336"/>
                  </a:lnTo>
                  <a:lnTo>
                    <a:pt x="0" y="402336"/>
                  </a:lnTo>
                  <a:close/>
                </a:path>
              </a:pathLst>
            </a:custGeom>
            <a:blipFill>
              <a:blip r:embed="rId2">
                <a:alphaModFix amt="0"/>
              </a:blip>
              <a:stretch>
                <a:fillRect l="0" t="-47425" r="0" b="-47425"/>
              </a:stretch>
            </a:blipFill>
          </p:spPr>
        </p:sp>
        <p:sp>
          <p:nvSpPr>
            <p:cNvPr name="TextBox 66" id="66"/>
            <p:cNvSpPr txBox="true"/>
            <p:nvPr/>
          </p:nvSpPr>
          <p:spPr>
            <a:xfrm>
              <a:off x="0" y="-28575"/>
              <a:ext cx="2011680" cy="430911"/>
            </a:xfrm>
            <a:prstGeom prst="rect">
              <a:avLst/>
            </a:prstGeom>
          </p:spPr>
          <p:txBody>
            <a:bodyPr anchor="ctr" rtlCol="false" tIns="0" lIns="0" bIns="0" rIns="0"/>
            <a:lstStyle/>
            <a:p>
              <a:pPr algn="l">
                <a:lnSpc>
                  <a:spcPts val="1530"/>
                </a:lnSpc>
              </a:pPr>
              <a:r>
                <a:rPr lang="en-US" sz="1275">
                  <a:solidFill>
                    <a:srgbClr val="6B6B6B"/>
                  </a:solidFill>
                  <a:latin typeface="Calibri (MS)"/>
                  <a:ea typeface="Calibri (MS)"/>
                  <a:cs typeface="Calibri (MS)"/>
                  <a:sym typeface="Calibri (MS)"/>
                </a:rPr>
                <a:t>Conclusion</a:t>
              </a:r>
            </a:p>
          </p:txBody>
        </p:sp>
      </p:grpSp>
      <p:grpSp>
        <p:nvGrpSpPr>
          <p:cNvPr name="Group 67" id="67"/>
          <p:cNvGrpSpPr/>
          <p:nvPr/>
        </p:nvGrpSpPr>
        <p:grpSpPr>
          <a:xfrm rot="0">
            <a:off x="13002768" y="6981444"/>
            <a:ext cx="4594860" cy="274320"/>
            <a:chOff x="0" y="0"/>
            <a:chExt cx="6126480" cy="365760"/>
          </a:xfrm>
        </p:grpSpPr>
        <p:sp>
          <p:nvSpPr>
            <p:cNvPr name="Freeform 68" id="68"/>
            <p:cNvSpPr/>
            <p:nvPr/>
          </p:nvSpPr>
          <p:spPr>
            <a:xfrm flipH="false" flipV="false" rot="0">
              <a:off x="0" y="0"/>
              <a:ext cx="6126480" cy="365760"/>
            </a:xfrm>
            <a:custGeom>
              <a:avLst/>
              <a:gdLst/>
              <a:ahLst/>
              <a:cxnLst/>
              <a:rect r="r" b="b" t="t" l="l"/>
              <a:pathLst>
                <a:path h="365760" w="6126480">
                  <a:moveTo>
                    <a:pt x="0" y="0"/>
                  </a:moveTo>
                  <a:lnTo>
                    <a:pt x="6126480" y="0"/>
                  </a:lnTo>
                  <a:lnTo>
                    <a:pt x="6126480" y="365760"/>
                  </a:lnTo>
                  <a:lnTo>
                    <a:pt x="0" y="365760"/>
                  </a:lnTo>
                  <a:close/>
                </a:path>
              </a:pathLst>
            </a:custGeom>
            <a:solidFill>
              <a:srgbClr val="E4E8E1"/>
            </a:solidFill>
          </p:spPr>
        </p:sp>
      </p:grpSp>
      <p:grpSp>
        <p:nvGrpSpPr>
          <p:cNvPr name="Group 69" id="69"/>
          <p:cNvGrpSpPr/>
          <p:nvPr/>
        </p:nvGrpSpPr>
        <p:grpSpPr>
          <a:xfrm rot="0">
            <a:off x="13002768" y="6981444"/>
            <a:ext cx="3188837" cy="274320"/>
            <a:chOff x="0" y="0"/>
            <a:chExt cx="4251782" cy="365760"/>
          </a:xfrm>
        </p:grpSpPr>
        <p:sp>
          <p:nvSpPr>
            <p:cNvPr name="Freeform 70" id="70"/>
            <p:cNvSpPr/>
            <p:nvPr/>
          </p:nvSpPr>
          <p:spPr>
            <a:xfrm flipH="false" flipV="false" rot="0">
              <a:off x="0" y="0"/>
              <a:ext cx="4251833" cy="365760"/>
            </a:xfrm>
            <a:custGeom>
              <a:avLst/>
              <a:gdLst/>
              <a:ahLst/>
              <a:cxnLst/>
              <a:rect r="r" b="b" t="t" l="l"/>
              <a:pathLst>
                <a:path h="365760" w="4251833">
                  <a:moveTo>
                    <a:pt x="0" y="0"/>
                  </a:moveTo>
                  <a:lnTo>
                    <a:pt x="4251833" y="0"/>
                  </a:lnTo>
                  <a:lnTo>
                    <a:pt x="4251833" y="365760"/>
                  </a:lnTo>
                  <a:lnTo>
                    <a:pt x="0" y="365760"/>
                  </a:lnTo>
                  <a:close/>
                </a:path>
              </a:pathLst>
            </a:custGeom>
            <a:solidFill>
              <a:srgbClr val="1A6B52"/>
            </a:solidFill>
          </p:spPr>
        </p:sp>
      </p:grpSp>
      <p:grpSp>
        <p:nvGrpSpPr>
          <p:cNvPr name="Group 71" id="71"/>
          <p:cNvGrpSpPr/>
          <p:nvPr/>
        </p:nvGrpSpPr>
        <p:grpSpPr>
          <a:xfrm rot="0">
            <a:off x="17666208" y="6940296"/>
            <a:ext cx="754380" cy="301752"/>
            <a:chOff x="0" y="0"/>
            <a:chExt cx="1005840" cy="402336"/>
          </a:xfrm>
        </p:grpSpPr>
        <p:sp>
          <p:nvSpPr>
            <p:cNvPr name="Freeform 72" id="72"/>
            <p:cNvSpPr/>
            <p:nvPr/>
          </p:nvSpPr>
          <p:spPr>
            <a:xfrm flipH="false" flipV="false" rot="0">
              <a:off x="0" y="0"/>
              <a:ext cx="1005840" cy="402336"/>
            </a:xfrm>
            <a:custGeom>
              <a:avLst/>
              <a:gdLst/>
              <a:ahLst/>
              <a:cxnLst/>
              <a:rect r="r" b="b" t="t" l="l"/>
              <a:pathLst>
                <a:path h="402336" w="1005840">
                  <a:moveTo>
                    <a:pt x="0" y="0"/>
                  </a:moveTo>
                  <a:lnTo>
                    <a:pt x="1005840" y="0"/>
                  </a:lnTo>
                  <a:lnTo>
                    <a:pt x="1005840" y="402336"/>
                  </a:lnTo>
                  <a:lnTo>
                    <a:pt x="0" y="402336"/>
                  </a:lnTo>
                  <a:close/>
                </a:path>
              </a:pathLst>
            </a:custGeom>
            <a:blipFill>
              <a:blip r:embed="rId2">
                <a:alphaModFix amt="0"/>
              </a:blip>
              <a:stretch>
                <a:fillRect l="-1321" t="0" r="-1321" b="0"/>
              </a:stretch>
            </a:blipFill>
          </p:spPr>
        </p:sp>
        <p:sp>
          <p:nvSpPr>
            <p:cNvPr name="TextBox 73" id="73"/>
            <p:cNvSpPr txBox="true"/>
            <p:nvPr/>
          </p:nvSpPr>
          <p:spPr>
            <a:xfrm>
              <a:off x="0" y="-28575"/>
              <a:ext cx="1005840" cy="430911"/>
            </a:xfrm>
            <a:prstGeom prst="rect">
              <a:avLst/>
            </a:prstGeom>
          </p:spPr>
          <p:txBody>
            <a:bodyPr anchor="ctr" rtlCol="false" tIns="0" lIns="0" bIns="0" rIns="0"/>
            <a:lstStyle/>
            <a:p>
              <a:pPr algn="l">
                <a:lnSpc>
                  <a:spcPts val="1530"/>
                </a:lnSpc>
              </a:pPr>
              <a:r>
                <a:rPr lang="en-US" sz="1275" b="true">
                  <a:solidFill>
                    <a:srgbClr val="1A6B52"/>
                  </a:solidFill>
                  <a:latin typeface="Calibri (MS) Bold"/>
                  <a:ea typeface="Calibri (MS) Bold"/>
                  <a:cs typeface="Calibri (MS) Bold"/>
                  <a:sym typeface="Calibri (MS) Bold"/>
                </a:rPr>
                <a:t>69 %</a:t>
              </a:r>
            </a:p>
          </p:txBody>
        </p:sp>
      </p:grpSp>
      <p:grpSp>
        <p:nvGrpSpPr>
          <p:cNvPr name="Group 74" id="74"/>
          <p:cNvGrpSpPr/>
          <p:nvPr/>
        </p:nvGrpSpPr>
        <p:grpSpPr>
          <a:xfrm rot="0">
            <a:off x="11384280" y="7530084"/>
            <a:ext cx="1508760" cy="301752"/>
            <a:chOff x="0" y="0"/>
            <a:chExt cx="2011680" cy="402336"/>
          </a:xfrm>
        </p:grpSpPr>
        <p:sp>
          <p:nvSpPr>
            <p:cNvPr name="Freeform 75" id="75"/>
            <p:cNvSpPr/>
            <p:nvPr/>
          </p:nvSpPr>
          <p:spPr>
            <a:xfrm flipH="false" flipV="false" rot="0">
              <a:off x="0" y="0"/>
              <a:ext cx="2011680" cy="402336"/>
            </a:xfrm>
            <a:custGeom>
              <a:avLst/>
              <a:gdLst/>
              <a:ahLst/>
              <a:cxnLst/>
              <a:rect r="r" b="b" t="t" l="l"/>
              <a:pathLst>
                <a:path h="402336" w="2011680">
                  <a:moveTo>
                    <a:pt x="0" y="0"/>
                  </a:moveTo>
                  <a:lnTo>
                    <a:pt x="2011680" y="0"/>
                  </a:lnTo>
                  <a:lnTo>
                    <a:pt x="2011680" y="402336"/>
                  </a:lnTo>
                  <a:lnTo>
                    <a:pt x="0" y="402336"/>
                  </a:lnTo>
                  <a:close/>
                </a:path>
              </a:pathLst>
            </a:custGeom>
            <a:blipFill>
              <a:blip r:embed="rId2">
                <a:alphaModFix amt="0"/>
              </a:blip>
              <a:stretch>
                <a:fillRect l="0" t="-47425" r="0" b="-47425"/>
              </a:stretch>
            </a:blipFill>
          </p:spPr>
        </p:sp>
        <p:sp>
          <p:nvSpPr>
            <p:cNvPr name="TextBox 76" id="76"/>
            <p:cNvSpPr txBox="true"/>
            <p:nvPr/>
          </p:nvSpPr>
          <p:spPr>
            <a:xfrm>
              <a:off x="0" y="-28575"/>
              <a:ext cx="2011680" cy="430911"/>
            </a:xfrm>
            <a:prstGeom prst="rect">
              <a:avLst/>
            </a:prstGeom>
          </p:spPr>
          <p:txBody>
            <a:bodyPr anchor="ctr" rtlCol="false" tIns="0" lIns="0" bIns="0" rIns="0"/>
            <a:lstStyle/>
            <a:p>
              <a:pPr algn="l">
                <a:lnSpc>
                  <a:spcPts val="1530"/>
                </a:lnSpc>
              </a:pPr>
              <a:r>
                <a:rPr lang="en-US" sz="1275">
                  <a:solidFill>
                    <a:srgbClr val="6B6B6B"/>
                  </a:solidFill>
                  <a:latin typeface="Calibri (MS)"/>
                  <a:ea typeface="Calibri (MS)"/>
                  <a:cs typeface="Calibri (MS)"/>
                  <a:sym typeface="Calibri (MS)"/>
                </a:rPr>
                <a:t>Introduction</a:t>
              </a:r>
            </a:p>
          </p:txBody>
        </p:sp>
      </p:grpSp>
      <p:grpSp>
        <p:nvGrpSpPr>
          <p:cNvPr name="Group 77" id="77"/>
          <p:cNvGrpSpPr/>
          <p:nvPr/>
        </p:nvGrpSpPr>
        <p:grpSpPr>
          <a:xfrm rot="0">
            <a:off x="13002768" y="7571232"/>
            <a:ext cx="4594860" cy="274320"/>
            <a:chOff x="0" y="0"/>
            <a:chExt cx="6126480" cy="365760"/>
          </a:xfrm>
        </p:grpSpPr>
        <p:sp>
          <p:nvSpPr>
            <p:cNvPr name="Freeform 78" id="78"/>
            <p:cNvSpPr/>
            <p:nvPr/>
          </p:nvSpPr>
          <p:spPr>
            <a:xfrm flipH="false" flipV="false" rot="0">
              <a:off x="0" y="0"/>
              <a:ext cx="6126480" cy="365760"/>
            </a:xfrm>
            <a:custGeom>
              <a:avLst/>
              <a:gdLst/>
              <a:ahLst/>
              <a:cxnLst/>
              <a:rect r="r" b="b" t="t" l="l"/>
              <a:pathLst>
                <a:path h="365760" w="6126480">
                  <a:moveTo>
                    <a:pt x="0" y="0"/>
                  </a:moveTo>
                  <a:lnTo>
                    <a:pt x="6126480" y="0"/>
                  </a:lnTo>
                  <a:lnTo>
                    <a:pt x="6126480" y="365760"/>
                  </a:lnTo>
                  <a:lnTo>
                    <a:pt x="0" y="365760"/>
                  </a:lnTo>
                  <a:close/>
                </a:path>
              </a:pathLst>
            </a:custGeom>
            <a:solidFill>
              <a:srgbClr val="E4E8E1"/>
            </a:solidFill>
          </p:spPr>
        </p:sp>
      </p:grpSp>
      <p:grpSp>
        <p:nvGrpSpPr>
          <p:cNvPr name="Group 79" id="79"/>
          <p:cNvGrpSpPr/>
          <p:nvPr/>
        </p:nvGrpSpPr>
        <p:grpSpPr>
          <a:xfrm rot="0">
            <a:off x="13002768" y="7571232"/>
            <a:ext cx="2591505" cy="274320"/>
            <a:chOff x="0" y="0"/>
            <a:chExt cx="3455340" cy="365760"/>
          </a:xfrm>
        </p:grpSpPr>
        <p:sp>
          <p:nvSpPr>
            <p:cNvPr name="Freeform 80" id="80"/>
            <p:cNvSpPr/>
            <p:nvPr/>
          </p:nvSpPr>
          <p:spPr>
            <a:xfrm flipH="false" flipV="false" rot="0">
              <a:off x="0" y="0"/>
              <a:ext cx="3455289" cy="365760"/>
            </a:xfrm>
            <a:custGeom>
              <a:avLst/>
              <a:gdLst/>
              <a:ahLst/>
              <a:cxnLst/>
              <a:rect r="r" b="b" t="t" l="l"/>
              <a:pathLst>
                <a:path h="365760" w="3455289">
                  <a:moveTo>
                    <a:pt x="0" y="0"/>
                  </a:moveTo>
                  <a:lnTo>
                    <a:pt x="3455289" y="0"/>
                  </a:lnTo>
                  <a:lnTo>
                    <a:pt x="3455289" y="365760"/>
                  </a:lnTo>
                  <a:lnTo>
                    <a:pt x="0" y="365760"/>
                  </a:lnTo>
                  <a:close/>
                </a:path>
              </a:pathLst>
            </a:custGeom>
            <a:solidFill>
              <a:srgbClr val="3D8A68"/>
            </a:solidFill>
          </p:spPr>
        </p:sp>
      </p:grpSp>
      <p:grpSp>
        <p:nvGrpSpPr>
          <p:cNvPr name="Group 81" id="81"/>
          <p:cNvGrpSpPr/>
          <p:nvPr/>
        </p:nvGrpSpPr>
        <p:grpSpPr>
          <a:xfrm rot="0">
            <a:off x="17666208" y="7530084"/>
            <a:ext cx="754380" cy="301752"/>
            <a:chOff x="0" y="0"/>
            <a:chExt cx="1005840" cy="402336"/>
          </a:xfrm>
        </p:grpSpPr>
        <p:sp>
          <p:nvSpPr>
            <p:cNvPr name="Freeform 82" id="82"/>
            <p:cNvSpPr/>
            <p:nvPr/>
          </p:nvSpPr>
          <p:spPr>
            <a:xfrm flipH="false" flipV="false" rot="0">
              <a:off x="0" y="0"/>
              <a:ext cx="1005840" cy="402336"/>
            </a:xfrm>
            <a:custGeom>
              <a:avLst/>
              <a:gdLst/>
              <a:ahLst/>
              <a:cxnLst/>
              <a:rect r="r" b="b" t="t" l="l"/>
              <a:pathLst>
                <a:path h="402336" w="1005840">
                  <a:moveTo>
                    <a:pt x="0" y="0"/>
                  </a:moveTo>
                  <a:lnTo>
                    <a:pt x="1005840" y="0"/>
                  </a:lnTo>
                  <a:lnTo>
                    <a:pt x="1005840" y="402336"/>
                  </a:lnTo>
                  <a:lnTo>
                    <a:pt x="0" y="402336"/>
                  </a:lnTo>
                  <a:close/>
                </a:path>
              </a:pathLst>
            </a:custGeom>
            <a:blipFill>
              <a:blip r:embed="rId2">
                <a:alphaModFix amt="0"/>
              </a:blip>
              <a:stretch>
                <a:fillRect l="-1321" t="0" r="-1321" b="0"/>
              </a:stretch>
            </a:blipFill>
          </p:spPr>
        </p:sp>
        <p:sp>
          <p:nvSpPr>
            <p:cNvPr name="TextBox 83" id="83"/>
            <p:cNvSpPr txBox="true"/>
            <p:nvPr/>
          </p:nvSpPr>
          <p:spPr>
            <a:xfrm>
              <a:off x="0" y="-28575"/>
              <a:ext cx="1005840" cy="430911"/>
            </a:xfrm>
            <a:prstGeom prst="rect">
              <a:avLst/>
            </a:prstGeom>
          </p:spPr>
          <p:txBody>
            <a:bodyPr anchor="ctr" rtlCol="false" tIns="0" lIns="0" bIns="0" rIns="0"/>
            <a:lstStyle/>
            <a:p>
              <a:pPr algn="l">
                <a:lnSpc>
                  <a:spcPts val="1530"/>
                </a:lnSpc>
              </a:pPr>
              <a:r>
                <a:rPr lang="en-US" sz="1275" b="true">
                  <a:solidFill>
                    <a:srgbClr val="3D8A68"/>
                  </a:solidFill>
                  <a:latin typeface="Calibri (MS) Bold"/>
                  <a:ea typeface="Calibri (MS) Bold"/>
                  <a:cs typeface="Calibri (MS) Bold"/>
                  <a:sym typeface="Calibri (MS) Bold"/>
                </a:rPr>
                <a:t>56 %</a:t>
              </a:r>
            </a:p>
          </p:txBody>
        </p:sp>
      </p:grpSp>
      <p:grpSp>
        <p:nvGrpSpPr>
          <p:cNvPr name="Group 84" id="84"/>
          <p:cNvGrpSpPr/>
          <p:nvPr/>
        </p:nvGrpSpPr>
        <p:grpSpPr>
          <a:xfrm rot="0">
            <a:off x="11384280" y="8119872"/>
            <a:ext cx="1508760" cy="301752"/>
            <a:chOff x="0" y="0"/>
            <a:chExt cx="2011680" cy="402336"/>
          </a:xfrm>
        </p:grpSpPr>
        <p:sp>
          <p:nvSpPr>
            <p:cNvPr name="Freeform 85" id="85"/>
            <p:cNvSpPr/>
            <p:nvPr/>
          </p:nvSpPr>
          <p:spPr>
            <a:xfrm flipH="false" flipV="false" rot="0">
              <a:off x="0" y="0"/>
              <a:ext cx="2011680" cy="402336"/>
            </a:xfrm>
            <a:custGeom>
              <a:avLst/>
              <a:gdLst/>
              <a:ahLst/>
              <a:cxnLst/>
              <a:rect r="r" b="b" t="t" l="l"/>
              <a:pathLst>
                <a:path h="402336" w="2011680">
                  <a:moveTo>
                    <a:pt x="0" y="0"/>
                  </a:moveTo>
                  <a:lnTo>
                    <a:pt x="2011680" y="0"/>
                  </a:lnTo>
                  <a:lnTo>
                    <a:pt x="2011680" y="402336"/>
                  </a:lnTo>
                  <a:lnTo>
                    <a:pt x="0" y="402336"/>
                  </a:lnTo>
                  <a:close/>
                </a:path>
              </a:pathLst>
            </a:custGeom>
            <a:blipFill>
              <a:blip r:embed="rId2">
                <a:alphaModFix amt="0"/>
              </a:blip>
              <a:stretch>
                <a:fillRect l="0" t="-47425" r="0" b="-47425"/>
              </a:stretch>
            </a:blipFill>
          </p:spPr>
        </p:sp>
        <p:sp>
          <p:nvSpPr>
            <p:cNvPr name="TextBox 86" id="86"/>
            <p:cNvSpPr txBox="true"/>
            <p:nvPr/>
          </p:nvSpPr>
          <p:spPr>
            <a:xfrm>
              <a:off x="0" y="-28575"/>
              <a:ext cx="2011680" cy="430911"/>
            </a:xfrm>
            <a:prstGeom prst="rect">
              <a:avLst/>
            </a:prstGeom>
          </p:spPr>
          <p:txBody>
            <a:bodyPr anchor="ctr" rtlCol="false" tIns="0" lIns="0" bIns="0" rIns="0"/>
            <a:lstStyle/>
            <a:p>
              <a:pPr algn="l">
                <a:lnSpc>
                  <a:spcPts val="1530"/>
                </a:lnSpc>
              </a:pPr>
              <a:r>
                <a:rPr lang="en-US" sz="1275">
                  <a:solidFill>
                    <a:srgbClr val="6B6B6B"/>
                  </a:solidFill>
                  <a:latin typeface="Calibri (MS)"/>
                  <a:ea typeface="Calibri (MS)"/>
                  <a:cs typeface="Calibri (MS)"/>
                  <a:sym typeface="Calibri (MS)"/>
                </a:rPr>
                <a:t>Results</a:t>
              </a:r>
            </a:p>
          </p:txBody>
        </p:sp>
      </p:grpSp>
      <p:grpSp>
        <p:nvGrpSpPr>
          <p:cNvPr name="Group 87" id="87"/>
          <p:cNvGrpSpPr/>
          <p:nvPr/>
        </p:nvGrpSpPr>
        <p:grpSpPr>
          <a:xfrm rot="0">
            <a:off x="13002768" y="8161020"/>
            <a:ext cx="4594860" cy="274320"/>
            <a:chOff x="0" y="0"/>
            <a:chExt cx="6126480" cy="365760"/>
          </a:xfrm>
        </p:grpSpPr>
        <p:sp>
          <p:nvSpPr>
            <p:cNvPr name="Freeform 88" id="88"/>
            <p:cNvSpPr/>
            <p:nvPr/>
          </p:nvSpPr>
          <p:spPr>
            <a:xfrm flipH="false" flipV="false" rot="0">
              <a:off x="0" y="0"/>
              <a:ext cx="6126480" cy="365760"/>
            </a:xfrm>
            <a:custGeom>
              <a:avLst/>
              <a:gdLst/>
              <a:ahLst/>
              <a:cxnLst/>
              <a:rect r="r" b="b" t="t" l="l"/>
              <a:pathLst>
                <a:path h="365760" w="6126480">
                  <a:moveTo>
                    <a:pt x="0" y="0"/>
                  </a:moveTo>
                  <a:lnTo>
                    <a:pt x="6126480" y="0"/>
                  </a:lnTo>
                  <a:lnTo>
                    <a:pt x="6126480" y="365760"/>
                  </a:lnTo>
                  <a:lnTo>
                    <a:pt x="0" y="365760"/>
                  </a:lnTo>
                  <a:close/>
                </a:path>
              </a:pathLst>
            </a:custGeom>
            <a:solidFill>
              <a:srgbClr val="E4E8E1"/>
            </a:solidFill>
          </p:spPr>
        </p:sp>
      </p:grpSp>
      <p:grpSp>
        <p:nvGrpSpPr>
          <p:cNvPr name="Group 89" id="89"/>
          <p:cNvGrpSpPr/>
          <p:nvPr/>
        </p:nvGrpSpPr>
        <p:grpSpPr>
          <a:xfrm rot="0">
            <a:off x="13002768" y="8161020"/>
            <a:ext cx="2554738" cy="274320"/>
            <a:chOff x="0" y="0"/>
            <a:chExt cx="3406318" cy="365760"/>
          </a:xfrm>
        </p:grpSpPr>
        <p:sp>
          <p:nvSpPr>
            <p:cNvPr name="Freeform 90" id="90"/>
            <p:cNvSpPr/>
            <p:nvPr/>
          </p:nvSpPr>
          <p:spPr>
            <a:xfrm flipH="false" flipV="false" rot="0">
              <a:off x="0" y="0"/>
              <a:ext cx="3406267" cy="365760"/>
            </a:xfrm>
            <a:custGeom>
              <a:avLst/>
              <a:gdLst/>
              <a:ahLst/>
              <a:cxnLst/>
              <a:rect r="r" b="b" t="t" l="l"/>
              <a:pathLst>
                <a:path h="365760" w="3406267">
                  <a:moveTo>
                    <a:pt x="0" y="0"/>
                  </a:moveTo>
                  <a:lnTo>
                    <a:pt x="3406267" y="0"/>
                  </a:lnTo>
                  <a:lnTo>
                    <a:pt x="3406267" y="365760"/>
                  </a:lnTo>
                  <a:lnTo>
                    <a:pt x="0" y="365760"/>
                  </a:lnTo>
                  <a:close/>
                </a:path>
              </a:pathLst>
            </a:custGeom>
            <a:solidFill>
              <a:srgbClr val="3D8A68"/>
            </a:solidFill>
          </p:spPr>
        </p:sp>
      </p:grpSp>
      <p:grpSp>
        <p:nvGrpSpPr>
          <p:cNvPr name="Group 91" id="91"/>
          <p:cNvGrpSpPr/>
          <p:nvPr/>
        </p:nvGrpSpPr>
        <p:grpSpPr>
          <a:xfrm rot="0">
            <a:off x="17666208" y="8119872"/>
            <a:ext cx="754380" cy="301752"/>
            <a:chOff x="0" y="0"/>
            <a:chExt cx="1005840" cy="402336"/>
          </a:xfrm>
        </p:grpSpPr>
        <p:sp>
          <p:nvSpPr>
            <p:cNvPr name="Freeform 92" id="92"/>
            <p:cNvSpPr/>
            <p:nvPr/>
          </p:nvSpPr>
          <p:spPr>
            <a:xfrm flipH="false" flipV="false" rot="0">
              <a:off x="0" y="0"/>
              <a:ext cx="1005840" cy="402336"/>
            </a:xfrm>
            <a:custGeom>
              <a:avLst/>
              <a:gdLst/>
              <a:ahLst/>
              <a:cxnLst/>
              <a:rect r="r" b="b" t="t" l="l"/>
              <a:pathLst>
                <a:path h="402336" w="1005840">
                  <a:moveTo>
                    <a:pt x="0" y="0"/>
                  </a:moveTo>
                  <a:lnTo>
                    <a:pt x="1005840" y="0"/>
                  </a:lnTo>
                  <a:lnTo>
                    <a:pt x="1005840" y="402336"/>
                  </a:lnTo>
                  <a:lnTo>
                    <a:pt x="0" y="402336"/>
                  </a:lnTo>
                  <a:close/>
                </a:path>
              </a:pathLst>
            </a:custGeom>
            <a:blipFill>
              <a:blip r:embed="rId2">
                <a:alphaModFix amt="0"/>
              </a:blip>
              <a:stretch>
                <a:fillRect l="-1321" t="0" r="-1321" b="0"/>
              </a:stretch>
            </a:blipFill>
          </p:spPr>
        </p:sp>
        <p:sp>
          <p:nvSpPr>
            <p:cNvPr name="TextBox 93" id="93"/>
            <p:cNvSpPr txBox="true"/>
            <p:nvPr/>
          </p:nvSpPr>
          <p:spPr>
            <a:xfrm>
              <a:off x="0" y="-28575"/>
              <a:ext cx="1005840" cy="430911"/>
            </a:xfrm>
            <a:prstGeom prst="rect">
              <a:avLst/>
            </a:prstGeom>
          </p:spPr>
          <p:txBody>
            <a:bodyPr anchor="ctr" rtlCol="false" tIns="0" lIns="0" bIns="0" rIns="0"/>
            <a:lstStyle/>
            <a:p>
              <a:pPr algn="l">
                <a:lnSpc>
                  <a:spcPts val="1530"/>
                </a:lnSpc>
              </a:pPr>
              <a:r>
                <a:rPr lang="en-US" sz="1275" b="true">
                  <a:solidFill>
                    <a:srgbClr val="3D8A68"/>
                  </a:solidFill>
                  <a:latin typeface="Calibri (MS) Bold"/>
                  <a:ea typeface="Calibri (MS) Bold"/>
                  <a:cs typeface="Calibri (MS) Bold"/>
                  <a:sym typeface="Calibri (MS) Bold"/>
                </a:rPr>
                <a:t>56 %</a:t>
              </a:r>
            </a:p>
          </p:txBody>
        </p:sp>
      </p:grpSp>
      <p:grpSp>
        <p:nvGrpSpPr>
          <p:cNvPr name="Group 94" id="94"/>
          <p:cNvGrpSpPr/>
          <p:nvPr/>
        </p:nvGrpSpPr>
        <p:grpSpPr>
          <a:xfrm rot="0">
            <a:off x="11384280" y="8709660"/>
            <a:ext cx="1508760" cy="301752"/>
            <a:chOff x="0" y="0"/>
            <a:chExt cx="2011680" cy="402336"/>
          </a:xfrm>
        </p:grpSpPr>
        <p:sp>
          <p:nvSpPr>
            <p:cNvPr name="Freeform 95" id="95"/>
            <p:cNvSpPr/>
            <p:nvPr/>
          </p:nvSpPr>
          <p:spPr>
            <a:xfrm flipH="false" flipV="false" rot="0">
              <a:off x="0" y="0"/>
              <a:ext cx="2011680" cy="402336"/>
            </a:xfrm>
            <a:custGeom>
              <a:avLst/>
              <a:gdLst/>
              <a:ahLst/>
              <a:cxnLst/>
              <a:rect r="r" b="b" t="t" l="l"/>
              <a:pathLst>
                <a:path h="402336" w="2011680">
                  <a:moveTo>
                    <a:pt x="0" y="0"/>
                  </a:moveTo>
                  <a:lnTo>
                    <a:pt x="2011680" y="0"/>
                  </a:lnTo>
                  <a:lnTo>
                    <a:pt x="2011680" y="402336"/>
                  </a:lnTo>
                  <a:lnTo>
                    <a:pt x="0" y="402336"/>
                  </a:lnTo>
                  <a:close/>
                </a:path>
              </a:pathLst>
            </a:custGeom>
            <a:blipFill>
              <a:blip r:embed="rId2">
                <a:alphaModFix amt="0"/>
              </a:blip>
              <a:stretch>
                <a:fillRect l="0" t="-47425" r="0" b="-47425"/>
              </a:stretch>
            </a:blipFill>
          </p:spPr>
        </p:sp>
        <p:sp>
          <p:nvSpPr>
            <p:cNvPr name="TextBox 96" id="96"/>
            <p:cNvSpPr txBox="true"/>
            <p:nvPr/>
          </p:nvSpPr>
          <p:spPr>
            <a:xfrm>
              <a:off x="0" y="-28575"/>
              <a:ext cx="2011680" cy="430911"/>
            </a:xfrm>
            <a:prstGeom prst="rect">
              <a:avLst/>
            </a:prstGeom>
          </p:spPr>
          <p:txBody>
            <a:bodyPr anchor="ctr" rtlCol="false" tIns="0" lIns="0" bIns="0" rIns="0"/>
            <a:lstStyle/>
            <a:p>
              <a:pPr algn="l">
                <a:lnSpc>
                  <a:spcPts val="1530"/>
                </a:lnSpc>
              </a:pPr>
              <a:r>
                <a:rPr lang="en-US" sz="1275">
                  <a:solidFill>
                    <a:srgbClr val="6B6B6B"/>
                  </a:solidFill>
                  <a:latin typeface="Calibri (MS)"/>
                  <a:ea typeface="Calibri (MS)"/>
                  <a:cs typeface="Calibri (MS)"/>
                  <a:sym typeface="Calibri (MS)"/>
                </a:rPr>
                <a:t>Methods</a:t>
              </a:r>
            </a:p>
          </p:txBody>
        </p:sp>
      </p:grpSp>
      <p:grpSp>
        <p:nvGrpSpPr>
          <p:cNvPr name="Group 97" id="97"/>
          <p:cNvGrpSpPr/>
          <p:nvPr/>
        </p:nvGrpSpPr>
        <p:grpSpPr>
          <a:xfrm rot="0">
            <a:off x="13002768" y="8750808"/>
            <a:ext cx="4594860" cy="274320"/>
            <a:chOff x="0" y="0"/>
            <a:chExt cx="6126480" cy="365760"/>
          </a:xfrm>
        </p:grpSpPr>
        <p:sp>
          <p:nvSpPr>
            <p:cNvPr name="Freeform 98" id="98"/>
            <p:cNvSpPr/>
            <p:nvPr/>
          </p:nvSpPr>
          <p:spPr>
            <a:xfrm flipH="false" flipV="false" rot="0">
              <a:off x="0" y="0"/>
              <a:ext cx="6126480" cy="365760"/>
            </a:xfrm>
            <a:custGeom>
              <a:avLst/>
              <a:gdLst/>
              <a:ahLst/>
              <a:cxnLst/>
              <a:rect r="r" b="b" t="t" l="l"/>
              <a:pathLst>
                <a:path h="365760" w="6126480">
                  <a:moveTo>
                    <a:pt x="0" y="0"/>
                  </a:moveTo>
                  <a:lnTo>
                    <a:pt x="6126480" y="0"/>
                  </a:lnTo>
                  <a:lnTo>
                    <a:pt x="6126480" y="365760"/>
                  </a:lnTo>
                  <a:lnTo>
                    <a:pt x="0" y="365760"/>
                  </a:lnTo>
                  <a:close/>
                </a:path>
              </a:pathLst>
            </a:custGeom>
            <a:solidFill>
              <a:srgbClr val="E4E8E1"/>
            </a:solidFill>
          </p:spPr>
        </p:sp>
      </p:grpSp>
      <p:grpSp>
        <p:nvGrpSpPr>
          <p:cNvPr name="Group 99" id="99"/>
          <p:cNvGrpSpPr/>
          <p:nvPr/>
        </p:nvGrpSpPr>
        <p:grpSpPr>
          <a:xfrm rot="0">
            <a:off x="13002768" y="8750808"/>
            <a:ext cx="1856327" cy="274320"/>
            <a:chOff x="0" y="0"/>
            <a:chExt cx="2475103" cy="365760"/>
          </a:xfrm>
        </p:grpSpPr>
        <p:sp>
          <p:nvSpPr>
            <p:cNvPr name="Freeform 100" id="100"/>
            <p:cNvSpPr/>
            <p:nvPr/>
          </p:nvSpPr>
          <p:spPr>
            <a:xfrm flipH="false" flipV="false" rot="0">
              <a:off x="0" y="0"/>
              <a:ext cx="2475103" cy="365760"/>
            </a:xfrm>
            <a:custGeom>
              <a:avLst/>
              <a:gdLst/>
              <a:ahLst/>
              <a:cxnLst/>
              <a:rect r="r" b="b" t="t" l="l"/>
              <a:pathLst>
                <a:path h="365760" w="2475103">
                  <a:moveTo>
                    <a:pt x="0" y="0"/>
                  </a:moveTo>
                  <a:lnTo>
                    <a:pt x="2475103" y="0"/>
                  </a:lnTo>
                  <a:lnTo>
                    <a:pt x="2475103" y="365760"/>
                  </a:lnTo>
                  <a:lnTo>
                    <a:pt x="0" y="365760"/>
                  </a:lnTo>
                  <a:close/>
                </a:path>
              </a:pathLst>
            </a:custGeom>
            <a:solidFill>
              <a:srgbClr val="C89A1A"/>
            </a:solidFill>
          </p:spPr>
        </p:sp>
      </p:grpSp>
      <p:grpSp>
        <p:nvGrpSpPr>
          <p:cNvPr name="Group 101" id="101"/>
          <p:cNvGrpSpPr/>
          <p:nvPr/>
        </p:nvGrpSpPr>
        <p:grpSpPr>
          <a:xfrm rot="0">
            <a:off x="17666208" y="8709660"/>
            <a:ext cx="754380" cy="301752"/>
            <a:chOff x="0" y="0"/>
            <a:chExt cx="1005840" cy="402336"/>
          </a:xfrm>
        </p:grpSpPr>
        <p:sp>
          <p:nvSpPr>
            <p:cNvPr name="Freeform 102" id="102"/>
            <p:cNvSpPr/>
            <p:nvPr/>
          </p:nvSpPr>
          <p:spPr>
            <a:xfrm flipH="false" flipV="false" rot="0">
              <a:off x="0" y="0"/>
              <a:ext cx="1005840" cy="402336"/>
            </a:xfrm>
            <a:custGeom>
              <a:avLst/>
              <a:gdLst/>
              <a:ahLst/>
              <a:cxnLst/>
              <a:rect r="r" b="b" t="t" l="l"/>
              <a:pathLst>
                <a:path h="402336" w="1005840">
                  <a:moveTo>
                    <a:pt x="0" y="0"/>
                  </a:moveTo>
                  <a:lnTo>
                    <a:pt x="1005840" y="0"/>
                  </a:lnTo>
                  <a:lnTo>
                    <a:pt x="1005840" y="402336"/>
                  </a:lnTo>
                  <a:lnTo>
                    <a:pt x="0" y="402336"/>
                  </a:lnTo>
                  <a:close/>
                </a:path>
              </a:pathLst>
            </a:custGeom>
            <a:blipFill>
              <a:blip r:embed="rId2">
                <a:alphaModFix amt="0"/>
              </a:blip>
              <a:stretch>
                <a:fillRect l="-1321" t="0" r="-1321" b="0"/>
              </a:stretch>
            </a:blipFill>
          </p:spPr>
        </p:sp>
        <p:sp>
          <p:nvSpPr>
            <p:cNvPr name="TextBox 103" id="103"/>
            <p:cNvSpPr txBox="true"/>
            <p:nvPr/>
          </p:nvSpPr>
          <p:spPr>
            <a:xfrm>
              <a:off x="0" y="-28575"/>
              <a:ext cx="1005840" cy="430911"/>
            </a:xfrm>
            <a:prstGeom prst="rect">
              <a:avLst/>
            </a:prstGeom>
          </p:spPr>
          <p:txBody>
            <a:bodyPr anchor="ctr" rtlCol="false" tIns="0" lIns="0" bIns="0" rIns="0"/>
            <a:lstStyle/>
            <a:p>
              <a:pPr algn="l">
                <a:lnSpc>
                  <a:spcPts val="1530"/>
                </a:lnSpc>
              </a:pPr>
              <a:r>
                <a:rPr lang="en-US" sz="1275" b="true">
                  <a:solidFill>
                    <a:srgbClr val="C89A1A"/>
                  </a:solidFill>
                  <a:latin typeface="Calibri (MS) Bold"/>
                  <a:ea typeface="Calibri (MS) Bold"/>
                  <a:cs typeface="Calibri (MS) Bold"/>
                  <a:sym typeface="Calibri (MS) Bold"/>
                </a:rPr>
                <a:t>40 %</a:t>
              </a:r>
            </a:p>
          </p:txBody>
        </p:sp>
      </p:grpSp>
      <p:grpSp>
        <p:nvGrpSpPr>
          <p:cNvPr name="Group 104" id="104"/>
          <p:cNvGrpSpPr/>
          <p:nvPr/>
        </p:nvGrpSpPr>
        <p:grpSpPr>
          <a:xfrm rot="0">
            <a:off x="8370951" y="9152763"/>
            <a:ext cx="265938" cy="265938"/>
            <a:chOff x="0" y="0"/>
            <a:chExt cx="354584" cy="354584"/>
          </a:xfrm>
        </p:grpSpPr>
        <p:sp>
          <p:nvSpPr>
            <p:cNvPr name="Freeform 105" id="105"/>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1A6B52"/>
            </a:solidFill>
            <a:ln w="19050" cap="sq">
              <a:solidFill>
                <a:srgbClr val="1A6B52"/>
              </a:solidFill>
              <a:prstDash val="solid"/>
              <a:miter/>
            </a:ln>
          </p:spPr>
        </p:sp>
      </p:grpSp>
      <p:grpSp>
        <p:nvGrpSpPr>
          <p:cNvPr name="Group 106" id="106"/>
          <p:cNvGrpSpPr/>
          <p:nvPr/>
        </p:nvGrpSpPr>
        <p:grpSpPr>
          <a:xfrm rot="0">
            <a:off x="8782431" y="9152763"/>
            <a:ext cx="265938" cy="265938"/>
            <a:chOff x="0" y="0"/>
            <a:chExt cx="354584" cy="354584"/>
          </a:xfrm>
        </p:grpSpPr>
        <p:sp>
          <p:nvSpPr>
            <p:cNvPr name="Freeform 107" id="107"/>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C89A1A"/>
            </a:solidFill>
            <a:ln w="19050" cap="sq">
              <a:solidFill>
                <a:srgbClr val="C89A1A"/>
              </a:solidFill>
              <a:prstDash val="solid"/>
              <a:miter/>
            </a:ln>
          </p:spPr>
        </p:sp>
      </p:grpSp>
      <p:grpSp>
        <p:nvGrpSpPr>
          <p:cNvPr name="Group 108" id="108"/>
          <p:cNvGrpSpPr/>
          <p:nvPr/>
        </p:nvGrpSpPr>
        <p:grpSpPr>
          <a:xfrm rot="0">
            <a:off x="9193911" y="9152763"/>
            <a:ext cx="265938" cy="265938"/>
            <a:chOff x="0" y="0"/>
            <a:chExt cx="354584" cy="354584"/>
          </a:xfrm>
        </p:grpSpPr>
        <p:sp>
          <p:nvSpPr>
            <p:cNvPr name="Freeform 109" id="109"/>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D4D4D4"/>
            </a:solidFill>
            <a:ln w="19050" cap="sq">
              <a:solidFill>
                <a:srgbClr val="D4D4D4"/>
              </a:solidFill>
              <a:prstDash val="solid"/>
              <a:miter/>
            </a:ln>
          </p:spPr>
        </p:sp>
      </p:grpSp>
      <p:grpSp>
        <p:nvGrpSpPr>
          <p:cNvPr name="Group 110" id="110"/>
          <p:cNvGrpSpPr/>
          <p:nvPr/>
        </p:nvGrpSpPr>
        <p:grpSpPr>
          <a:xfrm rot="0">
            <a:off x="9605391" y="9152763"/>
            <a:ext cx="265938" cy="265938"/>
            <a:chOff x="0" y="0"/>
            <a:chExt cx="354584" cy="354584"/>
          </a:xfrm>
        </p:grpSpPr>
        <p:sp>
          <p:nvSpPr>
            <p:cNvPr name="Freeform 111" id="111"/>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D4D4D4"/>
            </a:solidFill>
            <a:ln w="19050" cap="sq">
              <a:solidFill>
                <a:srgbClr val="D4D4D4"/>
              </a:solidFill>
              <a:prstDash val="solid"/>
              <a:miter/>
            </a:ln>
          </p:spPr>
        </p:sp>
      </p:grpSp>
      <p:grpSp>
        <p:nvGrpSpPr>
          <p:cNvPr name="Group 112" id="112"/>
          <p:cNvGrpSpPr/>
          <p:nvPr/>
        </p:nvGrpSpPr>
        <p:grpSpPr>
          <a:xfrm rot="0">
            <a:off x="342900" y="9738360"/>
            <a:ext cx="10698480" cy="384048"/>
            <a:chOff x="0" y="0"/>
            <a:chExt cx="14264640" cy="512064"/>
          </a:xfrm>
        </p:grpSpPr>
        <p:sp>
          <p:nvSpPr>
            <p:cNvPr name="Freeform 113" id="113"/>
            <p:cNvSpPr/>
            <p:nvPr/>
          </p:nvSpPr>
          <p:spPr>
            <a:xfrm flipH="false" flipV="false" rot="0">
              <a:off x="0" y="0"/>
              <a:ext cx="14264639" cy="512064"/>
            </a:xfrm>
            <a:custGeom>
              <a:avLst/>
              <a:gdLst/>
              <a:ahLst/>
              <a:cxnLst/>
              <a:rect r="r" b="b" t="t" l="l"/>
              <a:pathLst>
                <a:path h="512064" w="14264639">
                  <a:moveTo>
                    <a:pt x="0" y="0"/>
                  </a:moveTo>
                  <a:lnTo>
                    <a:pt x="14264639" y="0"/>
                  </a:lnTo>
                  <a:lnTo>
                    <a:pt x="14264639" y="512064"/>
                  </a:lnTo>
                  <a:lnTo>
                    <a:pt x="0" y="512064"/>
                  </a:lnTo>
                  <a:close/>
                </a:path>
              </a:pathLst>
            </a:custGeom>
            <a:blipFill>
              <a:blip r:embed="rId2">
                <a:alphaModFix amt="0"/>
              </a:blip>
              <a:stretch>
                <a:fillRect l="0" t="-492797" r="0" b="-492797"/>
              </a:stretch>
            </a:blipFill>
          </p:spPr>
        </p:sp>
        <p:sp>
          <p:nvSpPr>
            <p:cNvPr name="TextBox 114" id="114"/>
            <p:cNvSpPr txBox="true"/>
            <p:nvPr/>
          </p:nvSpPr>
          <p:spPr>
            <a:xfrm>
              <a:off x="0" y="-28575"/>
              <a:ext cx="14264640" cy="540639"/>
            </a:xfrm>
            <a:prstGeom prst="rect">
              <a:avLst/>
            </a:prstGeom>
          </p:spPr>
          <p:txBody>
            <a:bodyPr anchor="ctr" rtlCol="false" tIns="0" lIns="0" bIns="0" rIns="0"/>
            <a:lstStyle/>
            <a:p>
              <a:pPr algn="l">
                <a:lnSpc>
                  <a:spcPts val="1620"/>
                </a:lnSpc>
              </a:pPr>
              <a:r>
                <a:rPr lang="en-US" sz="1350">
                  <a:solidFill>
                    <a:srgbClr val="909090"/>
                  </a:solidFill>
                  <a:latin typeface="Calibri (MS)"/>
                  <a:ea typeface="Calibri (MS)"/>
                  <a:cs typeface="Calibri (MS)"/>
                  <a:sym typeface="Calibri (MS)"/>
                </a:rPr>
                <a:t>PipelineForge — Assistant Scientifique Documentaire (LLMOps)</a:t>
              </a:r>
            </a:p>
          </p:txBody>
        </p:sp>
      </p:grpSp>
      <p:grpSp>
        <p:nvGrpSpPr>
          <p:cNvPr name="Group 115" id="115"/>
          <p:cNvGrpSpPr/>
          <p:nvPr/>
        </p:nvGrpSpPr>
        <p:grpSpPr>
          <a:xfrm rot="0">
            <a:off x="11384280" y="9738360"/>
            <a:ext cx="6515100" cy="384048"/>
            <a:chOff x="0" y="0"/>
            <a:chExt cx="8686800" cy="512064"/>
          </a:xfrm>
        </p:grpSpPr>
        <p:sp>
          <p:nvSpPr>
            <p:cNvPr name="Freeform 116" id="116"/>
            <p:cNvSpPr/>
            <p:nvPr/>
          </p:nvSpPr>
          <p:spPr>
            <a:xfrm flipH="false" flipV="false" rot="0">
              <a:off x="0" y="0"/>
              <a:ext cx="8686800" cy="512064"/>
            </a:xfrm>
            <a:custGeom>
              <a:avLst/>
              <a:gdLst/>
              <a:ahLst/>
              <a:cxnLst/>
              <a:rect r="r" b="b" t="t" l="l"/>
              <a:pathLst>
                <a:path h="512064" w="8686800">
                  <a:moveTo>
                    <a:pt x="0" y="0"/>
                  </a:moveTo>
                  <a:lnTo>
                    <a:pt x="8686800" y="0"/>
                  </a:lnTo>
                  <a:lnTo>
                    <a:pt x="8686800" y="512064"/>
                  </a:lnTo>
                  <a:lnTo>
                    <a:pt x="0" y="512064"/>
                  </a:lnTo>
                  <a:close/>
                </a:path>
              </a:pathLst>
            </a:custGeom>
            <a:blipFill>
              <a:blip r:embed="rId2">
                <a:alphaModFix amt="0"/>
              </a:blip>
              <a:stretch>
                <a:fillRect l="0" t="-280549" r="0" b="-280549"/>
              </a:stretch>
            </a:blipFill>
          </p:spPr>
        </p:sp>
        <p:sp>
          <p:nvSpPr>
            <p:cNvPr name="TextBox 117" id="117"/>
            <p:cNvSpPr txBox="true"/>
            <p:nvPr/>
          </p:nvSpPr>
          <p:spPr>
            <a:xfrm>
              <a:off x="0" y="-28575"/>
              <a:ext cx="8686800" cy="540639"/>
            </a:xfrm>
            <a:prstGeom prst="rect">
              <a:avLst/>
            </a:prstGeom>
          </p:spPr>
          <p:txBody>
            <a:bodyPr anchor="ctr" rtlCol="false" tIns="0" lIns="0" bIns="0" rIns="0"/>
            <a:lstStyle/>
            <a:p>
              <a:pPr algn="r">
                <a:lnSpc>
                  <a:spcPts val="1620"/>
                </a:lnSpc>
              </a:pPr>
              <a:r>
                <a:rPr lang="en-US" sz="1350" b="true">
                  <a:solidFill>
                    <a:srgbClr val="C89A1A"/>
                  </a:solidFill>
                  <a:latin typeface="Calibri (MS) Bold"/>
                  <a:ea typeface="Calibri (MS) Bold"/>
                  <a:cs typeface="Calibri (MS) Bold"/>
                  <a:sym typeface="Calibri (MS) Bold"/>
                </a:rPr>
                <a:t>Sprint 2 · Transformation · Imane Alouani</a:t>
              </a:r>
            </a:p>
          </p:txBody>
        </p:sp>
      </p:grpSp>
      <p:sp>
        <p:nvSpPr>
          <p:cNvPr name="TextBox 118" id="1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A1A1A"/>
                </a:solidFill>
                <a:latin typeface="Canva Sans"/>
                <a:ea typeface="Canva Sans"/>
                <a:cs typeface="Canva Sans"/>
                <a:sym typeface="Canva Sans"/>
              </a:rPr>
              <a:t>5</a:t>
            </a:r>
          </a:p>
        </p:txBody>
      </p:sp>
    </p:spTree>
  </p:cSld>
  <p:clrMapOvr>
    <a:masterClrMapping/>
  </p:clrMapOvr>
  <p:transition spd="slow">
    <p:cover dir="rd"/>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42280" cy="75438"/>
            <a:chOff x="0" y="0"/>
            <a:chExt cx="24323040" cy="100584"/>
          </a:xfrm>
        </p:grpSpPr>
        <p:sp>
          <p:nvSpPr>
            <p:cNvPr name="Freeform 3" id="3"/>
            <p:cNvSpPr/>
            <p:nvPr/>
          </p:nvSpPr>
          <p:spPr>
            <a:xfrm flipH="false" flipV="false" rot="0">
              <a:off x="0" y="0"/>
              <a:ext cx="24323039" cy="100584"/>
            </a:xfrm>
            <a:custGeom>
              <a:avLst/>
              <a:gdLst/>
              <a:ahLst/>
              <a:cxnLst/>
              <a:rect r="r" b="b" t="t" l="l"/>
              <a:pathLst>
                <a:path h="100584" w="24323039">
                  <a:moveTo>
                    <a:pt x="0" y="0"/>
                  </a:moveTo>
                  <a:lnTo>
                    <a:pt x="24323039" y="0"/>
                  </a:lnTo>
                  <a:lnTo>
                    <a:pt x="24323039" y="100584"/>
                  </a:lnTo>
                  <a:lnTo>
                    <a:pt x="0" y="100584"/>
                  </a:lnTo>
                  <a:close/>
                </a:path>
              </a:pathLst>
            </a:custGeom>
            <a:solidFill>
              <a:srgbClr val="C89A1A"/>
            </a:solidFill>
          </p:spPr>
        </p:sp>
      </p:grpSp>
      <p:grpSp>
        <p:nvGrpSpPr>
          <p:cNvPr name="Group 4" id="4"/>
          <p:cNvGrpSpPr/>
          <p:nvPr/>
        </p:nvGrpSpPr>
        <p:grpSpPr>
          <a:xfrm rot="0">
            <a:off x="14196060" y="521208"/>
            <a:ext cx="3566160" cy="1124712"/>
            <a:chOff x="0" y="0"/>
            <a:chExt cx="4754880" cy="1499616"/>
          </a:xfrm>
        </p:grpSpPr>
        <p:sp>
          <p:nvSpPr>
            <p:cNvPr name="Freeform 5" id="5"/>
            <p:cNvSpPr/>
            <p:nvPr/>
          </p:nvSpPr>
          <p:spPr>
            <a:xfrm flipH="false" flipV="false" rot="0">
              <a:off x="0" y="0"/>
              <a:ext cx="4754880" cy="1499616"/>
            </a:xfrm>
            <a:custGeom>
              <a:avLst/>
              <a:gdLst/>
              <a:ahLst/>
              <a:cxnLst/>
              <a:rect r="r" b="b" t="t" l="l"/>
              <a:pathLst>
                <a:path h="1499616" w="4754880">
                  <a:moveTo>
                    <a:pt x="0" y="0"/>
                  </a:moveTo>
                  <a:lnTo>
                    <a:pt x="4754880" y="0"/>
                  </a:lnTo>
                  <a:lnTo>
                    <a:pt x="4754880" y="1499616"/>
                  </a:lnTo>
                  <a:lnTo>
                    <a:pt x="0" y="1499616"/>
                  </a:lnTo>
                  <a:close/>
                </a:path>
              </a:pathLst>
            </a:custGeom>
            <a:solidFill>
              <a:srgbClr val="C89A1A"/>
            </a:solidFill>
          </p:spPr>
        </p:sp>
      </p:grpSp>
      <p:grpSp>
        <p:nvGrpSpPr>
          <p:cNvPr name="Group 6" id="6"/>
          <p:cNvGrpSpPr/>
          <p:nvPr/>
        </p:nvGrpSpPr>
        <p:grpSpPr>
          <a:xfrm rot="0">
            <a:off x="14196060" y="576072"/>
            <a:ext cx="3566160" cy="466344"/>
            <a:chOff x="0" y="0"/>
            <a:chExt cx="4754880" cy="621792"/>
          </a:xfrm>
        </p:grpSpPr>
        <p:sp>
          <p:nvSpPr>
            <p:cNvPr name="Freeform 7" id="7"/>
            <p:cNvSpPr/>
            <p:nvPr/>
          </p:nvSpPr>
          <p:spPr>
            <a:xfrm flipH="false" flipV="false" rot="0">
              <a:off x="0" y="0"/>
              <a:ext cx="4754880" cy="621792"/>
            </a:xfrm>
            <a:custGeom>
              <a:avLst/>
              <a:gdLst/>
              <a:ahLst/>
              <a:cxnLst/>
              <a:rect r="r" b="b" t="t" l="l"/>
              <a:pathLst>
                <a:path h="621792" w="4754880">
                  <a:moveTo>
                    <a:pt x="0" y="0"/>
                  </a:moveTo>
                  <a:lnTo>
                    <a:pt x="4754880" y="0"/>
                  </a:lnTo>
                  <a:lnTo>
                    <a:pt x="4754880" y="621792"/>
                  </a:lnTo>
                  <a:lnTo>
                    <a:pt x="0" y="621792"/>
                  </a:lnTo>
                  <a:close/>
                </a:path>
              </a:pathLst>
            </a:custGeom>
            <a:blipFill>
              <a:blip r:embed="rId2">
                <a:alphaModFix amt="0"/>
              </a:blip>
              <a:stretch>
                <a:fillRect l="0" t="-99003" r="0" b="-99003"/>
              </a:stretch>
            </a:blipFill>
          </p:spPr>
        </p:sp>
        <p:sp>
          <p:nvSpPr>
            <p:cNvPr name="TextBox 8" id="8"/>
            <p:cNvSpPr txBox="true"/>
            <p:nvPr/>
          </p:nvSpPr>
          <p:spPr>
            <a:xfrm>
              <a:off x="0" y="-47625"/>
              <a:ext cx="4754880" cy="669417"/>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SPRINT 2</a:t>
              </a:r>
            </a:p>
          </p:txBody>
        </p:sp>
      </p:grpSp>
      <p:grpSp>
        <p:nvGrpSpPr>
          <p:cNvPr name="Group 9" id="9"/>
          <p:cNvGrpSpPr/>
          <p:nvPr/>
        </p:nvGrpSpPr>
        <p:grpSpPr>
          <a:xfrm rot="0">
            <a:off x="14196060" y="1042416"/>
            <a:ext cx="3566160" cy="329184"/>
            <a:chOff x="0" y="0"/>
            <a:chExt cx="4754880" cy="438912"/>
          </a:xfrm>
        </p:grpSpPr>
        <p:sp>
          <p:nvSpPr>
            <p:cNvPr name="Freeform 10" id="10"/>
            <p:cNvSpPr/>
            <p:nvPr/>
          </p:nvSpPr>
          <p:spPr>
            <a:xfrm flipH="false" flipV="false" rot="0">
              <a:off x="0" y="0"/>
              <a:ext cx="4754880" cy="438912"/>
            </a:xfrm>
            <a:custGeom>
              <a:avLst/>
              <a:gdLst/>
              <a:ahLst/>
              <a:cxnLst/>
              <a:rect r="r" b="b" t="t" l="l"/>
              <a:pathLst>
                <a:path h="438912" w="4754880">
                  <a:moveTo>
                    <a:pt x="0" y="0"/>
                  </a:moveTo>
                  <a:lnTo>
                    <a:pt x="4754880" y="0"/>
                  </a:lnTo>
                  <a:lnTo>
                    <a:pt x="4754880" y="438912"/>
                  </a:lnTo>
                  <a:lnTo>
                    <a:pt x="0" y="438912"/>
                  </a:lnTo>
                  <a:close/>
                </a:path>
              </a:pathLst>
            </a:custGeom>
            <a:blipFill>
              <a:blip r:embed="rId2">
                <a:alphaModFix amt="0"/>
              </a:blip>
              <a:stretch>
                <a:fillRect l="0" t="-161087" r="0" b="-161087"/>
              </a:stretch>
            </a:blipFill>
          </p:spPr>
        </p:sp>
        <p:sp>
          <p:nvSpPr>
            <p:cNvPr name="TextBox 11" id="11"/>
            <p:cNvSpPr txBox="true"/>
            <p:nvPr/>
          </p:nvSpPr>
          <p:spPr>
            <a:xfrm>
              <a:off x="0" y="-38100"/>
              <a:ext cx="4754880" cy="477012"/>
            </a:xfrm>
            <a:prstGeom prst="rect">
              <a:avLst/>
            </a:prstGeom>
          </p:spPr>
          <p:txBody>
            <a:bodyPr anchor="ctr" rtlCol="false" tIns="0" lIns="0" bIns="0" rIns="0"/>
            <a:lstStyle/>
            <a:p>
              <a:pPr algn="ctr">
                <a:lnSpc>
                  <a:spcPts val="1800"/>
                </a:lnSpc>
              </a:pPr>
              <a:r>
                <a:rPr lang="en-US" sz="1500">
                  <a:solidFill>
                    <a:srgbClr val="FFFFFF"/>
                  </a:solidFill>
                  <a:latin typeface="Calibri (MS)"/>
                  <a:ea typeface="Calibri (MS)"/>
                  <a:cs typeface="Calibri (MS)"/>
                  <a:sym typeface="Calibri (MS)"/>
                </a:rPr>
                <a:t>Imane Alouani</a:t>
              </a:r>
            </a:p>
          </p:txBody>
        </p:sp>
      </p:grpSp>
      <p:grpSp>
        <p:nvGrpSpPr>
          <p:cNvPr name="Group 12" id="12"/>
          <p:cNvGrpSpPr/>
          <p:nvPr/>
        </p:nvGrpSpPr>
        <p:grpSpPr>
          <a:xfrm rot="0">
            <a:off x="617220" y="1303020"/>
            <a:ext cx="13167360" cy="850392"/>
            <a:chOff x="0" y="0"/>
            <a:chExt cx="17556480" cy="1133856"/>
          </a:xfrm>
        </p:grpSpPr>
        <p:sp>
          <p:nvSpPr>
            <p:cNvPr name="Freeform 13" id="13"/>
            <p:cNvSpPr/>
            <p:nvPr/>
          </p:nvSpPr>
          <p:spPr>
            <a:xfrm flipH="false" flipV="false" rot="0">
              <a:off x="0" y="0"/>
              <a:ext cx="17556480" cy="1133856"/>
            </a:xfrm>
            <a:custGeom>
              <a:avLst/>
              <a:gdLst/>
              <a:ahLst/>
              <a:cxnLst/>
              <a:rect r="r" b="b" t="t" l="l"/>
              <a:pathLst>
                <a:path h="1133856" w="17556480">
                  <a:moveTo>
                    <a:pt x="0" y="0"/>
                  </a:moveTo>
                  <a:lnTo>
                    <a:pt x="17556480" y="0"/>
                  </a:lnTo>
                  <a:lnTo>
                    <a:pt x="17556480" y="1133856"/>
                  </a:lnTo>
                  <a:lnTo>
                    <a:pt x="0" y="1133856"/>
                  </a:lnTo>
                  <a:close/>
                </a:path>
              </a:pathLst>
            </a:custGeom>
            <a:blipFill>
              <a:blip r:embed="rId2">
                <a:alphaModFix amt="0"/>
              </a:blip>
              <a:stretch>
                <a:fillRect l="0" t="-251703" r="0" b="-251703"/>
              </a:stretch>
            </a:blipFill>
          </p:spPr>
        </p:sp>
        <p:sp>
          <p:nvSpPr>
            <p:cNvPr name="TextBox 14" id="14"/>
            <p:cNvSpPr txBox="true"/>
            <p:nvPr/>
          </p:nvSpPr>
          <p:spPr>
            <a:xfrm>
              <a:off x="0" y="-95250"/>
              <a:ext cx="17556480" cy="1229106"/>
            </a:xfrm>
            <a:prstGeom prst="rect">
              <a:avLst/>
            </a:prstGeom>
          </p:spPr>
          <p:txBody>
            <a:bodyPr anchor="ctr" rtlCol="false" tIns="0" lIns="0" bIns="0" rIns="0"/>
            <a:lstStyle/>
            <a:p>
              <a:pPr algn="l">
                <a:lnSpc>
                  <a:spcPts val="5400"/>
                </a:lnSpc>
              </a:pPr>
              <a:r>
                <a:rPr lang="en-US" sz="4500" b="true">
                  <a:solidFill>
                    <a:srgbClr val="1A1A1A"/>
                  </a:solidFill>
                  <a:latin typeface="Calibri (MS) Bold"/>
                  <a:ea typeface="Calibri (MS) Bold"/>
                  <a:cs typeface="Calibri (MS) Bold"/>
                  <a:sym typeface="Calibri (MS) Bold"/>
                </a:rPr>
                <a:t>Sprint 2 — Qualité &amp; Décisions clés</a:t>
              </a:r>
            </a:p>
          </p:txBody>
        </p:sp>
      </p:grpSp>
      <p:grpSp>
        <p:nvGrpSpPr>
          <p:cNvPr name="Group 15" id="15"/>
          <p:cNvGrpSpPr/>
          <p:nvPr/>
        </p:nvGrpSpPr>
        <p:grpSpPr>
          <a:xfrm rot="0">
            <a:off x="617220" y="2221992"/>
            <a:ext cx="13167360" cy="521208"/>
            <a:chOff x="0" y="0"/>
            <a:chExt cx="17556480" cy="694944"/>
          </a:xfrm>
        </p:grpSpPr>
        <p:sp>
          <p:nvSpPr>
            <p:cNvPr name="Freeform 16" id="16"/>
            <p:cNvSpPr/>
            <p:nvPr/>
          </p:nvSpPr>
          <p:spPr>
            <a:xfrm flipH="false" flipV="false" rot="0">
              <a:off x="0" y="0"/>
              <a:ext cx="17556480" cy="694944"/>
            </a:xfrm>
            <a:custGeom>
              <a:avLst/>
              <a:gdLst/>
              <a:ahLst/>
              <a:cxnLst/>
              <a:rect r="r" b="b" t="t" l="l"/>
              <a:pathLst>
                <a:path h="694944" w="17556480">
                  <a:moveTo>
                    <a:pt x="0" y="0"/>
                  </a:moveTo>
                  <a:lnTo>
                    <a:pt x="17556480" y="0"/>
                  </a:lnTo>
                  <a:lnTo>
                    <a:pt x="17556480" y="694944"/>
                  </a:lnTo>
                  <a:lnTo>
                    <a:pt x="0" y="694944"/>
                  </a:lnTo>
                  <a:close/>
                </a:path>
              </a:pathLst>
            </a:custGeom>
            <a:blipFill>
              <a:blip r:embed="rId2">
                <a:alphaModFix amt="0"/>
              </a:blip>
              <a:stretch>
                <a:fillRect l="0" t="-442253" r="0" b="-442253"/>
              </a:stretch>
            </a:blipFill>
          </p:spPr>
        </p:sp>
        <p:sp>
          <p:nvSpPr>
            <p:cNvPr name="TextBox 17" id="17"/>
            <p:cNvSpPr txBox="true"/>
            <p:nvPr/>
          </p:nvSpPr>
          <p:spPr>
            <a:xfrm>
              <a:off x="0" y="-38100"/>
              <a:ext cx="17556480" cy="733044"/>
            </a:xfrm>
            <a:prstGeom prst="rect">
              <a:avLst/>
            </a:prstGeom>
          </p:spPr>
          <p:txBody>
            <a:bodyPr anchor="ctr" rtlCol="false" tIns="0" lIns="0" bIns="0" rIns="0"/>
            <a:lstStyle/>
            <a:p>
              <a:pPr algn="l">
                <a:lnSpc>
                  <a:spcPts val="2160"/>
                </a:lnSpc>
              </a:pPr>
              <a:r>
                <a:rPr lang="en-US" sz="1800" i="true">
                  <a:solidFill>
                    <a:srgbClr val="6B6B6B"/>
                  </a:solidFill>
                  <a:latin typeface="Calibri (MS) Italics"/>
                  <a:ea typeface="Calibri (MS) Italics"/>
                  <a:cs typeface="Calibri (MS) Italics"/>
                  <a:sym typeface="Calibri (MS) Italics"/>
                </a:rPr>
                <a:t>Ce que le corpus transformé garantit à Hanane (Qualité) et Jihad (Embeddings)</a:t>
              </a:r>
            </a:p>
          </p:txBody>
        </p:sp>
      </p:grpSp>
      <p:sp>
        <p:nvSpPr>
          <p:cNvPr name="TextBox 18" id="18"/>
          <p:cNvSpPr txBox="true"/>
          <p:nvPr/>
        </p:nvSpPr>
        <p:spPr>
          <a:xfrm rot="0">
            <a:off x="708660" y="2997708"/>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restricted_license tracé depuis Sprint 1 : 4 articles TDM conservés et marqués — filtrables à la requête, aucune décision irréversible prise trop tôt</a:t>
            </a:r>
          </a:p>
        </p:txBody>
      </p:sp>
      <p:sp>
        <p:nvSpPr>
          <p:cNvPr name="TextBox 19" id="19"/>
          <p:cNvSpPr txBox="true"/>
          <p:nvPr/>
        </p:nvSpPr>
        <p:spPr>
          <a:xfrm rot="0">
            <a:off x="708660" y="4191000"/>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3 bugs détectés par le test --extremes : 0 chunk sur les case reports, texte perdu silencieusement, 59 % de chunks sans section — tous corrigés en v2.1→v2.4</a:t>
            </a:r>
          </a:p>
        </p:txBody>
      </p:sp>
      <p:sp>
        <p:nvSpPr>
          <p:cNvPr name="TextBox 20" id="20"/>
          <p:cNvSpPr txBox="true"/>
          <p:nvPr/>
        </p:nvSpPr>
        <p:spPr>
          <a:xfrm rot="0">
            <a:off x="708660" y="5384292"/>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Principe : un pipeline silencieux est plus dangereux qu'un crash — manifest.json expose docs_ok, chunks_per_doc.min et taux_retention_texte à chaque run</a:t>
            </a:r>
          </a:p>
        </p:txBody>
      </p:sp>
      <p:sp>
        <p:nvSpPr>
          <p:cNvPr name="TextBox 21" id="21"/>
          <p:cNvSpPr txBox="true"/>
          <p:nvPr/>
        </p:nvSpPr>
        <p:spPr>
          <a:xfrm rot="0">
            <a:off x="708660" y="6577584"/>
            <a:ext cx="9966960" cy="1112520"/>
          </a:xfrm>
          <a:prstGeom prst="rect">
            <a:avLst/>
          </a:prstGeom>
        </p:spPr>
        <p:txBody>
          <a:bodyPr anchor="t" rtlCol="false" tIns="0" lIns="0" bIns="0" rIns="0">
            <a:spAutoFit/>
          </a:bodyPr>
          <a:lstStyle/>
          <a:p>
            <a:pPr algn="l">
              <a:lnSpc>
                <a:spcPts val="2070"/>
              </a:lnSpc>
            </a:pPr>
            <a:r>
              <a:rPr lang="en-US" sz="1725">
                <a:solidFill>
                  <a:srgbClr val="1A1A1A"/>
                </a:solidFill>
                <a:latin typeface="Calibri (MS)"/>
                <a:ea typeface="Calibri (MS)"/>
                <a:cs typeface="Calibri (MS)"/>
                <a:sym typeface="Calibri (MS)"/>
              </a:rPr>
              <a:t>▪  8 invariants pytest documentés dans transformation/SCHEMA.md, directement réutilisables par Hanane (Qualité &amp; Tests) — schéma figé, contrat stable pour Jihad</a:t>
            </a:r>
          </a:p>
        </p:txBody>
      </p:sp>
      <p:grpSp>
        <p:nvGrpSpPr>
          <p:cNvPr name="Group 22" id="22"/>
          <p:cNvGrpSpPr/>
          <p:nvPr/>
        </p:nvGrpSpPr>
        <p:grpSpPr>
          <a:xfrm rot="0">
            <a:off x="11109960" y="2880360"/>
            <a:ext cx="6789420" cy="6309360"/>
            <a:chOff x="0" y="0"/>
            <a:chExt cx="9052560" cy="8412480"/>
          </a:xfrm>
        </p:grpSpPr>
        <p:sp>
          <p:nvSpPr>
            <p:cNvPr name="Freeform 23" id="23"/>
            <p:cNvSpPr/>
            <p:nvPr/>
          </p:nvSpPr>
          <p:spPr>
            <a:xfrm flipH="false" flipV="false" rot="0">
              <a:off x="0" y="0"/>
              <a:ext cx="9052560" cy="8412480"/>
            </a:xfrm>
            <a:custGeom>
              <a:avLst/>
              <a:gdLst/>
              <a:ahLst/>
              <a:cxnLst/>
              <a:rect r="r" b="b" t="t" l="l"/>
              <a:pathLst>
                <a:path h="8412480" w="9052560">
                  <a:moveTo>
                    <a:pt x="0" y="0"/>
                  </a:moveTo>
                  <a:lnTo>
                    <a:pt x="9052560" y="0"/>
                  </a:lnTo>
                  <a:lnTo>
                    <a:pt x="9052560" y="8412480"/>
                  </a:lnTo>
                  <a:lnTo>
                    <a:pt x="0" y="8412480"/>
                  </a:lnTo>
                  <a:close/>
                </a:path>
              </a:pathLst>
            </a:custGeom>
            <a:solidFill>
              <a:srgbClr val="F0F2EF"/>
            </a:solidFill>
          </p:spPr>
        </p:sp>
      </p:grpSp>
      <p:grpSp>
        <p:nvGrpSpPr>
          <p:cNvPr name="Group 24" id="24"/>
          <p:cNvGrpSpPr/>
          <p:nvPr/>
        </p:nvGrpSpPr>
        <p:grpSpPr>
          <a:xfrm rot="0">
            <a:off x="11384280" y="3099816"/>
            <a:ext cx="6309360" cy="521208"/>
            <a:chOff x="0" y="0"/>
            <a:chExt cx="8412480" cy="694944"/>
          </a:xfrm>
        </p:grpSpPr>
        <p:sp>
          <p:nvSpPr>
            <p:cNvPr name="Freeform 25" id="25"/>
            <p:cNvSpPr/>
            <p:nvPr/>
          </p:nvSpPr>
          <p:spPr>
            <a:xfrm flipH="false" flipV="false" rot="0">
              <a:off x="0" y="0"/>
              <a:ext cx="8412480" cy="694944"/>
            </a:xfrm>
            <a:custGeom>
              <a:avLst/>
              <a:gdLst/>
              <a:ahLst/>
              <a:cxnLst/>
              <a:rect r="r" b="b" t="t" l="l"/>
              <a:pathLst>
                <a:path h="694944" w="8412480">
                  <a:moveTo>
                    <a:pt x="0" y="0"/>
                  </a:moveTo>
                  <a:lnTo>
                    <a:pt x="8412480" y="0"/>
                  </a:lnTo>
                  <a:lnTo>
                    <a:pt x="8412480" y="694944"/>
                  </a:lnTo>
                  <a:lnTo>
                    <a:pt x="0" y="694944"/>
                  </a:lnTo>
                  <a:close/>
                </a:path>
              </a:pathLst>
            </a:custGeom>
            <a:blipFill>
              <a:blip r:embed="rId2">
                <a:alphaModFix amt="0"/>
              </a:blip>
              <a:stretch>
                <a:fillRect l="0" t="-185871" r="0" b="-185871"/>
              </a:stretch>
            </a:blipFill>
          </p:spPr>
        </p:sp>
        <p:sp>
          <p:nvSpPr>
            <p:cNvPr name="TextBox 26" id="26"/>
            <p:cNvSpPr txBox="true"/>
            <p:nvPr/>
          </p:nvSpPr>
          <p:spPr>
            <a:xfrm>
              <a:off x="0" y="-38100"/>
              <a:ext cx="8412480" cy="733044"/>
            </a:xfrm>
            <a:prstGeom prst="rect">
              <a:avLst/>
            </a:prstGeom>
          </p:spPr>
          <p:txBody>
            <a:bodyPr anchor="ctr" rtlCol="false" tIns="0" lIns="0" bIns="0" rIns="0"/>
            <a:lstStyle/>
            <a:p>
              <a:pPr algn="l">
                <a:lnSpc>
                  <a:spcPts val="2160"/>
                </a:lnSpc>
              </a:pPr>
              <a:r>
                <a:rPr lang="en-US" sz="1800" b="true">
                  <a:solidFill>
                    <a:srgbClr val="C89A1A"/>
                  </a:solidFill>
                  <a:latin typeface="Calibri (MS) Bold"/>
                  <a:ea typeface="Calibri (MS) Bold"/>
                  <a:cs typeface="Calibri (MS) Bold"/>
                  <a:sym typeface="Calibri (MS) Bold"/>
                </a:rPr>
                <a:t>3 bugs détectés → corrigés</a:t>
              </a:r>
            </a:p>
          </p:txBody>
        </p:sp>
      </p:grpSp>
      <p:grpSp>
        <p:nvGrpSpPr>
          <p:cNvPr name="Group 27" id="27"/>
          <p:cNvGrpSpPr/>
          <p:nvPr/>
        </p:nvGrpSpPr>
        <p:grpSpPr>
          <a:xfrm rot="0">
            <a:off x="11384280" y="3607308"/>
            <a:ext cx="617220" cy="54864"/>
            <a:chOff x="0" y="0"/>
            <a:chExt cx="822960" cy="73152"/>
          </a:xfrm>
        </p:grpSpPr>
        <p:sp>
          <p:nvSpPr>
            <p:cNvPr name="Freeform 28" id="28"/>
            <p:cNvSpPr/>
            <p:nvPr/>
          </p:nvSpPr>
          <p:spPr>
            <a:xfrm flipH="false" flipV="false" rot="0">
              <a:off x="0" y="0"/>
              <a:ext cx="822960" cy="73152"/>
            </a:xfrm>
            <a:custGeom>
              <a:avLst/>
              <a:gdLst/>
              <a:ahLst/>
              <a:cxnLst/>
              <a:rect r="r" b="b" t="t" l="l"/>
              <a:pathLst>
                <a:path h="73152" w="822960">
                  <a:moveTo>
                    <a:pt x="0" y="0"/>
                  </a:moveTo>
                  <a:lnTo>
                    <a:pt x="822960" y="0"/>
                  </a:lnTo>
                  <a:lnTo>
                    <a:pt x="822960" y="73152"/>
                  </a:lnTo>
                  <a:lnTo>
                    <a:pt x="0" y="73152"/>
                  </a:lnTo>
                  <a:close/>
                </a:path>
              </a:pathLst>
            </a:custGeom>
            <a:solidFill>
              <a:srgbClr val="C89A1A"/>
            </a:solidFill>
          </p:spPr>
        </p:sp>
      </p:grpSp>
      <p:grpSp>
        <p:nvGrpSpPr>
          <p:cNvPr name="Group 29" id="29"/>
          <p:cNvGrpSpPr/>
          <p:nvPr/>
        </p:nvGrpSpPr>
        <p:grpSpPr>
          <a:xfrm rot="0">
            <a:off x="11247120" y="3758184"/>
            <a:ext cx="960120" cy="384048"/>
            <a:chOff x="0" y="0"/>
            <a:chExt cx="1280160" cy="512064"/>
          </a:xfrm>
        </p:grpSpPr>
        <p:sp>
          <p:nvSpPr>
            <p:cNvPr name="Freeform 30" id="30"/>
            <p:cNvSpPr/>
            <p:nvPr/>
          </p:nvSpPr>
          <p:spPr>
            <a:xfrm flipH="false" flipV="false" rot="0">
              <a:off x="0" y="0"/>
              <a:ext cx="1280160" cy="512064"/>
            </a:xfrm>
            <a:custGeom>
              <a:avLst/>
              <a:gdLst/>
              <a:ahLst/>
              <a:cxnLst/>
              <a:rect r="r" b="b" t="t" l="l"/>
              <a:pathLst>
                <a:path h="512064" w="1280160">
                  <a:moveTo>
                    <a:pt x="0" y="0"/>
                  </a:moveTo>
                  <a:lnTo>
                    <a:pt x="1280160" y="0"/>
                  </a:lnTo>
                  <a:lnTo>
                    <a:pt x="1280160" y="512064"/>
                  </a:lnTo>
                  <a:lnTo>
                    <a:pt x="0" y="512064"/>
                  </a:lnTo>
                  <a:close/>
                </a:path>
              </a:pathLst>
            </a:custGeom>
            <a:blipFill>
              <a:blip r:embed="rId2">
                <a:alphaModFix amt="0"/>
              </a:blip>
              <a:stretch>
                <a:fillRect l="-1321" t="0" r="-1321" b="0"/>
              </a:stretch>
            </a:blipFill>
          </p:spPr>
        </p:sp>
        <p:sp>
          <p:nvSpPr>
            <p:cNvPr name="TextBox 31" id="31"/>
            <p:cNvSpPr txBox="true"/>
            <p:nvPr/>
          </p:nvSpPr>
          <p:spPr>
            <a:xfrm>
              <a:off x="0" y="-28575"/>
              <a:ext cx="1280160" cy="540639"/>
            </a:xfrm>
            <a:prstGeom prst="rect">
              <a:avLst/>
            </a:prstGeom>
          </p:spPr>
          <p:txBody>
            <a:bodyPr anchor="ctr" rtlCol="false" tIns="0" lIns="0" bIns="0" rIns="0"/>
            <a:lstStyle/>
            <a:p>
              <a:pPr algn="l">
                <a:lnSpc>
                  <a:spcPts val="1530"/>
                </a:lnSpc>
              </a:pPr>
              <a:r>
                <a:rPr lang="en-US" sz="1275" b="true">
                  <a:solidFill>
                    <a:srgbClr val="6B6B6B"/>
                  </a:solidFill>
                  <a:latin typeface="Calibri (MS) Bold"/>
                  <a:ea typeface="Calibri (MS) Bold"/>
                  <a:cs typeface="Calibri (MS) Bold"/>
                  <a:sym typeface="Calibri (MS) Bold"/>
                </a:rPr>
                <a:t>Version</a:t>
              </a:r>
            </a:p>
          </p:txBody>
        </p:sp>
      </p:grpSp>
      <p:grpSp>
        <p:nvGrpSpPr>
          <p:cNvPr name="Group 32" id="32"/>
          <p:cNvGrpSpPr/>
          <p:nvPr/>
        </p:nvGrpSpPr>
        <p:grpSpPr>
          <a:xfrm rot="0">
            <a:off x="12275820" y="3758184"/>
            <a:ext cx="2606040" cy="384048"/>
            <a:chOff x="0" y="0"/>
            <a:chExt cx="3474720" cy="512064"/>
          </a:xfrm>
        </p:grpSpPr>
        <p:sp>
          <p:nvSpPr>
            <p:cNvPr name="Freeform 33" id="33"/>
            <p:cNvSpPr/>
            <p:nvPr/>
          </p:nvSpPr>
          <p:spPr>
            <a:xfrm flipH="false" flipV="false" rot="0">
              <a:off x="0" y="0"/>
              <a:ext cx="3474720" cy="512064"/>
            </a:xfrm>
            <a:custGeom>
              <a:avLst/>
              <a:gdLst/>
              <a:ahLst/>
              <a:cxnLst/>
              <a:rect r="r" b="b" t="t" l="l"/>
              <a:pathLst>
                <a:path h="512064" w="3474720">
                  <a:moveTo>
                    <a:pt x="0" y="0"/>
                  </a:moveTo>
                  <a:lnTo>
                    <a:pt x="3474720" y="0"/>
                  </a:lnTo>
                  <a:lnTo>
                    <a:pt x="3474720" y="512064"/>
                  </a:lnTo>
                  <a:lnTo>
                    <a:pt x="0" y="512064"/>
                  </a:lnTo>
                  <a:close/>
                </a:path>
              </a:pathLst>
            </a:custGeom>
            <a:blipFill>
              <a:blip r:embed="rId2">
                <a:alphaModFix amt="0"/>
              </a:blip>
              <a:stretch>
                <a:fillRect l="0" t="-82219" r="0" b="-82219"/>
              </a:stretch>
            </a:blipFill>
          </p:spPr>
        </p:sp>
        <p:sp>
          <p:nvSpPr>
            <p:cNvPr name="TextBox 34" id="34"/>
            <p:cNvSpPr txBox="true"/>
            <p:nvPr/>
          </p:nvSpPr>
          <p:spPr>
            <a:xfrm>
              <a:off x="0" y="-28575"/>
              <a:ext cx="3474720" cy="540639"/>
            </a:xfrm>
            <a:prstGeom prst="rect">
              <a:avLst/>
            </a:prstGeom>
          </p:spPr>
          <p:txBody>
            <a:bodyPr anchor="ctr" rtlCol="false" tIns="0" lIns="0" bIns="0" rIns="0"/>
            <a:lstStyle/>
            <a:p>
              <a:pPr algn="l">
                <a:lnSpc>
                  <a:spcPts val="1530"/>
                </a:lnSpc>
              </a:pPr>
              <a:r>
                <a:rPr lang="en-US" sz="1275" b="true">
                  <a:solidFill>
                    <a:srgbClr val="7B1F2A"/>
                  </a:solidFill>
                  <a:latin typeface="Calibri (MS) Bold"/>
                  <a:ea typeface="Calibri (MS) Bold"/>
                  <a:cs typeface="Calibri (MS) Bold"/>
                  <a:sym typeface="Calibri (MS) Bold"/>
                </a:rPr>
                <a:t>Problème</a:t>
              </a:r>
            </a:p>
          </p:txBody>
        </p:sp>
      </p:grpSp>
      <p:grpSp>
        <p:nvGrpSpPr>
          <p:cNvPr name="Group 35" id="35"/>
          <p:cNvGrpSpPr/>
          <p:nvPr/>
        </p:nvGrpSpPr>
        <p:grpSpPr>
          <a:xfrm rot="0">
            <a:off x="14950440" y="3758184"/>
            <a:ext cx="2743200" cy="384048"/>
            <a:chOff x="0" y="0"/>
            <a:chExt cx="3657600" cy="512064"/>
          </a:xfrm>
        </p:grpSpPr>
        <p:sp>
          <p:nvSpPr>
            <p:cNvPr name="Freeform 36" id="36"/>
            <p:cNvSpPr/>
            <p:nvPr/>
          </p:nvSpPr>
          <p:spPr>
            <a:xfrm flipH="false" flipV="false" rot="0">
              <a:off x="0" y="0"/>
              <a:ext cx="3657600" cy="512064"/>
            </a:xfrm>
            <a:custGeom>
              <a:avLst/>
              <a:gdLst/>
              <a:ahLst/>
              <a:cxnLst/>
              <a:rect r="r" b="b" t="t" l="l"/>
              <a:pathLst>
                <a:path h="512064" w="3657600">
                  <a:moveTo>
                    <a:pt x="0" y="0"/>
                  </a:moveTo>
                  <a:lnTo>
                    <a:pt x="3657600" y="0"/>
                  </a:lnTo>
                  <a:lnTo>
                    <a:pt x="3657600" y="512064"/>
                  </a:lnTo>
                  <a:lnTo>
                    <a:pt x="0" y="512064"/>
                  </a:lnTo>
                  <a:close/>
                </a:path>
              </a:pathLst>
            </a:custGeom>
            <a:blipFill>
              <a:blip r:embed="rId2">
                <a:alphaModFix amt="0"/>
              </a:blip>
              <a:stretch>
                <a:fillRect l="0" t="-89178" r="0" b="-89178"/>
              </a:stretch>
            </a:blipFill>
          </p:spPr>
        </p:sp>
        <p:sp>
          <p:nvSpPr>
            <p:cNvPr name="TextBox 37" id="37"/>
            <p:cNvSpPr txBox="true"/>
            <p:nvPr/>
          </p:nvSpPr>
          <p:spPr>
            <a:xfrm>
              <a:off x="0" y="-28575"/>
              <a:ext cx="3657600" cy="540639"/>
            </a:xfrm>
            <a:prstGeom prst="rect">
              <a:avLst/>
            </a:prstGeom>
          </p:spPr>
          <p:txBody>
            <a:bodyPr anchor="ctr" rtlCol="false" tIns="0" lIns="0" bIns="0" rIns="0"/>
            <a:lstStyle/>
            <a:p>
              <a:pPr algn="l">
                <a:lnSpc>
                  <a:spcPts val="1530"/>
                </a:lnSpc>
              </a:pPr>
              <a:r>
                <a:rPr lang="en-US" sz="1275" b="true">
                  <a:solidFill>
                    <a:srgbClr val="1A6B52"/>
                  </a:solidFill>
                  <a:latin typeface="Calibri (MS) Bold"/>
                  <a:ea typeface="Calibri (MS) Bold"/>
                  <a:cs typeface="Calibri (MS) Bold"/>
                  <a:sym typeface="Calibri (MS) Bold"/>
                </a:rPr>
                <a:t>Correction</a:t>
              </a:r>
            </a:p>
          </p:txBody>
        </p:sp>
      </p:grpSp>
      <p:grpSp>
        <p:nvGrpSpPr>
          <p:cNvPr name="Group 38" id="38"/>
          <p:cNvGrpSpPr/>
          <p:nvPr/>
        </p:nvGrpSpPr>
        <p:grpSpPr>
          <a:xfrm rot="0">
            <a:off x="11247120" y="4155948"/>
            <a:ext cx="6446520" cy="41148"/>
            <a:chOff x="0" y="0"/>
            <a:chExt cx="8595360" cy="54864"/>
          </a:xfrm>
        </p:grpSpPr>
        <p:sp>
          <p:nvSpPr>
            <p:cNvPr name="Freeform 39" id="39"/>
            <p:cNvSpPr/>
            <p:nvPr/>
          </p:nvSpPr>
          <p:spPr>
            <a:xfrm flipH="false" flipV="false" rot="0">
              <a:off x="0" y="0"/>
              <a:ext cx="8595360" cy="54864"/>
            </a:xfrm>
            <a:custGeom>
              <a:avLst/>
              <a:gdLst/>
              <a:ahLst/>
              <a:cxnLst/>
              <a:rect r="r" b="b" t="t" l="l"/>
              <a:pathLst>
                <a:path h="54864" w="8595360">
                  <a:moveTo>
                    <a:pt x="0" y="0"/>
                  </a:moveTo>
                  <a:lnTo>
                    <a:pt x="8595360" y="0"/>
                  </a:lnTo>
                  <a:lnTo>
                    <a:pt x="8595360" y="54864"/>
                  </a:lnTo>
                  <a:lnTo>
                    <a:pt x="0" y="54864"/>
                  </a:lnTo>
                  <a:close/>
                </a:path>
              </a:pathLst>
            </a:custGeom>
            <a:solidFill>
              <a:srgbClr val="D4D9D0"/>
            </a:solidFill>
          </p:spPr>
        </p:sp>
      </p:grpSp>
      <p:grpSp>
        <p:nvGrpSpPr>
          <p:cNvPr name="Group 40" id="40"/>
          <p:cNvGrpSpPr/>
          <p:nvPr/>
        </p:nvGrpSpPr>
        <p:grpSpPr>
          <a:xfrm rot="0">
            <a:off x="11178540" y="4265676"/>
            <a:ext cx="6583680" cy="1508760"/>
            <a:chOff x="0" y="0"/>
            <a:chExt cx="8778240" cy="2011680"/>
          </a:xfrm>
        </p:grpSpPr>
        <p:sp>
          <p:nvSpPr>
            <p:cNvPr name="Freeform 41" id="41"/>
            <p:cNvSpPr/>
            <p:nvPr/>
          </p:nvSpPr>
          <p:spPr>
            <a:xfrm flipH="false" flipV="false" rot="0">
              <a:off x="0" y="0"/>
              <a:ext cx="8778240" cy="2011680"/>
            </a:xfrm>
            <a:custGeom>
              <a:avLst/>
              <a:gdLst/>
              <a:ahLst/>
              <a:cxnLst/>
              <a:rect r="r" b="b" t="t" l="l"/>
              <a:pathLst>
                <a:path h="2011680" w="8778240">
                  <a:moveTo>
                    <a:pt x="0" y="0"/>
                  </a:moveTo>
                  <a:lnTo>
                    <a:pt x="8778240" y="0"/>
                  </a:lnTo>
                  <a:lnTo>
                    <a:pt x="8778240" y="2011680"/>
                  </a:lnTo>
                  <a:lnTo>
                    <a:pt x="0" y="2011680"/>
                  </a:lnTo>
                  <a:close/>
                </a:path>
              </a:pathLst>
            </a:custGeom>
            <a:solidFill>
              <a:srgbClr val="EBF0E8"/>
            </a:solidFill>
          </p:spPr>
        </p:sp>
      </p:grpSp>
      <p:grpSp>
        <p:nvGrpSpPr>
          <p:cNvPr name="Group 42" id="42"/>
          <p:cNvGrpSpPr/>
          <p:nvPr/>
        </p:nvGrpSpPr>
        <p:grpSpPr>
          <a:xfrm rot="0">
            <a:off x="11247120" y="4389120"/>
            <a:ext cx="891540" cy="411480"/>
            <a:chOff x="0" y="0"/>
            <a:chExt cx="1188720" cy="548640"/>
          </a:xfrm>
        </p:grpSpPr>
        <p:sp>
          <p:nvSpPr>
            <p:cNvPr name="Freeform 43" id="43"/>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solidFill>
              <a:srgbClr val="7B1F2A"/>
            </a:solidFill>
          </p:spPr>
        </p:sp>
      </p:grpSp>
      <p:grpSp>
        <p:nvGrpSpPr>
          <p:cNvPr name="Group 44" id="44"/>
          <p:cNvGrpSpPr/>
          <p:nvPr/>
        </p:nvGrpSpPr>
        <p:grpSpPr>
          <a:xfrm rot="0">
            <a:off x="11247120" y="4389120"/>
            <a:ext cx="891540" cy="411480"/>
            <a:chOff x="0" y="0"/>
            <a:chExt cx="1188720" cy="548640"/>
          </a:xfrm>
        </p:grpSpPr>
        <p:sp>
          <p:nvSpPr>
            <p:cNvPr name="Freeform 45" id="45"/>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2">
                <a:alphaModFix amt="0"/>
              </a:blip>
              <a:stretch>
                <a:fillRect l="-9217" t="0" r="-9217" b="0"/>
              </a:stretch>
            </a:blipFill>
          </p:spPr>
        </p:sp>
        <p:sp>
          <p:nvSpPr>
            <p:cNvPr name="TextBox 46" id="46"/>
            <p:cNvSpPr txBox="true"/>
            <p:nvPr/>
          </p:nvSpPr>
          <p:spPr>
            <a:xfrm>
              <a:off x="0" y="-19050"/>
              <a:ext cx="1188720" cy="567690"/>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v2.0</a:t>
              </a:r>
            </a:p>
          </p:txBody>
        </p:sp>
      </p:grpSp>
      <p:grpSp>
        <p:nvGrpSpPr>
          <p:cNvPr name="Group 47" id="47"/>
          <p:cNvGrpSpPr/>
          <p:nvPr/>
        </p:nvGrpSpPr>
        <p:grpSpPr>
          <a:xfrm rot="0">
            <a:off x="12248388" y="4389120"/>
            <a:ext cx="2606040" cy="1097280"/>
            <a:chOff x="0" y="0"/>
            <a:chExt cx="3474720" cy="1463040"/>
          </a:xfrm>
        </p:grpSpPr>
        <p:sp>
          <p:nvSpPr>
            <p:cNvPr name="Freeform 48" id="48"/>
            <p:cNvSpPr/>
            <p:nvPr/>
          </p:nvSpPr>
          <p:spPr>
            <a:xfrm flipH="false" flipV="false" rot="0">
              <a:off x="0" y="0"/>
              <a:ext cx="3474720" cy="1463040"/>
            </a:xfrm>
            <a:custGeom>
              <a:avLst/>
              <a:gdLst/>
              <a:ahLst/>
              <a:cxnLst/>
              <a:rect r="r" b="b" t="t" l="l"/>
              <a:pathLst>
                <a:path h="1463040" w="3474720">
                  <a:moveTo>
                    <a:pt x="0" y="0"/>
                  </a:moveTo>
                  <a:lnTo>
                    <a:pt x="3474720" y="0"/>
                  </a:lnTo>
                  <a:lnTo>
                    <a:pt x="3474720" y="1463040"/>
                  </a:lnTo>
                  <a:lnTo>
                    <a:pt x="0" y="1463040"/>
                  </a:lnTo>
                  <a:close/>
                </a:path>
              </a:pathLst>
            </a:custGeom>
            <a:blipFill>
              <a:blip r:embed="rId2">
                <a:alphaModFix amt="0"/>
              </a:blip>
              <a:stretch>
                <a:fillRect l="-4022" t="0" r="-4022" b="0"/>
              </a:stretch>
            </a:blipFill>
          </p:spPr>
        </p:sp>
        <p:sp>
          <p:nvSpPr>
            <p:cNvPr name="TextBox 49" id="49"/>
            <p:cNvSpPr txBox="true"/>
            <p:nvPr/>
          </p:nvSpPr>
          <p:spPr>
            <a:xfrm>
              <a:off x="0" y="-28575"/>
              <a:ext cx="3474720" cy="1491615"/>
            </a:xfrm>
            <a:prstGeom prst="rect">
              <a:avLst/>
            </a:prstGeom>
          </p:spPr>
          <p:txBody>
            <a:bodyPr anchor="ctr" rtlCol="false" tIns="0" lIns="0" bIns="0" rIns="0"/>
            <a:lstStyle/>
            <a:p>
              <a:pPr algn="l">
                <a:lnSpc>
                  <a:spcPts val="1530"/>
                </a:lnSpc>
              </a:pPr>
              <a:r>
                <a:rPr lang="en-US" sz="1275">
                  <a:solidFill>
                    <a:srgbClr val="1A1A1A"/>
                  </a:solidFill>
                  <a:latin typeface="Calibri (MS)"/>
                  <a:ea typeface="Calibri (MS)"/>
                  <a:cs typeface="Calibri (MS)"/>
                  <a:sym typeface="Calibri (MS)"/>
                </a:rPr>
                <a:t>0 chunk sur les case reports (titres numérotés non reconnus)</a:t>
              </a:r>
            </a:p>
          </p:txBody>
        </p:sp>
      </p:grpSp>
      <p:grpSp>
        <p:nvGrpSpPr>
          <p:cNvPr name="Group 50" id="50"/>
          <p:cNvGrpSpPr/>
          <p:nvPr/>
        </p:nvGrpSpPr>
        <p:grpSpPr>
          <a:xfrm rot="0">
            <a:off x="14909292" y="4622292"/>
            <a:ext cx="274320" cy="411480"/>
            <a:chOff x="0" y="0"/>
            <a:chExt cx="365760" cy="548640"/>
          </a:xfrm>
        </p:grpSpPr>
        <p:sp>
          <p:nvSpPr>
            <p:cNvPr name="Freeform 51" id="51"/>
            <p:cNvSpPr/>
            <p:nvPr/>
          </p:nvSpPr>
          <p:spPr>
            <a:xfrm flipH="false" flipV="false" rot="0">
              <a:off x="0" y="0"/>
              <a:ext cx="365760" cy="548640"/>
            </a:xfrm>
            <a:custGeom>
              <a:avLst/>
              <a:gdLst/>
              <a:ahLst/>
              <a:cxnLst/>
              <a:rect r="r" b="b" t="t" l="l"/>
              <a:pathLst>
                <a:path h="548640" w="365760">
                  <a:moveTo>
                    <a:pt x="0" y="0"/>
                  </a:moveTo>
                  <a:lnTo>
                    <a:pt x="365760" y="0"/>
                  </a:lnTo>
                  <a:lnTo>
                    <a:pt x="365760" y="548640"/>
                  </a:lnTo>
                  <a:lnTo>
                    <a:pt x="0" y="548640"/>
                  </a:lnTo>
                  <a:close/>
                </a:path>
              </a:pathLst>
            </a:custGeom>
            <a:blipFill>
              <a:blip r:embed="rId2">
                <a:alphaModFix amt="0"/>
              </a:blip>
              <a:stretch>
                <a:fillRect l="-142455" t="0" r="-142455" b="0"/>
              </a:stretch>
            </a:blipFill>
          </p:spPr>
        </p:sp>
        <p:sp>
          <p:nvSpPr>
            <p:cNvPr name="TextBox 52" id="52"/>
            <p:cNvSpPr txBox="true"/>
            <p:nvPr/>
          </p:nvSpPr>
          <p:spPr>
            <a:xfrm>
              <a:off x="0" y="-47625"/>
              <a:ext cx="365760" cy="596265"/>
            </a:xfrm>
            <a:prstGeom prst="rect">
              <a:avLst/>
            </a:prstGeom>
          </p:spPr>
          <p:txBody>
            <a:bodyPr anchor="ctr" rtlCol="false" tIns="0" lIns="0" bIns="0" rIns="0"/>
            <a:lstStyle/>
            <a:p>
              <a:pPr algn="ctr">
                <a:lnSpc>
                  <a:spcPts val="2340"/>
                </a:lnSpc>
              </a:pPr>
              <a:r>
                <a:rPr lang="en-US" sz="1950">
                  <a:solidFill>
                    <a:srgbClr val="C89A1A"/>
                  </a:solidFill>
                  <a:latin typeface="Calibri (MS)"/>
                  <a:ea typeface="Calibri (MS)"/>
                  <a:cs typeface="Calibri (MS)"/>
                  <a:sym typeface="Calibri (MS)"/>
                </a:rPr>
                <a:t>→</a:t>
              </a:r>
            </a:p>
          </p:txBody>
        </p:sp>
      </p:grpSp>
      <p:grpSp>
        <p:nvGrpSpPr>
          <p:cNvPr name="Group 53" id="53"/>
          <p:cNvGrpSpPr/>
          <p:nvPr/>
        </p:nvGrpSpPr>
        <p:grpSpPr>
          <a:xfrm rot="0">
            <a:off x="15224760" y="4389120"/>
            <a:ext cx="2578608" cy="1097280"/>
            <a:chOff x="0" y="0"/>
            <a:chExt cx="3438144" cy="1463040"/>
          </a:xfrm>
        </p:grpSpPr>
        <p:sp>
          <p:nvSpPr>
            <p:cNvPr name="Freeform 54" id="54"/>
            <p:cNvSpPr/>
            <p:nvPr/>
          </p:nvSpPr>
          <p:spPr>
            <a:xfrm flipH="false" flipV="false" rot="0">
              <a:off x="0" y="0"/>
              <a:ext cx="3438144" cy="1463040"/>
            </a:xfrm>
            <a:custGeom>
              <a:avLst/>
              <a:gdLst/>
              <a:ahLst/>
              <a:cxnLst/>
              <a:rect r="r" b="b" t="t" l="l"/>
              <a:pathLst>
                <a:path h="1463040" w="3438144">
                  <a:moveTo>
                    <a:pt x="0" y="0"/>
                  </a:moveTo>
                  <a:lnTo>
                    <a:pt x="3438144" y="0"/>
                  </a:lnTo>
                  <a:lnTo>
                    <a:pt x="3438144" y="1463040"/>
                  </a:lnTo>
                  <a:lnTo>
                    <a:pt x="0" y="1463040"/>
                  </a:lnTo>
                  <a:close/>
                </a:path>
              </a:pathLst>
            </a:custGeom>
            <a:blipFill>
              <a:blip r:embed="rId2">
                <a:alphaModFix amt="0"/>
              </a:blip>
              <a:stretch>
                <a:fillRect l="-4597" t="0" r="-4597" b="0"/>
              </a:stretch>
            </a:blipFill>
          </p:spPr>
        </p:sp>
        <p:sp>
          <p:nvSpPr>
            <p:cNvPr name="TextBox 55" id="55"/>
            <p:cNvSpPr txBox="true"/>
            <p:nvPr/>
          </p:nvSpPr>
          <p:spPr>
            <a:xfrm>
              <a:off x="0" y="-28575"/>
              <a:ext cx="3438144" cy="1491615"/>
            </a:xfrm>
            <a:prstGeom prst="rect">
              <a:avLst/>
            </a:prstGeom>
          </p:spPr>
          <p:txBody>
            <a:bodyPr anchor="ctr" rtlCol="false" tIns="0" lIns="0" bIns="0" rIns="0"/>
            <a:lstStyle/>
            <a:p>
              <a:pPr algn="l">
                <a:lnSpc>
                  <a:spcPts val="1530"/>
                </a:lnSpc>
              </a:pPr>
              <a:r>
                <a:rPr lang="en-US" sz="1275">
                  <a:solidFill>
                    <a:srgbClr val="1A6B52"/>
                  </a:solidFill>
                  <a:latin typeface="Calibri (MS)"/>
                  <a:ea typeface="Calibri (MS)"/>
                  <a:cs typeface="Calibri (MS)"/>
                  <a:sym typeface="Calibri (MS)"/>
                </a:rPr>
                <a:t>content_start() : 3 critères de détection au lieu d'un</a:t>
              </a:r>
            </a:p>
          </p:txBody>
        </p:sp>
      </p:grpSp>
      <p:grpSp>
        <p:nvGrpSpPr>
          <p:cNvPr name="Group 56" id="56"/>
          <p:cNvGrpSpPr/>
          <p:nvPr/>
        </p:nvGrpSpPr>
        <p:grpSpPr>
          <a:xfrm rot="0">
            <a:off x="11247120" y="6007608"/>
            <a:ext cx="891540" cy="411480"/>
            <a:chOff x="0" y="0"/>
            <a:chExt cx="1188720" cy="548640"/>
          </a:xfrm>
        </p:grpSpPr>
        <p:sp>
          <p:nvSpPr>
            <p:cNvPr name="Freeform 57" id="5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solidFill>
              <a:srgbClr val="E07020"/>
            </a:solidFill>
          </p:spPr>
        </p:sp>
      </p:grpSp>
      <p:grpSp>
        <p:nvGrpSpPr>
          <p:cNvPr name="Group 58" id="58"/>
          <p:cNvGrpSpPr/>
          <p:nvPr/>
        </p:nvGrpSpPr>
        <p:grpSpPr>
          <a:xfrm rot="0">
            <a:off x="11247120" y="6007608"/>
            <a:ext cx="891540" cy="411480"/>
            <a:chOff x="0" y="0"/>
            <a:chExt cx="1188720" cy="548640"/>
          </a:xfrm>
        </p:grpSpPr>
        <p:sp>
          <p:nvSpPr>
            <p:cNvPr name="Freeform 59" id="59"/>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2">
                <a:alphaModFix amt="0"/>
              </a:blip>
              <a:stretch>
                <a:fillRect l="-9217" t="0" r="-9217" b="0"/>
              </a:stretch>
            </a:blipFill>
          </p:spPr>
        </p:sp>
        <p:sp>
          <p:nvSpPr>
            <p:cNvPr name="TextBox 60" id="60"/>
            <p:cNvSpPr txBox="true"/>
            <p:nvPr/>
          </p:nvSpPr>
          <p:spPr>
            <a:xfrm>
              <a:off x="0" y="-19050"/>
              <a:ext cx="1188720" cy="567690"/>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v2.3</a:t>
              </a:r>
            </a:p>
          </p:txBody>
        </p:sp>
      </p:grpSp>
      <p:grpSp>
        <p:nvGrpSpPr>
          <p:cNvPr name="Group 61" id="61"/>
          <p:cNvGrpSpPr/>
          <p:nvPr/>
        </p:nvGrpSpPr>
        <p:grpSpPr>
          <a:xfrm rot="0">
            <a:off x="12248388" y="6007608"/>
            <a:ext cx="2606040" cy="1097280"/>
            <a:chOff x="0" y="0"/>
            <a:chExt cx="3474720" cy="1463040"/>
          </a:xfrm>
        </p:grpSpPr>
        <p:sp>
          <p:nvSpPr>
            <p:cNvPr name="Freeform 62" id="62"/>
            <p:cNvSpPr/>
            <p:nvPr/>
          </p:nvSpPr>
          <p:spPr>
            <a:xfrm flipH="false" flipV="false" rot="0">
              <a:off x="0" y="0"/>
              <a:ext cx="3474720" cy="1463040"/>
            </a:xfrm>
            <a:custGeom>
              <a:avLst/>
              <a:gdLst/>
              <a:ahLst/>
              <a:cxnLst/>
              <a:rect r="r" b="b" t="t" l="l"/>
              <a:pathLst>
                <a:path h="1463040" w="3474720">
                  <a:moveTo>
                    <a:pt x="0" y="0"/>
                  </a:moveTo>
                  <a:lnTo>
                    <a:pt x="3474720" y="0"/>
                  </a:lnTo>
                  <a:lnTo>
                    <a:pt x="3474720" y="1463040"/>
                  </a:lnTo>
                  <a:lnTo>
                    <a:pt x="0" y="1463040"/>
                  </a:lnTo>
                  <a:close/>
                </a:path>
              </a:pathLst>
            </a:custGeom>
            <a:blipFill>
              <a:blip r:embed="rId2">
                <a:alphaModFix amt="0"/>
              </a:blip>
              <a:stretch>
                <a:fillRect l="-4022" t="0" r="-4022" b="0"/>
              </a:stretch>
            </a:blipFill>
          </p:spPr>
        </p:sp>
        <p:sp>
          <p:nvSpPr>
            <p:cNvPr name="TextBox 63" id="63"/>
            <p:cNvSpPr txBox="true"/>
            <p:nvPr/>
          </p:nvSpPr>
          <p:spPr>
            <a:xfrm>
              <a:off x="0" y="-28575"/>
              <a:ext cx="3474720" cy="1491615"/>
            </a:xfrm>
            <a:prstGeom prst="rect">
              <a:avLst/>
            </a:prstGeom>
          </p:spPr>
          <p:txBody>
            <a:bodyPr anchor="ctr" rtlCol="false" tIns="0" lIns="0" bIns="0" rIns="0"/>
            <a:lstStyle/>
            <a:p>
              <a:pPr algn="l">
                <a:lnSpc>
                  <a:spcPts val="1530"/>
                </a:lnSpc>
              </a:pPr>
              <a:r>
                <a:rPr lang="en-US" sz="1275">
                  <a:solidFill>
                    <a:srgbClr val="1A1A1A"/>
                  </a:solidFill>
                  <a:latin typeface="Calibri (MS)"/>
                  <a:ea typeface="Calibri (MS)"/>
                  <a:cs typeface="Calibri (MS)"/>
                  <a:sym typeface="Calibri (MS)"/>
                </a:rPr>
                <a:t>Texte perdu si section &lt; 250 car. (tableaux d'abréviations)</a:t>
              </a:r>
            </a:p>
          </p:txBody>
        </p:sp>
      </p:grpSp>
      <p:grpSp>
        <p:nvGrpSpPr>
          <p:cNvPr name="Group 64" id="64"/>
          <p:cNvGrpSpPr/>
          <p:nvPr/>
        </p:nvGrpSpPr>
        <p:grpSpPr>
          <a:xfrm rot="0">
            <a:off x="14909292" y="6240780"/>
            <a:ext cx="274320" cy="411480"/>
            <a:chOff x="0" y="0"/>
            <a:chExt cx="365760" cy="548640"/>
          </a:xfrm>
        </p:grpSpPr>
        <p:sp>
          <p:nvSpPr>
            <p:cNvPr name="Freeform 65" id="65"/>
            <p:cNvSpPr/>
            <p:nvPr/>
          </p:nvSpPr>
          <p:spPr>
            <a:xfrm flipH="false" flipV="false" rot="0">
              <a:off x="0" y="0"/>
              <a:ext cx="365760" cy="548640"/>
            </a:xfrm>
            <a:custGeom>
              <a:avLst/>
              <a:gdLst/>
              <a:ahLst/>
              <a:cxnLst/>
              <a:rect r="r" b="b" t="t" l="l"/>
              <a:pathLst>
                <a:path h="548640" w="365760">
                  <a:moveTo>
                    <a:pt x="0" y="0"/>
                  </a:moveTo>
                  <a:lnTo>
                    <a:pt x="365760" y="0"/>
                  </a:lnTo>
                  <a:lnTo>
                    <a:pt x="365760" y="548640"/>
                  </a:lnTo>
                  <a:lnTo>
                    <a:pt x="0" y="548640"/>
                  </a:lnTo>
                  <a:close/>
                </a:path>
              </a:pathLst>
            </a:custGeom>
            <a:blipFill>
              <a:blip r:embed="rId2">
                <a:alphaModFix amt="0"/>
              </a:blip>
              <a:stretch>
                <a:fillRect l="-142455" t="0" r="-142455" b="0"/>
              </a:stretch>
            </a:blipFill>
          </p:spPr>
        </p:sp>
        <p:sp>
          <p:nvSpPr>
            <p:cNvPr name="TextBox 66" id="66"/>
            <p:cNvSpPr txBox="true"/>
            <p:nvPr/>
          </p:nvSpPr>
          <p:spPr>
            <a:xfrm>
              <a:off x="0" y="-47625"/>
              <a:ext cx="365760" cy="596265"/>
            </a:xfrm>
            <a:prstGeom prst="rect">
              <a:avLst/>
            </a:prstGeom>
          </p:spPr>
          <p:txBody>
            <a:bodyPr anchor="ctr" rtlCol="false" tIns="0" lIns="0" bIns="0" rIns="0"/>
            <a:lstStyle/>
            <a:p>
              <a:pPr algn="ctr">
                <a:lnSpc>
                  <a:spcPts val="2340"/>
                </a:lnSpc>
              </a:pPr>
              <a:r>
                <a:rPr lang="en-US" sz="1950">
                  <a:solidFill>
                    <a:srgbClr val="C89A1A"/>
                  </a:solidFill>
                  <a:latin typeface="Calibri (MS)"/>
                  <a:ea typeface="Calibri (MS)"/>
                  <a:cs typeface="Calibri (MS)"/>
                  <a:sym typeface="Calibri (MS)"/>
                </a:rPr>
                <a:t>→</a:t>
              </a:r>
            </a:p>
          </p:txBody>
        </p:sp>
      </p:grpSp>
      <p:grpSp>
        <p:nvGrpSpPr>
          <p:cNvPr name="Group 67" id="67"/>
          <p:cNvGrpSpPr/>
          <p:nvPr/>
        </p:nvGrpSpPr>
        <p:grpSpPr>
          <a:xfrm rot="0">
            <a:off x="15224760" y="6007608"/>
            <a:ext cx="2578608" cy="1097280"/>
            <a:chOff x="0" y="0"/>
            <a:chExt cx="3438144" cy="1463040"/>
          </a:xfrm>
        </p:grpSpPr>
        <p:sp>
          <p:nvSpPr>
            <p:cNvPr name="Freeform 68" id="68"/>
            <p:cNvSpPr/>
            <p:nvPr/>
          </p:nvSpPr>
          <p:spPr>
            <a:xfrm flipH="false" flipV="false" rot="0">
              <a:off x="0" y="0"/>
              <a:ext cx="3438144" cy="1463040"/>
            </a:xfrm>
            <a:custGeom>
              <a:avLst/>
              <a:gdLst/>
              <a:ahLst/>
              <a:cxnLst/>
              <a:rect r="r" b="b" t="t" l="l"/>
              <a:pathLst>
                <a:path h="1463040" w="3438144">
                  <a:moveTo>
                    <a:pt x="0" y="0"/>
                  </a:moveTo>
                  <a:lnTo>
                    <a:pt x="3438144" y="0"/>
                  </a:lnTo>
                  <a:lnTo>
                    <a:pt x="3438144" y="1463040"/>
                  </a:lnTo>
                  <a:lnTo>
                    <a:pt x="0" y="1463040"/>
                  </a:lnTo>
                  <a:close/>
                </a:path>
              </a:pathLst>
            </a:custGeom>
            <a:blipFill>
              <a:blip r:embed="rId2">
                <a:alphaModFix amt="0"/>
              </a:blip>
              <a:stretch>
                <a:fillRect l="-4597" t="0" r="-4597" b="0"/>
              </a:stretch>
            </a:blipFill>
          </p:spPr>
        </p:sp>
        <p:sp>
          <p:nvSpPr>
            <p:cNvPr name="TextBox 69" id="69"/>
            <p:cNvSpPr txBox="true"/>
            <p:nvPr/>
          </p:nvSpPr>
          <p:spPr>
            <a:xfrm>
              <a:off x="0" y="-28575"/>
              <a:ext cx="3438144" cy="1491615"/>
            </a:xfrm>
            <a:prstGeom prst="rect">
              <a:avLst/>
            </a:prstGeom>
          </p:spPr>
          <p:txBody>
            <a:bodyPr anchor="ctr" rtlCol="false" tIns="0" lIns="0" bIns="0" rIns="0"/>
            <a:lstStyle/>
            <a:p>
              <a:pPr algn="l">
                <a:lnSpc>
                  <a:spcPts val="1530"/>
                </a:lnSpc>
              </a:pPr>
              <a:r>
                <a:rPr lang="en-US" sz="1275">
                  <a:solidFill>
                    <a:srgbClr val="1A6B52"/>
                  </a:solidFill>
                  <a:latin typeface="Calibri (MS)"/>
                  <a:ea typeface="Calibri (MS)"/>
                  <a:cs typeface="Calibri (MS)"/>
                  <a:sym typeface="Calibri (MS)"/>
                </a:rPr>
                <a:t>Fusion avec la section précédente + taux_retention_texte</a:t>
              </a:r>
            </a:p>
          </p:txBody>
        </p:sp>
      </p:grpSp>
      <p:grpSp>
        <p:nvGrpSpPr>
          <p:cNvPr name="Group 70" id="70"/>
          <p:cNvGrpSpPr/>
          <p:nvPr/>
        </p:nvGrpSpPr>
        <p:grpSpPr>
          <a:xfrm rot="0">
            <a:off x="11178540" y="7502652"/>
            <a:ext cx="6583680" cy="1508760"/>
            <a:chOff x="0" y="0"/>
            <a:chExt cx="8778240" cy="2011680"/>
          </a:xfrm>
        </p:grpSpPr>
        <p:sp>
          <p:nvSpPr>
            <p:cNvPr name="Freeform 71" id="71"/>
            <p:cNvSpPr/>
            <p:nvPr/>
          </p:nvSpPr>
          <p:spPr>
            <a:xfrm flipH="false" flipV="false" rot="0">
              <a:off x="0" y="0"/>
              <a:ext cx="8778240" cy="2011680"/>
            </a:xfrm>
            <a:custGeom>
              <a:avLst/>
              <a:gdLst/>
              <a:ahLst/>
              <a:cxnLst/>
              <a:rect r="r" b="b" t="t" l="l"/>
              <a:pathLst>
                <a:path h="2011680" w="8778240">
                  <a:moveTo>
                    <a:pt x="0" y="0"/>
                  </a:moveTo>
                  <a:lnTo>
                    <a:pt x="8778240" y="0"/>
                  </a:lnTo>
                  <a:lnTo>
                    <a:pt x="8778240" y="2011680"/>
                  </a:lnTo>
                  <a:lnTo>
                    <a:pt x="0" y="2011680"/>
                  </a:lnTo>
                  <a:close/>
                </a:path>
              </a:pathLst>
            </a:custGeom>
            <a:solidFill>
              <a:srgbClr val="EBF0E8"/>
            </a:solidFill>
          </p:spPr>
        </p:sp>
      </p:grpSp>
      <p:grpSp>
        <p:nvGrpSpPr>
          <p:cNvPr name="Group 72" id="72"/>
          <p:cNvGrpSpPr/>
          <p:nvPr/>
        </p:nvGrpSpPr>
        <p:grpSpPr>
          <a:xfrm rot="0">
            <a:off x="11247120" y="7626096"/>
            <a:ext cx="891540" cy="411480"/>
            <a:chOff x="0" y="0"/>
            <a:chExt cx="1188720" cy="548640"/>
          </a:xfrm>
        </p:grpSpPr>
        <p:sp>
          <p:nvSpPr>
            <p:cNvPr name="Freeform 73" id="73"/>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solidFill>
              <a:srgbClr val="C89A1A"/>
            </a:solidFill>
          </p:spPr>
        </p:sp>
      </p:grpSp>
      <p:grpSp>
        <p:nvGrpSpPr>
          <p:cNvPr name="Group 74" id="74"/>
          <p:cNvGrpSpPr/>
          <p:nvPr/>
        </p:nvGrpSpPr>
        <p:grpSpPr>
          <a:xfrm rot="0">
            <a:off x="11247120" y="7626096"/>
            <a:ext cx="891540" cy="411480"/>
            <a:chOff x="0" y="0"/>
            <a:chExt cx="1188720" cy="548640"/>
          </a:xfrm>
        </p:grpSpPr>
        <p:sp>
          <p:nvSpPr>
            <p:cNvPr name="Freeform 75" id="75"/>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2">
                <a:alphaModFix amt="0"/>
              </a:blip>
              <a:stretch>
                <a:fillRect l="-9217" t="0" r="-9217" b="0"/>
              </a:stretch>
            </a:blipFill>
          </p:spPr>
        </p:sp>
        <p:sp>
          <p:nvSpPr>
            <p:cNvPr name="TextBox 76" id="76"/>
            <p:cNvSpPr txBox="true"/>
            <p:nvPr/>
          </p:nvSpPr>
          <p:spPr>
            <a:xfrm>
              <a:off x="0" y="-19050"/>
              <a:ext cx="1188720" cy="567690"/>
            </a:xfrm>
            <a:prstGeom prst="rect">
              <a:avLst/>
            </a:prstGeom>
          </p:spPr>
          <p:txBody>
            <a:bodyPr anchor="ctr" rtlCol="false" tIns="0" lIns="0" bIns="0" rIns="0"/>
            <a:lstStyle/>
            <a:p>
              <a:pPr algn="ctr">
                <a:lnSpc>
                  <a:spcPts val="1439"/>
                </a:lnSpc>
              </a:pPr>
              <a:r>
                <a:rPr lang="en-US" sz="1200" b="true">
                  <a:solidFill>
                    <a:srgbClr val="FFFFFF"/>
                  </a:solidFill>
                  <a:latin typeface="Calibri (MS) Bold"/>
                  <a:ea typeface="Calibri (MS) Bold"/>
                  <a:cs typeface="Calibri (MS) Bold"/>
                  <a:sym typeface="Calibri (MS) Bold"/>
                </a:rPr>
                <a:t>v2.3</a:t>
              </a:r>
            </a:p>
          </p:txBody>
        </p:sp>
      </p:grpSp>
      <p:grpSp>
        <p:nvGrpSpPr>
          <p:cNvPr name="Group 77" id="77"/>
          <p:cNvGrpSpPr/>
          <p:nvPr/>
        </p:nvGrpSpPr>
        <p:grpSpPr>
          <a:xfrm rot="0">
            <a:off x="12248388" y="7626096"/>
            <a:ext cx="2606040" cy="1097280"/>
            <a:chOff x="0" y="0"/>
            <a:chExt cx="3474720" cy="1463040"/>
          </a:xfrm>
        </p:grpSpPr>
        <p:sp>
          <p:nvSpPr>
            <p:cNvPr name="Freeform 78" id="78"/>
            <p:cNvSpPr/>
            <p:nvPr/>
          </p:nvSpPr>
          <p:spPr>
            <a:xfrm flipH="false" flipV="false" rot="0">
              <a:off x="0" y="0"/>
              <a:ext cx="3474720" cy="1463040"/>
            </a:xfrm>
            <a:custGeom>
              <a:avLst/>
              <a:gdLst/>
              <a:ahLst/>
              <a:cxnLst/>
              <a:rect r="r" b="b" t="t" l="l"/>
              <a:pathLst>
                <a:path h="1463040" w="3474720">
                  <a:moveTo>
                    <a:pt x="0" y="0"/>
                  </a:moveTo>
                  <a:lnTo>
                    <a:pt x="3474720" y="0"/>
                  </a:lnTo>
                  <a:lnTo>
                    <a:pt x="3474720" y="1463040"/>
                  </a:lnTo>
                  <a:lnTo>
                    <a:pt x="0" y="1463040"/>
                  </a:lnTo>
                  <a:close/>
                </a:path>
              </a:pathLst>
            </a:custGeom>
            <a:blipFill>
              <a:blip r:embed="rId2">
                <a:alphaModFix amt="0"/>
              </a:blip>
              <a:stretch>
                <a:fillRect l="-4022" t="0" r="-4022" b="0"/>
              </a:stretch>
            </a:blipFill>
          </p:spPr>
        </p:sp>
        <p:sp>
          <p:nvSpPr>
            <p:cNvPr name="TextBox 79" id="79"/>
            <p:cNvSpPr txBox="true"/>
            <p:nvPr/>
          </p:nvSpPr>
          <p:spPr>
            <a:xfrm>
              <a:off x="0" y="-28575"/>
              <a:ext cx="3474720" cy="1491615"/>
            </a:xfrm>
            <a:prstGeom prst="rect">
              <a:avLst/>
            </a:prstGeom>
          </p:spPr>
          <p:txBody>
            <a:bodyPr anchor="ctr" rtlCol="false" tIns="0" lIns="0" bIns="0" rIns="0"/>
            <a:lstStyle/>
            <a:p>
              <a:pPr algn="l">
                <a:lnSpc>
                  <a:spcPts val="1530"/>
                </a:lnSpc>
              </a:pPr>
              <a:r>
                <a:rPr lang="en-US" sz="1275">
                  <a:solidFill>
                    <a:srgbClr val="1A1A1A"/>
                  </a:solidFill>
                  <a:latin typeface="Calibri (MS)"/>
                  <a:ea typeface="Calibri (MS)"/>
                  <a:cs typeface="Calibri (MS)"/>
                  <a:sym typeface="Calibri (MS)"/>
                </a:rPr>
                <a:t>59 % de chunks sans section (sous-titres hors vocabulaire)</a:t>
              </a:r>
            </a:p>
          </p:txBody>
        </p:sp>
      </p:grpSp>
      <p:grpSp>
        <p:nvGrpSpPr>
          <p:cNvPr name="Group 80" id="80"/>
          <p:cNvGrpSpPr/>
          <p:nvPr/>
        </p:nvGrpSpPr>
        <p:grpSpPr>
          <a:xfrm rot="0">
            <a:off x="14909292" y="7859268"/>
            <a:ext cx="274320" cy="411480"/>
            <a:chOff x="0" y="0"/>
            <a:chExt cx="365760" cy="548640"/>
          </a:xfrm>
        </p:grpSpPr>
        <p:sp>
          <p:nvSpPr>
            <p:cNvPr name="Freeform 81" id="81"/>
            <p:cNvSpPr/>
            <p:nvPr/>
          </p:nvSpPr>
          <p:spPr>
            <a:xfrm flipH="false" flipV="false" rot="0">
              <a:off x="0" y="0"/>
              <a:ext cx="365760" cy="548640"/>
            </a:xfrm>
            <a:custGeom>
              <a:avLst/>
              <a:gdLst/>
              <a:ahLst/>
              <a:cxnLst/>
              <a:rect r="r" b="b" t="t" l="l"/>
              <a:pathLst>
                <a:path h="548640" w="365760">
                  <a:moveTo>
                    <a:pt x="0" y="0"/>
                  </a:moveTo>
                  <a:lnTo>
                    <a:pt x="365760" y="0"/>
                  </a:lnTo>
                  <a:lnTo>
                    <a:pt x="365760" y="548640"/>
                  </a:lnTo>
                  <a:lnTo>
                    <a:pt x="0" y="548640"/>
                  </a:lnTo>
                  <a:close/>
                </a:path>
              </a:pathLst>
            </a:custGeom>
            <a:blipFill>
              <a:blip r:embed="rId2">
                <a:alphaModFix amt="0"/>
              </a:blip>
              <a:stretch>
                <a:fillRect l="-142455" t="0" r="-142455" b="0"/>
              </a:stretch>
            </a:blipFill>
          </p:spPr>
        </p:sp>
        <p:sp>
          <p:nvSpPr>
            <p:cNvPr name="TextBox 82" id="82"/>
            <p:cNvSpPr txBox="true"/>
            <p:nvPr/>
          </p:nvSpPr>
          <p:spPr>
            <a:xfrm>
              <a:off x="0" y="-47625"/>
              <a:ext cx="365760" cy="596265"/>
            </a:xfrm>
            <a:prstGeom prst="rect">
              <a:avLst/>
            </a:prstGeom>
          </p:spPr>
          <p:txBody>
            <a:bodyPr anchor="ctr" rtlCol="false" tIns="0" lIns="0" bIns="0" rIns="0"/>
            <a:lstStyle/>
            <a:p>
              <a:pPr algn="ctr">
                <a:lnSpc>
                  <a:spcPts val="2340"/>
                </a:lnSpc>
              </a:pPr>
              <a:r>
                <a:rPr lang="en-US" sz="1950">
                  <a:solidFill>
                    <a:srgbClr val="C89A1A"/>
                  </a:solidFill>
                  <a:latin typeface="Calibri (MS)"/>
                  <a:ea typeface="Calibri (MS)"/>
                  <a:cs typeface="Calibri (MS)"/>
                  <a:sym typeface="Calibri (MS)"/>
                </a:rPr>
                <a:t>→</a:t>
              </a:r>
            </a:p>
          </p:txBody>
        </p:sp>
      </p:grpSp>
      <p:grpSp>
        <p:nvGrpSpPr>
          <p:cNvPr name="Group 83" id="83"/>
          <p:cNvGrpSpPr/>
          <p:nvPr/>
        </p:nvGrpSpPr>
        <p:grpSpPr>
          <a:xfrm rot="0">
            <a:off x="15224760" y="7626096"/>
            <a:ext cx="2578608" cy="1097280"/>
            <a:chOff x="0" y="0"/>
            <a:chExt cx="3438144" cy="1463040"/>
          </a:xfrm>
        </p:grpSpPr>
        <p:sp>
          <p:nvSpPr>
            <p:cNvPr name="Freeform 84" id="84"/>
            <p:cNvSpPr/>
            <p:nvPr/>
          </p:nvSpPr>
          <p:spPr>
            <a:xfrm flipH="false" flipV="false" rot="0">
              <a:off x="0" y="0"/>
              <a:ext cx="3438144" cy="1463040"/>
            </a:xfrm>
            <a:custGeom>
              <a:avLst/>
              <a:gdLst/>
              <a:ahLst/>
              <a:cxnLst/>
              <a:rect r="r" b="b" t="t" l="l"/>
              <a:pathLst>
                <a:path h="1463040" w="3438144">
                  <a:moveTo>
                    <a:pt x="0" y="0"/>
                  </a:moveTo>
                  <a:lnTo>
                    <a:pt x="3438144" y="0"/>
                  </a:lnTo>
                  <a:lnTo>
                    <a:pt x="3438144" y="1463040"/>
                  </a:lnTo>
                  <a:lnTo>
                    <a:pt x="0" y="1463040"/>
                  </a:lnTo>
                  <a:close/>
                </a:path>
              </a:pathLst>
            </a:custGeom>
            <a:blipFill>
              <a:blip r:embed="rId2">
                <a:alphaModFix amt="0"/>
              </a:blip>
              <a:stretch>
                <a:fillRect l="-4597" t="0" r="-4597" b="0"/>
              </a:stretch>
            </a:blipFill>
          </p:spPr>
        </p:sp>
        <p:sp>
          <p:nvSpPr>
            <p:cNvPr name="TextBox 85" id="85"/>
            <p:cNvSpPr txBox="true"/>
            <p:nvPr/>
          </p:nvSpPr>
          <p:spPr>
            <a:xfrm>
              <a:off x="0" y="-28575"/>
              <a:ext cx="3438144" cy="1491615"/>
            </a:xfrm>
            <a:prstGeom prst="rect">
              <a:avLst/>
            </a:prstGeom>
          </p:spPr>
          <p:txBody>
            <a:bodyPr anchor="ctr" rtlCol="false" tIns="0" lIns="0" bIns="0" rIns="0"/>
            <a:lstStyle/>
            <a:p>
              <a:pPr algn="l">
                <a:lnSpc>
                  <a:spcPts val="1530"/>
                </a:lnSpc>
              </a:pPr>
              <a:r>
                <a:rPr lang="en-US" sz="1275">
                  <a:solidFill>
                    <a:srgbClr val="1A6B52"/>
                  </a:solidFill>
                  <a:latin typeface="Calibri (MS)"/>
                  <a:ea typeface="Calibri (MS)"/>
                  <a:cs typeface="Calibri (MS)"/>
                  <a:sym typeface="Calibri (MS)"/>
                </a:rPr>
                <a:t>Héritage : sous-titre reçoit la section de son parent</a:t>
              </a:r>
            </a:p>
          </p:txBody>
        </p:sp>
      </p:grpSp>
      <p:grpSp>
        <p:nvGrpSpPr>
          <p:cNvPr name="Group 86" id="86"/>
          <p:cNvGrpSpPr/>
          <p:nvPr/>
        </p:nvGrpSpPr>
        <p:grpSpPr>
          <a:xfrm rot="0">
            <a:off x="11178540" y="9052560"/>
            <a:ext cx="6583680" cy="493776"/>
            <a:chOff x="0" y="0"/>
            <a:chExt cx="8778240" cy="658368"/>
          </a:xfrm>
        </p:grpSpPr>
        <p:sp>
          <p:nvSpPr>
            <p:cNvPr name="Freeform 87" id="87"/>
            <p:cNvSpPr/>
            <p:nvPr/>
          </p:nvSpPr>
          <p:spPr>
            <a:xfrm flipH="false" flipV="false" rot="0">
              <a:off x="0" y="0"/>
              <a:ext cx="8778240" cy="658368"/>
            </a:xfrm>
            <a:custGeom>
              <a:avLst/>
              <a:gdLst/>
              <a:ahLst/>
              <a:cxnLst/>
              <a:rect r="r" b="b" t="t" l="l"/>
              <a:pathLst>
                <a:path h="658368" w="8778240">
                  <a:moveTo>
                    <a:pt x="0" y="0"/>
                  </a:moveTo>
                  <a:lnTo>
                    <a:pt x="8778240" y="0"/>
                  </a:lnTo>
                  <a:lnTo>
                    <a:pt x="8778240" y="658368"/>
                  </a:lnTo>
                  <a:lnTo>
                    <a:pt x="0" y="658368"/>
                  </a:lnTo>
                  <a:close/>
                </a:path>
              </a:pathLst>
            </a:custGeom>
            <a:solidFill>
              <a:srgbClr val="1A6B52"/>
            </a:solidFill>
          </p:spPr>
        </p:sp>
      </p:grpSp>
      <p:grpSp>
        <p:nvGrpSpPr>
          <p:cNvPr name="Group 88" id="88"/>
          <p:cNvGrpSpPr/>
          <p:nvPr/>
        </p:nvGrpSpPr>
        <p:grpSpPr>
          <a:xfrm rot="0">
            <a:off x="11247120" y="9079992"/>
            <a:ext cx="6446520" cy="411480"/>
            <a:chOff x="0" y="0"/>
            <a:chExt cx="8595360" cy="548640"/>
          </a:xfrm>
        </p:grpSpPr>
        <p:sp>
          <p:nvSpPr>
            <p:cNvPr name="Freeform 89" id="89"/>
            <p:cNvSpPr/>
            <p:nvPr/>
          </p:nvSpPr>
          <p:spPr>
            <a:xfrm flipH="false" flipV="false" rot="0">
              <a:off x="0" y="0"/>
              <a:ext cx="8595360" cy="548640"/>
            </a:xfrm>
            <a:custGeom>
              <a:avLst/>
              <a:gdLst/>
              <a:ahLst/>
              <a:cxnLst/>
              <a:rect r="r" b="b" t="t" l="l"/>
              <a:pathLst>
                <a:path h="548640" w="8595360">
                  <a:moveTo>
                    <a:pt x="0" y="0"/>
                  </a:moveTo>
                  <a:lnTo>
                    <a:pt x="8595360" y="0"/>
                  </a:lnTo>
                  <a:lnTo>
                    <a:pt x="8595360" y="548640"/>
                  </a:lnTo>
                  <a:lnTo>
                    <a:pt x="0" y="548640"/>
                  </a:lnTo>
                  <a:close/>
                </a:path>
              </a:pathLst>
            </a:custGeom>
            <a:blipFill>
              <a:blip r:embed="rId2">
                <a:alphaModFix amt="0"/>
              </a:blip>
              <a:stretch>
                <a:fillRect l="0" t="-255265" r="0" b="-255265"/>
              </a:stretch>
            </a:blipFill>
          </p:spPr>
        </p:sp>
        <p:sp>
          <p:nvSpPr>
            <p:cNvPr name="TextBox 90" id="90"/>
            <p:cNvSpPr txBox="true"/>
            <p:nvPr/>
          </p:nvSpPr>
          <p:spPr>
            <a:xfrm>
              <a:off x="0" y="-28575"/>
              <a:ext cx="8595360" cy="577215"/>
            </a:xfrm>
            <a:prstGeom prst="rect">
              <a:avLst/>
            </a:prstGeom>
          </p:spPr>
          <p:txBody>
            <a:bodyPr anchor="ctr" rtlCol="false" tIns="0" lIns="0" bIns="0" rIns="0"/>
            <a:lstStyle/>
            <a:p>
              <a:pPr algn="l">
                <a:lnSpc>
                  <a:spcPts val="1620"/>
                </a:lnSpc>
              </a:pPr>
              <a:r>
                <a:rPr lang="en-US" sz="1350" b="true">
                  <a:solidFill>
                    <a:srgbClr val="FFFFFF"/>
                  </a:solidFill>
                  <a:latin typeface="Calibri (MS) Bold"/>
                  <a:ea typeface="Calibri (MS) Bold"/>
                  <a:cs typeface="Calibri (MS) Bold"/>
                  <a:sym typeface="Calibri (MS) Bold"/>
                </a:rPr>
                <a:t>✓  docs_ok 700/700 · chunks_per_doc.min = 1 · taux_retention = 1,113</a:t>
              </a:r>
            </a:p>
          </p:txBody>
        </p:sp>
      </p:grpSp>
      <p:grpSp>
        <p:nvGrpSpPr>
          <p:cNvPr name="Group 91" id="91"/>
          <p:cNvGrpSpPr/>
          <p:nvPr/>
        </p:nvGrpSpPr>
        <p:grpSpPr>
          <a:xfrm rot="0">
            <a:off x="8370951" y="9152763"/>
            <a:ext cx="265938" cy="265938"/>
            <a:chOff x="0" y="0"/>
            <a:chExt cx="354584" cy="354584"/>
          </a:xfrm>
        </p:grpSpPr>
        <p:sp>
          <p:nvSpPr>
            <p:cNvPr name="Freeform 92" id="92"/>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1A6B52"/>
            </a:solidFill>
            <a:ln w="19050" cap="sq">
              <a:solidFill>
                <a:srgbClr val="1A6B52"/>
              </a:solidFill>
              <a:prstDash val="solid"/>
              <a:miter/>
            </a:ln>
          </p:spPr>
        </p:sp>
      </p:grpSp>
      <p:grpSp>
        <p:nvGrpSpPr>
          <p:cNvPr name="Group 93" id="93"/>
          <p:cNvGrpSpPr/>
          <p:nvPr/>
        </p:nvGrpSpPr>
        <p:grpSpPr>
          <a:xfrm rot="0">
            <a:off x="8782431" y="9152763"/>
            <a:ext cx="265938" cy="265938"/>
            <a:chOff x="0" y="0"/>
            <a:chExt cx="354584" cy="354584"/>
          </a:xfrm>
        </p:grpSpPr>
        <p:sp>
          <p:nvSpPr>
            <p:cNvPr name="Freeform 94" id="94"/>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C89A1A"/>
            </a:solidFill>
            <a:ln w="19050" cap="sq">
              <a:solidFill>
                <a:srgbClr val="C89A1A"/>
              </a:solidFill>
              <a:prstDash val="solid"/>
              <a:miter/>
            </a:ln>
          </p:spPr>
        </p:sp>
      </p:grpSp>
      <p:grpSp>
        <p:nvGrpSpPr>
          <p:cNvPr name="Group 95" id="95"/>
          <p:cNvGrpSpPr/>
          <p:nvPr/>
        </p:nvGrpSpPr>
        <p:grpSpPr>
          <a:xfrm rot="0">
            <a:off x="9193911" y="9152763"/>
            <a:ext cx="265938" cy="265938"/>
            <a:chOff x="0" y="0"/>
            <a:chExt cx="354584" cy="354584"/>
          </a:xfrm>
        </p:grpSpPr>
        <p:sp>
          <p:nvSpPr>
            <p:cNvPr name="Freeform 96" id="96"/>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D4D4D4"/>
            </a:solidFill>
            <a:ln w="19050" cap="sq">
              <a:solidFill>
                <a:srgbClr val="D4D4D4"/>
              </a:solidFill>
              <a:prstDash val="solid"/>
              <a:miter/>
            </a:ln>
          </p:spPr>
        </p:sp>
      </p:grpSp>
      <p:grpSp>
        <p:nvGrpSpPr>
          <p:cNvPr name="Group 97" id="97"/>
          <p:cNvGrpSpPr/>
          <p:nvPr/>
        </p:nvGrpSpPr>
        <p:grpSpPr>
          <a:xfrm rot="0">
            <a:off x="9605391" y="9152763"/>
            <a:ext cx="265938" cy="265938"/>
            <a:chOff x="0" y="0"/>
            <a:chExt cx="354584" cy="354584"/>
          </a:xfrm>
        </p:grpSpPr>
        <p:sp>
          <p:nvSpPr>
            <p:cNvPr name="Freeform 98" id="98"/>
            <p:cNvSpPr/>
            <p:nvPr/>
          </p:nvSpPr>
          <p:spPr>
            <a:xfrm flipH="false" flipV="false" rot="0">
              <a:off x="0" y="0"/>
              <a:ext cx="354584" cy="354584"/>
            </a:xfrm>
            <a:custGeom>
              <a:avLst/>
              <a:gdLst/>
              <a:ahLst/>
              <a:cxnLst/>
              <a:rect r="r" b="b" t="t" l="l"/>
              <a:pathLst>
                <a:path h="354584" w="354584">
                  <a:moveTo>
                    <a:pt x="0" y="177292"/>
                  </a:moveTo>
                  <a:cubicBezTo>
                    <a:pt x="0" y="79375"/>
                    <a:pt x="79375" y="0"/>
                    <a:pt x="177292" y="0"/>
                  </a:cubicBezTo>
                  <a:cubicBezTo>
                    <a:pt x="275209" y="0"/>
                    <a:pt x="354584" y="79375"/>
                    <a:pt x="354584" y="177292"/>
                  </a:cubicBezTo>
                  <a:cubicBezTo>
                    <a:pt x="354584" y="275209"/>
                    <a:pt x="275209" y="354584"/>
                    <a:pt x="177292" y="354584"/>
                  </a:cubicBezTo>
                  <a:cubicBezTo>
                    <a:pt x="79375" y="354584"/>
                    <a:pt x="0" y="275209"/>
                    <a:pt x="0" y="177292"/>
                  </a:cubicBezTo>
                  <a:close/>
                </a:path>
              </a:pathLst>
            </a:custGeom>
            <a:solidFill>
              <a:srgbClr val="D4D4D4"/>
            </a:solidFill>
            <a:ln w="19050" cap="sq">
              <a:solidFill>
                <a:srgbClr val="D4D4D4"/>
              </a:solidFill>
              <a:prstDash val="solid"/>
              <a:miter/>
            </a:ln>
          </p:spPr>
        </p:sp>
      </p:grpSp>
      <p:grpSp>
        <p:nvGrpSpPr>
          <p:cNvPr name="Group 99" id="99"/>
          <p:cNvGrpSpPr/>
          <p:nvPr/>
        </p:nvGrpSpPr>
        <p:grpSpPr>
          <a:xfrm rot="0">
            <a:off x="342900" y="9738360"/>
            <a:ext cx="10698480" cy="384048"/>
            <a:chOff x="0" y="0"/>
            <a:chExt cx="14264640" cy="512064"/>
          </a:xfrm>
        </p:grpSpPr>
        <p:sp>
          <p:nvSpPr>
            <p:cNvPr name="Freeform 100" id="100"/>
            <p:cNvSpPr/>
            <p:nvPr/>
          </p:nvSpPr>
          <p:spPr>
            <a:xfrm flipH="false" flipV="false" rot="0">
              <a:off x="0" y="0"/>
              <a:ext cx="14264639" cy="512064"/>
            </a:xfrm>
            <a:custGeom>
              <a:avLst/>
              <a:gdLst/>
              <a:ahLst/>
              <a:cxnLst/>
              <a:rect r="r" b="b" t="t" l="l"/>
              <a:pathLst>
                <a:path h="512064" w="14264639">
                  <a:moveTo>
                    <a:pt x="0" y="0"/>
                  </a:moveTo>
                  <a:lnTo>
                    <a:pt x="14264639" y="0"/>
                  </a:lnTo>
                  <a:lnTo>
                    <a:pt x="14264639" y="512064"/>
                  </a:lnTo>
                  <a:lnTo>
                    <a:pt x="0" y="512064"/>
                  </a:lnTo>
                  <a:close/>
                </a:path>
              </a:pathLst>
            </a:custGeom>
            <a:blipFill>
              <a:blip r:embed="rId2">
                <a:alphaModFix amt="0"/>
              </a:blip>
              <a:stretch>
                <a:fillRect l="0" t="-492797" r="0" b="-492797"/>
              </a:stretch>
            </a:blipFill>
          </p:spPr>
        </p:sp>
        <p:sp>
          <p:nvSpPr>
            <p:cNvPr name="TextBox 101" id="101"/>
            <p:cNvSpPr txBox="true"/>
            <p:nvPr/>
          </p:nvSpPr>
          <p:spPr>
            <a:xfrm>
              <a:off x="0" y="-28575"/>
              <a:ext cx="14264640" cy="540639"/>
            </a:xfrm>
            <a:prstGeom prst="rect">
              <a:avLst/>
            </a:prstGeom>
          </p:spPr>
          <p:txBody>
            <a:bodyPr anchor="ctr" rtlCol="false" tIns="0" lIns="0" bIns="0" rIns="0"/>
            <a:lstStyle/>
            <a:p>
              <a:pPr algn="l">
                <a:lnSpc>
                  <a:spcPts val="1620"/>
                </a:lnSpc>
              </a:pPr>
              <a:r>
                <a:rPr lang="en-US" sz="1350">
                  <a:solidFill>
                    <a:srgbClr val="909090"/>
                  </a:solidFill>
                  <a:latin typeface="Calibri (MS)"/>
                  <a:ea typeface="Calibri (MS)"/>
                  <a:cs typeface="Calibri (MS)"/>
                  <a:sym typeface="Calibri (MS)"/>
                </a:rPr>
                <a:t>PipelineForge — Assistant Scientifique Documentaire (LLMOps)</a:t>
              </a:r>
            </a:p>
          </p:txBody>
        </p:sp>
      </p:grpSp>
      <p:grpSp>
        <p:nvGrpSpPr>
          <p:cNvPr name="Group 102" id="102"/>
          <p:cNvGrpSpPr/>
          <p:nvPr/>
        </p:nvGrpSpPr>
        <p:grpSpPr>
          <a:xfrm rot="0">
            <a:off x="11384280" y="9738360"/>
            <a:ext cx="6515100" cy="384048"/>
            <a:chOff x="0" y="0"/>
            <a:chExt cx="8686800" cy="512064"/>
          </a:xfrm>
        </p:grpSpPr>
        <p:sp>
          <p:nvSpPr>
            <p:cNvPr name="Freeform 103" id="103"/>
            <p:cNvSpPr/>
            <p:nvPr/>
          </p:nvSpPr>
          <p:spPr>
            <a:xfrm flipH="false" flipV="false" rot="0">
              <a:off x="0" y="0"/>
              <a:ext cx="8686800" cy="512064"/>
            </a:xfrm>
            <a:custGeom>
              <a:avLst/>
              <a:gdLst/>
              <a:ahLst/>
              <a:cxnLst/>
              <a:rect r="r" b="b" t="t" l="l"/>
              <a:pathLst>
                <a:path h="512064" w="8686800">
                  <a:moveTo>
                    <a:pt x="0" y="0"/>
                  </a:moveTo>
                  <a:lnTo>
                    <a:pt x="8686800" y="0"/>
                  </a:lnTo>
                  <a:lnTo>
                    <a:pt x="8686800" y="512064"/>
                  </a:lnTo>
                  <a:lnTo>
                    <a:pt x="0" y="512064"/>
                  </a:lnTo>
                  <a:close/>
                </a:path>
              </a:pathLst>
            </a:custGeom>
            <a:blipFill>
              <a:blip r:embed="rId2">
                <a:alphaModFix amt="0"/>
              </a:blip>
              <a:stretch>
                <a:fillRect l="0" t="-280549" r="0" b="-280549"/>
              </a:stretch>
            </a:blipFill>
          </p:spPr>
        </p:sp>
        <p:sp>
          <p:nvSpPr>
            <p:cNvPr name="TextBox 104" id="104"/>
            <p:cNvSpPr txBox="true"/>
            <p:nvPr/>
          </p:nvSpPr>
          <p:spPr>
            <a:xfrm>
              <a:off x="0" y="-28575"/>
              <a:ext cx="8686800" cy="540639"/>
            </a:xfrm>
            <a:prstGeom prst="rect">
              <a:avLst/>
            </a:prstGeom>
          </p:spPr>
          <p:txBody>
            <a:bodyPr anchor="ctr" rtlCol="false" tIns="0" lIns="0" bIns="0" rIns="0"/>
            <a:lstStyle/>
            <a:p>
              <a:pPr algn="r">
                <a:lnSpc>
                  <a:spcPts val="1620"/>
                </a:lnSpc>
              </a:pPr>
              <a:r>
                <a:rPr lang="en-US" sz="1350" b="true">
                  <a:solidFill>
                    <a:srgbClr val="C89A1A"/>
                  </a:solidFill>
                  <a:latin typeface="Calibri (MS) Bold"/>
                  <a:ea typeface="Calibri (MS) Bold"/>
                  <a:cs typeface="Calibri (MS) Bold"/>
                  <a:sym typeface="Calibri (MS) Bold"/>
                </a:rPr>
                <a:t>Sprint 2 · Transformation · Imane Alouani</a:t>
              </a:r>
            </a:p>
          </p:txBody>
        </p:sp>
      </p:grpSp>
      <p:sp>
        <p:nvSpPr>
          <p:cNvPr name="TextBox 105" id="10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A1A1A"/>
                </a:solidFill>
                <a:latin typeface="Canva Sans"/>
                <a:ea typeface="Canva Sans"/>
                <a:cs typeface="Canva Sans"/>
                <a:sym typeface="Canva Sans"/>
              </a:rPr>
              <a:t>6</a:t>
            </a:r>
          </a:p>
        </p:txBody>
      </p:sp>
    </p:spTree>
  </p:cSld>
  <p:clrMapOvr>
    <a:masterClrMapping/>
  </p:clrMapOvr>
  <p:transition spd="fast">
    <p:cover dir="d"/>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transition spd="fast">
    <p:cover dir="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470380" y="493776"/>
            <a:ext cx="3223260" cy="850392"/>
            <a:chOff x="0" y="0"/>
            <a:chExt cx="4297680" cy="1133856"/>
          </a:xfrm>
        </p:grpSpPr>
        <p:sp>
          <p:nvSpPr>
            <p:cNvPr name="Freeform 3" id="3"/>
            <p:cNvSpPr/>
            <p:nvPr/>
          </p:nvSpPr>
          <p:spPr>
            <a:xfrm flipH="false" flipV="false" rot="0">
              <a:off x="0" y="0"/>
              <a:ext cx="4297680" cy="1133856"/>
            </a:xfrm>
            <a:custGeom>
              <a:avLst/>
              <a:gdLst/>
              <a:ahLst/>
              <a:cxnLst/>
              <a:rect r="r" b="b" t="t" l="l"/>
              <a:pathLst>
                <a:path h="1133856" w="4297680">
                  <a:moveTo>
                    <a:pt x="0" y="0"/>
                  </a:moveTo>
                  <a:lnTo>
                    <a:pt x="4297680" y="0"/>
                  </a:lnTo>
                  <a:lnTo>
                    <a:pt x="4297680" y="1133856"/>
                  </a:lnTo>
                  <a:lnTo>
                    <a:pt x="0" y="1133856"/>
                  </a:lnTo>
                  <a:close/>
                </a:path>
              </a:pathLst>
            </a:custGeom>
            <a:blipFill>
              <a:blip r:embed="rId3"/>
              <a:stretch>
                <a:fillRect l="0" t="-71" r="0" b="-71"/>
              </a:stretch>
            </a:blipFill>
          </p:spPr>
        </p:sp>
        <p:sp>
          <p:nvSpPr>
            <p:cNvPr name="TextBox 4" id="4"/>
            <p:cNvSpPr txBox="true"/>
            <p:nvPr/>
          </p:nvSpPr>
          <p:spPr>
            <a:xfrm>
              <a:off x="0" y="-38100"/>
              <a:ext cx="4297680" cy="1171956"/>
            </a:xfrm>
            <a:prstGeom prst="rect">
              <a:avLst/>
            </a:prstGeom>
          </p:spPr>
          <p:txBody>
            <a:bodyPr anchor="ctr" rtlCol="false" tIns="50800" lIns="50800" bIns="50800" rIns="50800"/>
            <a:lstStyle/>
            <a:p>
              <a:pPr algn="ctr">
                <a:lnSpc>
                  <a:spcPts val="1709"/>
                </a:lnSpc>
              </a:pPr>
            </a:p>
          </p:txBody>
        </p:sp>
      </p:grpSp>
      <p:sp>
        <p:nvSpPr>
          <p:cNvPr name="Freeform 5" id="5"/>
          <p:cNvSpPr/>
          <p:nvPr/>
        </p:nvSpPr>
        <p:spPr>
          <a:xfrm flipH="false" flipV="false" rot="0">
            <a:off x="10140842" y="2303021"/>
            <a:ext cx="5941168" cy="6223673"/>
          </a:xfrm>
          <a:custGeom>
            <a:avLst/>
            <a:gdLst/>
            <a:ahLst/>
            <a:cxnLst/>
            <a:rect r="r" b="b" t="t" l="l"/>
            <a:pathLst>
              <a:path h="6223673" w="5941168">
                <a:moveTo>
                  <a:pt x="0" y="0"/>
                </a:moveTo>
                <a:lnTo>
                  <a:pt x="5941168" y="0"/>
                </a:lnTo>
                <a:lnTo>
                  <a:pt x="5941168" y="6223673"/>
                </a:lnTo>
                <a:lnTo>
                  <a:pt x="0" y="6223673"/>
                </a:lnTo>
                <a:lnTo>
                  <a:pt x="0" y="0"/>
                </a:lnTo>
                <a:close/>
              </a:path>
            </a:pathLst>
          </a:custGeom>
          <a:blipFill>
            <a:blip r:embed="rId4"/>
            <a:stretch>
              <a:fillRect l="0" t="0" r="0" b="0"/>
            </a:stretch>
          </a:blipFill>
        </p:spPr>
      </p:sp>
      <p:sp>
        <p:nvSpPr>
          <p:cNvPr name="Freeform 6" id="6"/>
          <p:cNvSpPr/>
          <p:nvPr/>
        </p:nvSpPr>
        <p:spPr>
          <a:xfrm flipH="false" flipV="false" rot="0">
            <a:off x="-9525" y="9521945"/>
            <a:ext cx="18288000" cy="720090"/>
          </a:xfrm>
          <a:custGeom>
            <a:avLst/>
            <a:gdLst/>
            <a:ahLst/>
            <a:cxnLst/>
            <a:rect r="r" b="b" t="t" l="l"/>
            <a:pathLst>
              <a:path h="720090" w="18288000">
                <a:moveTo>
                  <a:pt x="0" y="0"/>
                </a:moveTo>
                <a:lnTo>
                  <a:pt x="18288000" y="0"/>
                </a:lnTo>
                <a:lnTo>
                  <a:pt x="18288000" y="720090"/>
                </a:lnTo>
                <a:lnTo>
                  <a:pt x="0" y="720090"/>
                </a:lnTo>
                <a:lnTo>
                  <a:pt x="0" y="0"/>
                </a:lnTo>
                <a:close/>
              </a:path>
            </a:pathLst>
          </a:custGeom>
          <a:blipFill>
            <a:blip r:embed="rId5"/>
            <a:stretch>
              <a:fillRect l="0" t="0" r="0" b="0"/>
            </a:stretch>
          </a:blipFill>
        </p:spPr>
      </p:sp>
      <p:grpSp>
        <p:nvGrpSpPr>
          <p:cNvPr name="Group 7" id="7"/>
          <p:cNvGrpSpPr/>
          <p:nvPr/>
        </p:nvGrpSpPr>
        <p:grpSpPr>
          <a:xfrm rot="0">
            <a:off x="0" y="0"/>
            <a:ext cx="18242280" cy="75438"/>
            <a:chOff x="0" y="0"/>
            <a:chExt cx="24323040" cy="100584"/>
          </a:xfrm>
        </p:grpSpPr>
        <p:sp>
          <p:nvSpPr>
            <p:cNvPr name="Freeform 8" id="8"/>
            <p:cNvSpPr/>
            <p:nvPr/>
          </p:nvSpPr>
          <p:spPr>
            <a:xfrm flipH="false" flipV="false" rot="0">
              <a:off x="0" y="0"/>
              <a:ext cx="24323039" cy="100584"/>
            </a:xfrm>
            <a:custGeom>
              <a:avLst/>
              <a:gdLst/>
              <a:ahLst/>
              <a:cxnLst/>
              <a:rect r="r" b="b" t="t" l="l"/>
              <a:pathLst>
                <a:path h="100584" w="24323039">
                  <a:moveTo>
                    <a:pt x="0" y="0"/>
                  </a:moveTo>
                  <a:lnTo>
                    <a:pt x="24323039" y="0"/>
                  </a:lnTo>
                  <a:lnTo>
                    <a:pt x="24323039" y="100584"/>
                  </a:lnTo>
                  <a:lnTo>
                    <a:pt x="0" y="100584"/>
                  </a:lnTo>
                  <a:close/>
                </a:path>
              </a:pathLst>
            </a:custGeom>
            <a:solidFill>
              <a:srgbClr val="C89A1A"/>
            </a:solidFill>
          </p:spPr>
        </p:sp>
      </p:grpSp>
      <p:sp>
        <p:nvSpPr>
          <p:cNvPr name="Freeform 9" id="9"/>
          <p:cNvSpPr/>
          <p:nvPr/>
        </p:nvSpPr>
        <p:spPr>
          <a:xfrm flipH="false" flipV="false" rot="0">
            <a:off x="1354003" y="2278664"/>
            <a:ext cx="6864389" cy="6248029"/>
          </a:xfrm>
          <a:custGeom>
            <a:avLst/>
            <a:gdLst/>
            <a:ahLst/>
            <a:cxnLst/>
            <a:rect r="r" b="b" t="t" l="l"/>
            <a:pathLst>
              <a:path h="6248029" w="6864389">
                <a:moveTo>
                  <a:pt x="0" y="0"/>
                </a:moveTo>
                <a:lnTo>
                  <a:pt x="6864389" y="0"/>
                </a:lnTo>
                <a:lnTo>
                  <a:pt x="6864389" y="6248030"/>
                </a:lnTo>
                <a:lnTo>
                  <a:pt x="0" y="6248030"/>
                </a:lnTo>
                <a:lnTo>
                  <a:pt x="0" y="0"/>
                </a:lnTo>
                <a:close/>
              </a:path>
            </a:pathLst>
          </a:custGeom>
          <a:blipFill>
            <a:blip r:embed="rId6"/>
            <a:stretch>
              <a:fillRect l="0" t="0" r="0" b="0"/>
            </a:stretch>
          </a:blipFill>
        </p:spPr>
      </p:sp>
      <p:sp>
        <p:nvSpPr>
          <p:cNvPr name="TextBox 10" id="10"/>
          <p:cNvSpPr txBox="true"/>
          <p:nvPr/>
        </p:nvSpPr>
        <p:spPr>
          <a:xfrm rot="0">
            <a:off x="805177" y="360683"/>
            <a:ext cx="13065757" cy="666772"/>
          </a:xfrm>
          <a:prstGeom prst="rect">
            <a:avLst/>
          </a:prstGeom>
        </p:spPr>
        <p:txBody>
          <a:bodyPr anchor="t" rtlCol="false" tIns="0" lIns="0" bIns="0" rIns="0">
            <a:spAutoFit/>
          </a:bodyPr>
          <a:lstStyle/>
          <a:p>
            <a:pPr algn="l">
              <a:lnSpc>
                <a:spcPts val="4680"/>
              </a:lnSpc>
            </a:pPr>
            <a:r>
              <a:rPr lang="en-US" sz="3900" b="true">
                <a:solidFill>
                  <a:srgbClr val="262A33"/>
                </a:solidFill>
                <a:latin typeface="Calibri (MS) Bold"/>
                <a:ea typeface="Calibri (MS) Bold"/>
                <a:cs typeface="Calibri (MS) Bold"/>
                <a:sym typeface="Calibri (MS) Bold"/>
              </a:rPr>
              <a:t>Sprint 2 — Orchestration</a:t>
            </a:r>
          </a:p>
        </p:txBody>
      </p:sp>
      <p:sp>
        <p:nvSpPr>
          <p:cNvPr name="TextBox 11" id="11"/>
          <p:cNvSpPr txBox="true"/>
          <p:nvPr/>
        </p:nvSpPr>
        <p:spPr>
          <a:xfrm rot="0">
            <a:off x="846325" y="1331471"/>
            <a:ext cx="13065757" cy="609600"/>
          </a:xfrm>
          <a:prstGeom prst="rect">
            <a:avLst/>
          </a:prstGeom>
        </p:spPr>
        <p:txBody>
          <a:bodyPr anchor="t" rtlCol="false" tIns="0" lIns="0" bIns="0" rIns="0">
            <a:spAutoFit/>
          </a:bodyPr>
          <a:lstStyle/>
          <a:p>
            <a:pPr algn="l">
              <a:lnSpc>
                <a:spcPts val="2250"/>
              </a:lnSpc>
            </a:pPr>
            <a:r>
              <a:rPr lang="en-US" sz="1875" i="true">
                <a:solidFill>
                  <a:srgbClr val="6B707A"/>
                </a:solidFill>
                <a:latin typeface="Calibri (MS) Italics"/>
                <a:ea typeface="Calibri (MS) Italics"/>
                <a:cs typeface="Calibri (MS) Italics"/>
                <a:sym typeface="Calibri (MS) Italics"/>
              </a:rPr>
              <a:t>Pipelin</a:t>
            </a:r>
            <a:r>
              <a:rPr lang="en-US" sz="1875" i="true">
                <a:solidFill>
                  <a:srgbClr val="6B707A"/>
                </a:solidFill>
                <a:latin typeface="Calibri (MS) Italics"/>
                <a:ea typeface="Calibri (MS) Italics"/>
                <a:cs typeface="Calibri (MS) Italics"/>
                <a:sym typeface="Calibri (MS) Italics"/>
              </a:rPr>
              <a:t>e Prefect — exécution en une seule commande</a:t>
            </a:r>
          </a:p>
          <a:p>
            <a:pPr algn="l">
              <a:lnSpc>
                <a:spcPts val="2250"/>
              </a:lnSpc>
            </a:pP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7" r="0" b="-247"/>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 r="0" b="-55"/>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transition spd="slow">
    <p:cover dir="u"/>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19067" y="971550"/>
            <a:ext cx="13342620" cy="249555"/>
          </a:xfrm>
          <a:prstGeom prst="rect">
            <a:avLst/>
          </a:prstGeom>
        </p:spPr>
        <p:txBody>
          <a:bodyPr anchor="t" rtlCol="false" tIns="0" lIns="0" bIns="0" rIns="0">
            <a:spAutoFit/>
          </a:bodyPr>
          <a:lstStyle/>
          <a:p>
            <a:pPr algn="l">
              <a:lnSpc>
                <a:spcPts val="1995"/>
              </a:lnSpc>
            </a:pPr>
            <a:r>
              <a:rPr lang="en-US" b="true" sz="1425" spc="148">
                <a:solidFill>
                  <a:srgbClr val="14746B"/>
                </a:solidFill>
                <a:latin typeface="Arial Bold"/>
                <a:ea typeface="Arial Bold"/>
                <a:cs typeface="Arial Bold"/>
                <a:sym typeface="Arial Bold"/>
              </a:rPr>
              <a:t>SPRINT 3 </a:t>
            </a:r>
          </a:p>
        </p:txBody>
      </p:sp>
      <p:sp>
        <p:nvSpPr>
          <p:cNvPr name="TextBox 3" id="3"/>
          <p:cNvSpPr txBox="true"/>
          <p:nvPr/>
        </p:nvSpPr>
        <p:spPr>
          <a:xfrm rot="0">
            <a:off x="1219067" y="1357941"/>
            <a:ext cx="13342620" cy="517027"/>
          </a:xfrm>
          <a:prstGeom prst="rect">
            <a:avLst/>
          </a:prstGeom>
        </p:spPr>
        <p:txBody>
          <a:bodyPr anchor="t" rtlCol="false" tIns="0" lIns="0" bIns="0" rIns="0">
            <a:spAutoFit/>
          </a:bodyPr>
          <a:lstStyle/>
          <a:p>
            <a:pPr algn="l">
              <a:lnSpc>
                <a:spcPts val="3621"/>
              </a:lnSpc>
            </a:pPr>
            <a:r>
              <a:rPr lang="en-US" sz="3150" b="true">
                <a:solidFill>
                  <a:srgbClr val="1A1A1A"/>
                </a:solidFill>
                <a:latin typeface="Arial Bold"/>
                <a:ea typeface="Arial Bold"/>
                <a:cs typeface="Arial Bold"/>
                <a:sym typeface="Arial Bold"/>
              </a:rPr>
              <a:t>Chaîne RAG — de la question à la réponse sourcée</a:t>
            </a:r>
          </a:p>
        </p:txBody>
      </p:sp>
      <p:grpSp>
        <p:nvGrpSpPr>
          <p:cNvPr name="Group 4" id="4"/>
          <p:cNvGrpSpPr/>
          <p:nvPr/>
        </p:nvGrpSpPr>
        <p:grpSpPr>
          <a:xfrm rot="0">
            <a:off x="1219067" y="2046389"/>
            <a:ext cx="2476500" cy="753904"/>
            <a:chOff x="0" y="0"/>
            <a:chExt cx="3302000" cy="1005205"/>
          </a:xfrm>
        </p:grpSpPr>
        <p:sp>
          <p:nvSpPr>
            <p:cNvPr name="Freeform 5" id="5"/>
            <p:cNvSpPr/>
            <p:nvPr/>
          </p:nvSpPr>
          <p:spPr>
            <a:xfrm flipH="false" flipV="false" rot="0">
              <a:off x="0" y="0"/>
              <a:ext cx="3302000" cy="1005205"/>
            </a:xfrm>
            <a:custGeom>
              <a:avLst/>
              <a:gdLst/>
              <a:ahLst/>
              <a:cxnLst/>
              <a:rect r="r" b="b" t="t" l="l"/>
              <a:pathLst>
                <a:path h="1005205" w="3302000">
                  <a:moveTo>
                    <a:pt x="0" y="127000"/>
                  </a:moveTo>
                  <a:cubicBezTo>
                    <a:pt x="0" y="56896"/>
                    <a:pt x="56896" y="0"/>
                    <a:pt x="127000" y="0"/>
                  </a:cubicBezTo>
                  <a:lnTo>
                    <a:pt x="3175000" y="0"/>
                  </a:lnTo>
                  <a:cubicBezTo>
                    <a:pt x="3245104" y="0"/>
                    <a:pt x="3302000" y="56896"/>
                    <a:pt x="3302000" y="127000"/>
                  </a:cubicBezTo>
                  <a:lnTo>
                    <a:pt x="3302000" y="878205"/>
                  </a:lnTo>
                  <a:cubicBezTo>
                    <a:pt x="3302000" y="948309"/>
                    <a:pt x="3245104" y="1005205"/>
                    <a:pt x="3175000" y="1005205"/>
                  </a:cubicBezTo>
                  <a:lnTo>
                    <a:pt x="127000" y="1005205"/>
                  </a:lnTo>
                  <a:cubicBezTo>
                    <a:pt x="56896" y="1005205"/>
                    <a:pt x="0" y="948309"/>
                    <a:pt x="0" y="878205"/>
                  </a:cubicBezTo>
                  <a:close/>
                </a:path>
              </a:pathLst>
            </a:custGeom>
            <a:solidFill>
              <a:srgbClr val="14746B"/>
            </a:solidFill>
          </p:spPr>
        </p:sp>
      </p:grpSp>
      <p:grpSp>
        <p:nvGrpSpPr>
          <p:cNvPr name="Group 6" id="6"/>
          <p:cNvGrpSpPr/>
          <p:nvPr/>
        </p:nvGrpSpPr>
        <p:grpSpPr>
          <a:xfrm rot="0">
            <a:off x="1390383" y="2183311"/>
            <a:ext cx="209550" cy="209550"/>
            <a:chOff x="0" y="0"/>
            <a:chExt cx="279400" cy="279400"/>
          </a:xfrm>
        </p:grpSpPr>
        <p:sp>
          <p:nvSpPr>
            <p:cNvPr name="Freeform 7" id="7" descr="Database"/>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lnTo>
                    <a:pt x="0" y="0"/>
                  </a:lnTo>
                  <a:close/>
                </a:path>
              </a:pathLst>
            </a:custGeom>
            <a:blipFill>
              <a:blip r:embed="rId2"/>
              <a:stretch>
                <a:fillRect l="0" t="0" r="0" b="0"/>
              </a:stretch>
            </a:blipFill>
          </p:spPr>
        </p:sp>
      </p:grpSp>
      <p:sp>
        <p:nvSpPr>
          <p:cNvPr name="TextBox 8" id="8"/>
          <p:cNvSpPr txBox="true"/>
          <p:nvPr/>
        </p:nvSpPr>
        <p:spPr>
          <a:xfrm rot="0">
            <a:off x="1675971" y="2141572"/>
            <a:ext cx="1326690" cy="293160"/>
          </a:xfrm>
          <a:prstGeom prst="rect">
            <a:avLst/>
          </a:prstGeom>
        </p:spPr>
        <p:txBody>
          <a:bodyPr anchor="t" rtlCol="false" tIns="0" lIns="0" bIns="0" rIns="0">
            <a:spAutoFit/>
          </a:bodyPr>
          <a:lstStyle/>
          <a:p>
            <a:pPr algn="l">
              <a:lnSpc>
                <a:spcPts val="1709"/>
              </a:lnSpc>
            </a:pPr>
            <a:r>
              <a:rPr lang="en-US" sz="1425" b="true">
                <a:solidFill>
                  <a:srgbClr val="FFFFFF"/>
                </a:solidFill>
                <a:latin typeface="Arial Bold"/>
                <a:ea typeface="Arial Bold"/>
                <a:cs typeface="Arial Bold"/>
                <a:sym typeface="Arial Bold"/>
              </a:rPr>
              <a:t>Vector Store</a:t>
            </a:r>
          </a:p>
        </p:txBody>
      </p:sp>
      <p:sp>
        <p:nvSpPr>
          <p:cNvPr name="TextBox 9" id="9"/>
          <p:cNvSpPr txBox="true"/>
          <p:nvPr/>
        </p:nvSpPr>
        <p:spPr>
          <a:xfrm rot="0">
            <a:off x="1390383" y="2377478"/>
            <a:ext cx="22100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Chroma · 32 146 vecteurs</a:t>
            </a:r>
          </a:p>
        </p:txBody>
      </p:sp>
      <p:grpSp>
        <p:nvGrpSpPr>
          <p:cNvPr name="Group 10" id="10"/>
          <p:cNvGrpSpPr/>
          <p:nvPr/>
        </p:nvGrpSpPr>
        <p:grpSpPr>
          <a:xfrm rot="0">
            <a:off x="3809838" y="2361409"/>
            <a:ext cx="228505" cy="123730"/>
            <a:chOff x="0" y="0"/>
            <a:chExt cx="304673" cy="164973"/>
          </a:xfrm>
        </p:grpSpPr>
        <p:sp>
          <p:nvSpPr>
            <p:cNvPr name="Freeform 11" id="11" descr="arrow-right"/>
            <p:cNvSpPr/>
            <p:nvPr/>
          </p:nvSpPr>
          <p:spPr>
            <a:xfrm flipH="false" flipV="false" rot="0">
              <a:off x="0" y="0"/>
              <a:ext cx="304673" cy="164973"/>
            </a:xfrm>
            <a:custGeom>
              <a:avLst/>
              <a:gdLst/>
              <a:ahLst/>
              <a:cxnLst/>
              <a:rect r="r" b="b" t="t" l="l"/>
              <a:pathLst>
                <a:path h="164973" w="304673">
                  <a:moveTo>
                    <a:pt x="0" y="0"/>
                  </a:moveTo>
                  <a:lnTo>
                    <a:pt x="304673" y="0"/>
                  </a:lnTo>
                  <a:lnTo>
                    <a:pt x="304673" y="164973"/>
                  </a:lnTo>
                  <a:lnTo>
                    <a:pt x="0" y="164973"/>
                  </a:lnTo>
                  <a:lnTo>
                    <a:pt x="0" y="0"/>
                  </a:lnTo>
                  <a:close/>
                </a:path>
              </a:pathLst>
            </a:custGeom>
            <a:blipFill>
              <a:blip r:embed="rId3"/>
              <a:stretch>
                <a:fillRect l="0" t="-946" r="0" b="-946"/>
              </a:stretch>
            </a:blipFill>
          </p:spPr>
        </p:sp>
      </p:grpSp>
      <p:grpSp>
        <p:nvGrpSpPr>
          <p:cNvPr name="Group 12" id="12"/>
          <p:cNvGrpSpPr/>
          <p:nvPr/>
        </p:nvGrpSpPr>
        <p:grpSpPr>
          <a:xfrm rot="0">
            <a:off x="4152633" y="2046389"/>
            <a:ext cx="2476500" cy="753904"/>
            <a:chOff x="0" y="0"/>
            <a:chExt cx="3302000" cy="1005205"/>
          </a:xfrm>
        </p:grpSpPr>
        <p:sp>
          <p:nvSpPr>
            <p:cNvPr name="Freeform 13" id="13"/>
            <p:cNvSpPr/>
            <p:nvPr/>
          </p:nvSpPr>
          <p:spPr>
            <a:xfrm flipH="false" flipV="false" rot="0">
              <a:off x="0" y="0"/>
              <a:ext cx="3302000" cy="1005205"/>
            </a:xfrm>
            <a:custGeom>
              <a:avLst/>
              <a:gdLst/>
              <a:ahLst/>
              <a:cxnLst/>
              <a:rect r="r" b="b" t="t" l="l"/>
              <a:pathLst>
                <a:path h="1005205" w="3302000">
                  <a:moveTo>
                    <a:pt x="0" y="127000"/>
                  </a:moveTo>
                  <a:cubicBezTo>
                    <a:pt x="0" y="56896"/>
                    <a:pt x="56896" y="0"/>
                    <a:pt x="127000" y="0"/>
                  </a:cubicBezTo>
                  <a:lnTo>
                    <a:pt x="3175000" y="0"/>
                  </a:lnTo>
                  <a:cubicBezTo>
                    <a:pt x="3245104" y="0"/>
                    <a:pt x="3302000" y="56896"/>
                    <a:pt x="3302000" y="127000"/>
                  </a:cubicBezTo>
                  <a:lnTo>
                    <a:pt x="3302000" y="878205"/>
                  </a:lnTo>
                  <a:cubicBezTo>
                    <a:pt x="3302000" y="948309"/>
                    <a:pt x="3245104" y="1005205"/>
                    <a:pt x="3175000" y="1005205"/>
                  </a:cubicBezTo>
                  <a:lnTo>
                    <a:pt x="127000" y="1005205"/>
                  </a:lnTo>
                  <a:cubicBezTo>
                    <a:pt x="56896" y="1005205"/>
                    <a:pt x="0" y="948309"/>
                    <a:pt x="0" y="878205"/>
                  </a:cubicBezTo>
                  <a:close/>
                </a:path>
              </a:pathLst>
            </a:custGeom>
            <a:solidFill>
              <a:srgbClr val="14746B"/>
            </a:solidFill>
          </p:spPr>
        </p:sp>
      </p:grpSp>
      <p:grpSp>
        <p:nvGrpSpPr>
          <p:cNvPr name="Group 14" id="14"/>
          <p:cNvGrpSpPr/>
          <p:nvPr/>
        </p:nvGrpSpPr>
        <p:grpSpPr>
          <a:xfrm rot="0">
            <a:off x="4323950" y="2183311"/>
            <a:ext cx="209550" cy="209550"/>
            <a:chOff x="0" y="0"/>
            <a:chExt cx="279400" cy="279400"/>
          </a:xfrm>
        </p:grpSpPr>
        <p:sp>
          <p:nvSpPr>
            <p:cNvPr name="Freeform 15" id="15" descr="Search"/>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lnTo>
                    <a:pt x="0" y="0"/>
                  </a:lnTo>
                  <a:close/>
                </a:path>
              </a:pathLst>
            </a:custGeom>
            <a:blipFill>
              <a:blip r:embed="rId4"/>
              <a:stretch>
                <a:fillRect l="0" t="0" r="0" b="0"/>
              </a:stretch>
            </a:blipFill>
          </p:spPr>
        </p:sp>
      </p:grpSp>
      <p:sp>
        <p:nvSpPr>
          <p:cNvPr name="TextBox 16" id="16"/>
          <p:cNvSpPr txBox="true"/>
          <p:nvPr/>
        </p:nvSpPr>
        <p:spPr>
          <a:xfrm rot="0">
            <a:off x="4609538" y="2141572"/>
            <a:ext cx="961730" cy="293160"/>
          </a:xfrm>
          <a:prstGeom prst="rect">
            <a:avLst/>
          </a:prstGeom>
        </p:spPr>
        <p:txBody>
          <a:bodyPr anchor="t" rtlCol="false" tIns="0" lIns="0" bIns="0" rIns="0">
            <a:spAutoFit/>
          </a:bodyPr>
          <a:lstStyle/>
          <a:p>
            <a:pPr algn="l">
              <a:lnSpc>
                <a:spcPts val="1709"/>
              </a:lnSpc>
            </a:pPr>
            <a:r>
              <a:rPr lang="en-US" sz="1425" b="true">
                <a:solidFill>
                  <a:srgbClr val="FFFFFF"/>
                </a:solidFill>
                <a:latin typeface="Arial Bold"/>
                <a:ea typeface="Arial Bold"/>
                <a:cs typeface="Arial Bold"/>
                <a:sym typeface="Arial Bold"/>
              </a:rPr>
              <a:t>Retrieval</a:t>
            </a:r>
          </a:p>
        </p:txBody>
      </p:sp>
      <p:sp>
        <p:nvSpPr>
          <p:cNvPr name="TextBox 17" id="17"/>
          <p:cNvSpPr txBox="true"/>
          <p:nvPr/>
        </p:nvSpPr>
        <p:spPr>
          <a:xfrm rot="0">
            <a:off x="4323950" y="2377478"/>
            <a:ext cx="22100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BGE + préfixe · top_k = 5</a:t>
            </a:r>
          </a:p>
        </p:txBody>
      </p:sp>
      <p:grpSp>
        <p:nvGrpSpPr>
          <p:cNvPr name="Group 18" id="18"/>
          <p:cNvGrpSpPr/>
          <p:nvPr/>
        </p:nvGrpSpPr>
        <p:grpSpPr>
          <a:xfrm rot="0">
            <a:off x="6743405" y="2361409"/>
            <a:ext cx="228505" cy="123730"/>
            <a:chOff x="0" y="0"/>
            <a:chExt cx="304673" cy="164973"/>
          </a:xfrm>
        </p:grpSpPr>
        <p:sp>
          <p:nvSpPr>
            <p:cNvPr name="Freeform 19" id="19" descr="arrow-right"/>
            <p:cNvSpPr/>
            <p:nvPr/>
          </p:nvSpPr>
          <p:spPr>
            <a:xfrm flipH="false" flipV="false" rot="0">
              <a:off x="0" y="0"/>
              <a:ext cx="304673" cy="164973"/>
            </a:xfrm>
            <a:custGeom>
              <a:avLst/>
              <a:gdLst/>
              <a:ahLst/>
              <a:cxnLst/>
              <a:rect r="r" b="b" t="t" l="l"/>
              <a:pathLst>
                <a:path h="164973" w="304673">
                  <a:moveTo>
                    <a:pt x="0" y="0"/>
                  </a:moveTo>
                  <a:lnTo>
                    <a:pt x="304673" y="0"/>
                  </a:lnTo>
                  <a:lnTo>
                    <a:pt x="304673" y="164973"/>
                  </a:lnTo>
                  <a:lnTo>
                    <a:pt x="0" y="164973"/>
                  </a:lnTo>
                  <a:lnTo>
                    <a:pt x="0" y="0"/>
                  </a:lnTo>
                  <a:close/>
                </a:path>
              </a:pathLst>
            </a:custGeom>
            <a:blipFill>
              <a:blip r:embed="rId3"/>
              <a:stretch>
                <a:fillRect l="0" t="-946" r="0" b="-946"/>
              </a:stretch>
            </a:blipFill>
          </p:spPr>
        </p:sp>
      </p:grpSp>
      <p:grpSp>
        <p:nvGrpSpPr>
          <p:cNvPr name="Group 20" id="20"/>
          <p:cNvGrpSpPr/>
          <p:nvPr/>
        </p:nvGrpSpPr>
        <p:grpSpPr>
          <a:xfrm rot="0">
            <a:off x="7086200" y="2046389"/>
            <a:ext cx="2476500" cy="753904"/>
            <a:chOff x="0" y="0"/>
            <a:chExt cx="3302000" cy="1005205"/>
          </a:xfrm>
        </p:grpSpPr>
        <p:sp>
          <p:nvSpPr>
            <p:cNvPr name="Freeform 21" id="21"/>
            <p:cNvSpPr/>
            <p:nvPr/>
          </p:nvSpPr>
          <p:spPr>
            <a:xfrm flipH="false" flipV="false" rot="0">
              <a:off x="0" y="0"/>
              <a:ext cx="3302000" cy="1005205"/>
            </a:xfrm>
            <a:custGeom>
              <a:avLst/>
              <a:gdLst/>
              <a:ahLst/>
              <a:cxnLst/>
              <a:rect r="r" b="b" t="t" l="l"/>
              <a:pathLst>
                <a:path h="1005205" w="3302000">
                  <a:moveTo>
                    <a:pt x="0" y="127000"/>
                  </a:moveTo>
                  <a:cubicBezTo>
                    <a:pt x="0" y="56896"/>
                    <a:pt x="56896" y="0"/>
                    <a:pt x="127000" y="0"/>
                  </a:cubicBezTo>
                  <a:lnTo>
                    <a:pt x="3175000" y="0"/>
                  </a:lnTo>
                  <a:cubicBezTo>
                    <a:pt x="3245104" y="0"/>
                    <a:pt x="3302000" y="56896"/>
                    <a:pt x="3302000" y="127000"/>
                  </a:cubicBezTo>
                  <a:lnTo>
                    <a:pt x="3302000" y="878205"/>
                  </a:lnTo>
                  <a:cubicBezTo>
                    <a:pt x="3302000" y="948309"/>
                    <a:pt x="3245104" y="1005205"/>
                    <a:pt x="3175000" y="1005205"/>
                  </a:cubicBezTo>
                  <a:lnTo>
                    <a:pt x="127000" y="1005205"/>
                  </a:lnTo>
                  <a:cubicBezTo>
                    <a:pt x="56896" y="1005205"/>
                    <a:pt x="0" y="948309"/>
                    <a:pt x="0" y="878205"/>
                  </a:cubicBezTo>
                  <a:close/>
                </a:path>
              </a:pathLst>
            </a:custGeom>
            <a:solidFill>
              <a:srgbClr val="14746B"/>
            </a:solidFill>
          </p:spPr>
        </p:sp>
      </p:grpSp>
      <p:grpSp>
        <p:nvGrpSpPr>
          <p:cNvPr name="Group 22" id="22"/>
          <p:cNvGrpSpPr/>
          <p:nvPr/>
        </p:nvGrpSpPr>
        <p:grpSpPr>
          <a:xfrm rot="0">
            <a:off x="7257517" y="2183311"/>
            <a:ext cx="209550" cy="209550"/>
            <a:chOff x="0" y="0"/>
            <a:chExt cx="279400" cy="279400"/>
          </a:xfrm>
        </p:grpSpPr>
        <p:sp>
          <p:nvSpPr>
            <p:cNvPr name="Freeform 23" id="23" descr="Lightning"/>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lnTo>
                    <a:pt x="0" y="0"/>
                  </a:lnTo>
                  <a:close/>
                </a:path>
              </a:pathLst>
            </a:custGeom>
            <a:blipFill>
              <a:blip r:embed="rId5"/>
              <a:stretch>
                <a:fillRect l="0" t="0" r="0" b="0"/>
              </a:stretch>
            </a:blipFill>
          </p:spPr>
        </p:sp>
      </p:grpSp>
      <p:sp>
        <p:nvSpPr>
          <p:cNvPr name="TextBox 24" id="24"/>
          <p:cNvSpPr txBox="true"/>
          <p:nvPr/>
        </p:nvSpPr>
        <p:spPr>
          <a:xfrm rot="0">
            <a:off x="7543105" y="2141572"/>
            <a:ext cx="1172232" cy="293160"/>
          </a:xfrm>
          <a:prstGeom prst="rect">
            <a:avLst/>
          </a:prstGeom>
        </p:spPr>
        <p:txBody>
          <a:bodyPr anchor="t" rtlCol="false" tIns="0" lIns="0" bIns="0" rIns="0">
            <a:spAutoFit/>
          </a:bodyPr>
          <a:lstStyle/>
          <a:p>
            <a:pPr algn="l">
              <a:lnSpc>
                <a:spcPts val="1709"/>
              </a:lnSpc>
            </a:pPr>
            <a:r>
              <a:rPr lang="en-US" sz="1425" b="true">
                <a:solidFill>
                  <a:srgbClr val="FFFFFF"/>
                </a:solidFill>
                <a:latin typeface="Arial Bold"/>
                <a:ea typeface="Arial Bold"/>
                <a:cs typeface="Arial Bold"/>
                <a:sym typeface="Arial Bold"/>
              </a:rPr>
              <a:t>Génération</a:t>
            </a:r>
          </a:p>
        </p:txBody>
      </p:sp>
      <p:sp>
        <p:nvSpPr>
          <p:cNvPr name="TextBox 25" id="25"/>
          <p:cNvSpPr txBox="true"/>
          <p:nvPr/>
        </p:nvSpPr>
        <p:spPr>
          <a:xfrm rot="0">
            <a:off x="7257517" y="2377478"/>
            <a:ext cx="22100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gpt-oss-20b (Groq)</a:t>
            </a:r>
          </a:p>
        </p:txBody>
      </p:sp>
      <p:grpSp>
        <p:nvGrpSpPr>
          <p:cNvPr name="Group 26" id="26"/>
          <p:cNvGrpSpPr/>
          <p:nvPr/>
        </p:nvGrpSpPr>
        <p:grpSpPr>
          <a:xfrm rot="0">
            <a:off x="9676971" y="2361409"/>
            <a:ext cx="228505" cy="123730"/>
            <a:chOff x="0" y="0"/>
            <a:chExt cx="304673" cy="164973"/>
          </a:xfrm>
        </p:grpSpPr>
        <p:sp>
          <p:nvSpPr>
            <p:cNvPr name="Freeform 27" id="27" descr="arrow-right"/>
            <p:cNvSpPr/>
            <p:nvPr/>
          </p:nvSpPr>
          <p:spPr>
            <a:xfrm flipH="false" flipV="false" rot="0">
              <a:off x="0" y="0"/>
              <a:ext cx="304673" cy="164973"/>
            </a:xfrm>
            <a:custGeom>
              <a:avLst/>
              <a:gdLst/>
              <a:ahLst/>
              <a:cxnLst/>
              <a:rect r="r" b="b" t="t" l="l"/>
              <a:pathLst>
                <a:path h="164973" w="304673">
                  <a:moveTo>
                    <a:pt x="0" y="0"/>
                  </a:moveTo>
                  <a:lnTo>
                    <a:pt x="304673" y="0"/>
                  </a:lnTo>
                  <a:lnTo>
                    <a:pt x="304673" y="164973"/>
                  </a:lnTo>
                  <a:lnTo>
                    <a:pt x="0" y="164973"/>
                  </a:lnTo>
                  <a:lnTo>
                    <a:pt x="0" y="0"/>
                  </a:lnTo>
                  <a:close/>
                </a:path>
              </a:pathLst>
            </a:custGeom>
            <a:blipFill>
              <a:blip r:embed="rId3"/>
              <a:stretch>
                <a:fillRect l="0" t="-946" r="0" b="-946"/>
              </a:stretch>
            </a:blipFill>
          </p:spPr>
        </p:sp>
      </p:grpSp>
      <p:grpSp>
        <p:nvGrpSpPr>
          <p:cNvPr name="Group 28" id="28"/>
          <p:cNvGrpSpPr/>
          <p:nvPr/>
        </p:nvGrpSpPr>
        <p:grpSpPr>
          <a:xfrm rot="0">
            <a:off x="10019767" y="2046389"/>
            <a:ext cx="2476500" cy="753904"/>
            <a:chOff x="0" y="0"/>
            <a:chExt cx="3302000" cy="1005205"/>
          </a:xfrm>
        </p:grpSpPr>
        <p:sp>
          <p:nvSpPr>
            <p:cNvPr name="Freeform 29" id="29"/>
            <p:cNvSpPr/>
            <p:nvPr/>
          </p:nvSpPr>
          <p:spPr>
            <a:xfrm flipH="false" flipV="false" rot="0">
              <a:off x="0" y="0"/>
              <a:ext cx="3302000" cy="1005205"/>
            </a:xfrm>
            <a:custGeom>
              <a:avLst/>
              <a:gdLst/>
              <a:ahLst/>
              <a:cxnLst/>
              <a:rect r="r" b="b" t="t" l="l"/>
              <a:pathLst>
                <a:path h="1005205" w="3302000">
                  <a:moveTo>
                    <a:pt x="0" y="127000"/>
                  </a:moveTo>
                  <a:cubicBezTo>
                    <a:pt x="0" y="56896"/>
                    <a:pt x="56896" y="0"/>
                    <a:pt x="127000" y="0"/>
                  </a:cubicBezTo>
                  <a:lnTo>
                    <a:pt x="3175000" y="0"/>
                  </a:lnTo>
                  <a:cubicBezTo>
                    <a:pt x="3245104" y="0"/>
                    <a:pt x="3302000" y="56896"/>
                    <a:pt x="3302000" y="127000"/>
                  </a:cubicBezTo>
                  <a:lnTo>
                    <a:pt x="3302000" y="878205"/>
                  </a:lnTo>
                  <a:cubicBezTo>
                    <a:pt x="3302000" y="948309"/>
                    <a:pt x="3245104" y="1005205"/>
                    <a:pt x="3175000" y="1005205"/>
                  </a:cubicBezTo>
                  <a:lnTo>
                    <a:pt x="127000" y="1005205"/>
                  </a:lnTo>
                  <a:cubicBezTo>
                    <a:pt x="56896" y="1005205"/>
                    <a:pt x="0" y="948309"/>
                    <a:pt x="0" y="878205"/>
                  </a:cubicBezTo>
                  <a:close/>
                </a:path>
              </a:pathLst>
            </a:custGeom>
            <a:solidFill>
              <a:srgbClr val="14746B"/>
            </a:solidFill>
          </p:spPr>
        </p:sp>
      </p:grpSp>
      <p:grpSp>
        <p:nvGrpSpPr>
          <p:cNvPr name="Group 30" id="30"/>
          <p:cNvGrpSpPr/>
          <p:nvPr/>
        </p:nvGrpSpPr>
        <p:grpSpPr>
          <a:xfrm rot="0">
            <a:off x="10191093" y="2183311"/>
            <a:ext cx="209550" cy="209550"/>
            <a:chOff x="0" y="0"/>
            <a:chExt cx="279400" cy="279400"/>
          </a:xfrm>
        </p:grpSpPr>
        <p:sp>
          <p:nvSpPr>
            <p:cNvPr name="Freeform 31" id="31" descr="CheckCircle"/>
            <p:cNvSpPr/>
            <p:nvPr/>
          </p:nvSpPr>
          <p:spPr>
            <a:xfrm flipH="false" flipV="false" rot="0">
              <a:off x="0" y="0"/>
              <a:ext cx="279400" cy="279400"/>
            </a:xfrm>
            <a:custGeom>
              <a:avLst/>
              <a:gdLst/>
              <a:ahLst/>
              <a:cxnLst/>
              <a:rect r="r" b="b" t="t" l="l"/>
              <a:pathLst>
                <a:path h="279400" w="279400">
                  <a:moveTo>
                    <a:pt x="0" y="0"/>
                  </a:moveTo>
                  <a:lnTo>
                    <a:pt x="279400" y="0"/>
                  </a:lnTo>
                  <a:lnTo>
                    <a:pt x="279400" y="279400"/>
                  </a:lnTo>
                  <a:lnTo>
                    <a:pt x="0" y="279400"/>
                  </a:lnTo>
                  <a:lnTo>
                    <a:pt x="0" y="0"/>
                  </a:lnTo>
                  <a:close/>
                </a:path>
              </a:pathLst>
            </a:custGeom>
            <a:blipFill>
              <a:blip r:embed="rId6"/>
              <a:stretch>
                <a:fillRect l="0" t="0" r="0" b="0"/>
              </a:stretch>
            </a:blipFill>
          </p:spPr>
        </p:sp>
      </p:grpSp>
      <p:sp>
        <p:nvSpPr>
          <p:cNvPr name="TextBox 32" id="32"/>
          <p:cNvSpPr txBox="true"/>
          <p:nvPr/>
        </p:nvSpPr>
        <p:spPr>
          <a:xfrm rot="0">
            <a:off x="10476671" y="2141572"/>
            <a:ext cx="1789043" cy="293160"/>
          </a:xfrm>
          <a:prstGeom prst="rect">
            <a:avLst/>
          </a:prstGeom>
        </p:spPr>
        <p:txBody>
          <a:bodyPr anchor="t" rtlCol="false" tIns="0" lIns="0" bIns="0" rIns="0">
            <a:spAutoFit/>
          </a:bodyPr>
          <a:lstStyle/>
          <a:p>
            <a:pPr algn="l">
              <a:lnSpc>
                <a:spcPts val="1709"/>
              </a:lnSpc>
            </a:pPr>
            <a:r>
              <a:rPr lang="en-US" sz="1425" b="true">
                <a:solidFill>
                  <a:srgbClr val="FFFFFF"/>
                </a:solidFill>
                <a:latin typeface="Arial Bold"/>
                <a:ea typeface="Arial Bold"/>
                <a:cs typeface="Arial Bold"/>
                <a:sym typeface="Arial Bold"/>
              </a:rPr>
              <a:t>Réponse sourcée</a:t>
            </a:r>
          </a:p>
        </p:txBody>
      </p:sp>
      <p:sp>
        <p:nvSpPr>
          <p:cNvPr name="TextBox 33" id="33"/>
          <p:cNvSpPr txBox="true"/>
          <p:nvPr/>
        </p:nvSpPr>
        <p:spPr>
          <a:xfrm rot="0">
            <a:off x="10191093" y="2377478"/>
            <a:ext cx="22100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FR + titre, section, distance</a:t>
            </a:r>
          </a:p>
        </p:txBody>
      </p:sp>
      <p:grpSp>
        <p:nvGrpSpPr>
          <p:cNvPr name="Group 34" id="34"/>
          <p:cNvGrpSpPr/>
          <p:nvPr/>
        </p:nvGrpSpPr>
        <p:grpSpPr>
          <a:xfrm rot="0">
            <a:off x="1219067" y="3009805"/>
            <a:ext cx="127826" cy="209550"/>
            <a:chOff x="0" y="0"/>
            <a:chExt cx="170434" cy="279400"/>
          </a:xfrm>
        </p:grpSpPr>
        <p:sp>
          <p:nvSpPr>
            <p:cNvPr name="Freeform 35" id="35" descr="CheckCircle"/>
            <p:cNvSpPr/>
            <p:nvPr/>
          </p:nvSpPr>
          <p:spPr>
            <a:xfrm flipH="false" flipV="false" rot="0">
              <a:off x="0" y="0"/>
              <a:ext cx="170434" cy="279400"/>
            </a:xfrm>
            <a:custGeom>
              <a:avLst/>
              <a:gdLst/>
              <a:ahLst/>
              <a:cxnLst/>
              <a:rect r="r" b="b" t="t" l="l"/>
              <a:pathLst>
                <a:path h="279400" w="170434">
                  <a:moveTo>
                    <a:pt x="0" y="0"/>
                  </a:moveTo>
                  <a:lnTo>
                    <a:pt x="170434" y="0"/>
                  </a:lnTo>
                  <a:lnTo>
                    <a:pt x="170434" y="279400"/>
                  </a:lnTo>
                  <a:lnTo>
                    <a:pt x="0" y="279400"/>
                  </a:lnTo>
                  <a:lnTo>
                    <a:pt x="0" y="0"/>
                  </a:lnTo>
                  <a:close/>
                </a:path>
              </a:pathLst>
            </a:custGeom>
            <a:blipFill>
              <a:blip r:embed="rId7"/>
              <a:stretch>
                <a:fillRect l="0" t="-1468" r="0" b="-1468"/>
              </a:stretch>
            </a:blipFill>
          </p:spPr>
        </p:sp>
      </p:grpSp>
      <p:sp>
        <p:nvSpPr>
          <p:cNvPr name="TextBox 36" id="36"/>
          <p:cNvSpPr txBox="true"/>
          <p:nvPr/>
        </p:nvSpPr>
        <p:spPr>
          <a:xfrm rot="0">
            <a:off x="1461164" y="2933605"/>
            <a:ext cx="5244665" cy="628583"/>
          </a:xfrm>
          <a:prstGeom prst="rect">
            <a:avLst/>
          </a:prstGeom>
        </p:spPr>
        <p:txBody>
          <a:bodyPr anchor="t" rtlCol="false" tIns="0" lIns="0" bIns="0" rIns="0">
            <a:spAutoFit/>
          </a:bodyPr>
          <a:lstStyle/>
          <a:p>
            <a:pPr algn="l">
              <a:lnSpc>
                <a:spcPts val="2025"/>
              </a:lnSpc>
            </a:pPr>
            <a:r>
              <a:rPr lang="en-US" sz="1500">
                <a:solidFill>
                  <a:srgbClr val="1A1A1A"/>
                </a:solidFill>
                <a:latin typeface="Arial"/>
                <a:ea typeface="Arial"/>
                <a:cs typeface="Arial"/>
                <a:sym typeface="Arial"/>
              </a:rPr>
              <a:t>Requête encodée avec le même modèle et le préfixe BGE, comparée aux 32 146 vecteurs indexés</a:t>
            </a:r>
          </a:p>
        </p:txBody>
      </p:sp>
      <p:grpSp>
        <p:nvGrpSpPr>
          <p:cNvPr name="Group 37" id="37"/>
          <p:cNvGrpSpPr/>
          <p:nvPr/>
        </p:nvGrpSpPr>
        <p:grpSpPr>
          <a:xfrm rot="0">
            <a:off x="1219067" y="3676383"/>
            <a:ext cx="139446" cy="209550"/>
            <a:chOff x="0" y="0"/>
            <a:chExt cx="185928" cy="279400"/>
          </a:xfrm>
        </p:grpSpPr>
        <p:sp>
          <p:nvSpPr>
            <p:cNvPr name="Freeform 38" id="38" descr="CheckCircle"/>
            <p:cNvSpPr/>
            <p:nvPr/>
          </p:nvSpPr>
          <p:spPr>
            <a:xfrm flipH="false" flipV="false" rot="0">
              <a:off x="0" y="0"/>
              <a:ext cx="185928" cy="279400"/>
            </a:xfrm>
            <a:custGeom>
              <a:avLst/>
              <a:gdLst/>
              <a:ahLst/>
              <a:cxnLst/>
              <a:rect r="r" b="b" t="t" l="l"/>
              <a:pathLst>
                <a:path h="279400" w="185928">
                  <a:moveTo>
                    <a:pt x="0" y="0"/>
                  </a:moveTo>
                  <a:lnTo>
                    <a:pt x="185928" y="0"/>
                  </a:lnTo>
                  <a:lnTo>
                    <a:pt x="185928" y="279400"/>
                  </a:lnTo>
                  <a:lnTo>
                    <a:pt x="0" y="279400"/>
                  </a:lnTo>
                  <a:lnTo>
                    <a:pt x="0" y="0"/>
                  </a:lnTo>
                  <a:close/>
                </a:path>
              </a:pathLst>
            </a:custGeom>
            <a:blipFill>
              <a:blip r:embed="rId8"/>
              <a:stretch>
                <a:fillRect l="-88" t="0" r="-95" b="0"/>
              </a:stretch>
            </a:blipFill>
          </p:spPr>
        </p:sp>
      </p:grpSp>
      <p:sp>
        <p:nvSpPr>
          <p:cNvPr name="TextBox 39" id="39"/>
          <p:cNvSpPr txBox="true"/>
          <p:nvPr/>
        </p:nvSpPr>
        <p:spPr>
          <a:xfrm rot="0">
            <a:off x="1472736" y="3600183"/>
            <a:ext cx="5232740" cy="628583"/>
          </a:xfrm>
          <a:prstGeom prst="rect">
            <a:avLst/>
          </a:prstGeom>
        </p:spPr>
        <p:txBody>
          <a:bodyPr anchor="t" rtlCol="false" tIns="0" lIns="0" bIns="0" rIns="0">
            <a:spAutoFit/>
          </a:bodyPr>
          <a:lstStyle/>
          <a:p>
            <a:pPr algn="l">
              <a:lnSpc>
                <a:spcPts val="2025"/>
              </a:lnSpc>
            </a:pPr>
            <a:r>
              <a:rPr lang="en-US" sz="1500">
                <a:solidFill>
                  <a:srgbClr val="1A1A1A"/>
                </a:solidFill>
                <a:latin typeface="Arial"/>
                <a:ea typeface="Arial"/>
                <a:cs typeface="Arial"/>
                <a:sym typeface="Arial"/>
              </a:rPr>
              <a:t>Génération contrainte : le LLM ne répond qu'à partir des extraits fournis, jamais d'invention</a:t>
            </a:r>
          </a:p>
        </p:txBody>
      </p:sp>
      <p:graphicFrame>
        <p:nvGraphicFramePr>
          <p:cNvPr name="Table 40" id="40"/>
          <p:cNvGraphicFramePr>
            <a:graphicFrameLocks noGrp="true"/>
          </p:cNvGraphicFramePr>
          <p:nvPr/>
        </p:nvGraphicFramePr>
        <p:xfrm>
          <a:off x="1219068" y="4342971"/>
          <a:ext cx="5334000" cy="4318000"/>
        </p:xfrm>
        <a:graphic>
          <a:graphicData uri="http://schemas.openxmlformats.org/drawingml/2006/table">
            <a:tbl>
              <a:tblPr/>
              <a:tblGrid>
                <a:gridCol w="2667000"/>
                <a:gridCol w="2667000"/>
              </a:tblGrid>
              <a:tr h="1079500">
                <a:tc>
                  <a:txBody>
                    <a:bodyPr anchor="t" rtlCol="false"/>
                    <a:lstStyle/>
                    <a:p>
                      <a:pPr algn="l">
                        <a:lnSpc>
                          <a:spcPts val="3358"/>
                        </a:lnSpc>
                        <a:defRPr/>
                      </a:pPr>
                      <a:r>
                        <a:rPr lang="en-US" sz="2400">
                          <a:solidFill>
                            <a:srgbClr val="1A1A1A"/>
                          </a:solidFill>
                          <a:latin typeface="Arial"/>
                          <a:ea typeface="Arial"/>
                          <a:cs typeface="Arial"/>
                          <a:sym typeface="Arial"/>
                        </a:rPr>
                        <a:t>Modèle embedding</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BAAI/bge-base-en-v1.5</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1079500">
                <a:tc>
                  <a:txBody>
                    <a:bodyPr anchor="t" rtlCol="false"/>
                    <a:lstStyle/>
                    <a:p>
                      <a:pPr algn="l">
                        <a:lnSpc>
                          <a:spcPts val="3358"/>
                        </a:lnSpc>
                        <a:defRPr/>
                      </a:pPr>
                      <a:r>
                        <a:rPr lang="en-US" sz="2400">
                          <a:solidFill>
                            <a:srgbClr val="1A1A1A"/>
                          </a:solidFill>
                          <a:latin typeface="Arial"/>
                          <a:ea typeface="Arial"/>
                          <a:cs typeface="Arial"/>
                          <a:sym typeface="Arial"/>
                        </a:rPr>
                        <a:t>LLM</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gpt-oss-20b (Groq, gratuit)</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1079500">
                <a:tc>
                  <a:txBody>
                    <a:bodyPr anchor="t" rtlCol="false"/>
                    <a:lstStyle/>
                    <a:p>
                      <a:pPr algn="l">
                        <a:lnSpc>
                          <a:spcPts val="3358"/>
                        </a:lnSpc>
                        <a:defRPr/>
                      </a:pPr>
                      <a:r>
                        <a:rPr lang="en-US" sz="2400">
                          <a:solidFill>
                            <a:srgbClr val="1A1A1A"/>
                          </a:solidFill>
                          <a:latin typeface="Arial"/>
                          <a:ea typeface="Arial"/>
                          <a:cs typeface="Arial"/>
                          <a:sym typeface="Arial"/>
                        </a:rPr>
                        <a:t>top_k</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5 chunks par requête</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1079500">
                <a:tc>
                  <a:txBody>
                    <a:bodyPr anchor="t" rtlCol="false"/>
                    <a:lstStyle/>
                    <a:p>
                      <a:pPr algn="l">
                        <a:lnSpc>
                          <a:spcPts val="3358"/>
                        </a:lnSpc>
                        <a:defRPr/>
                      </a:pPr>
                      <a:r>
                        <a:rPr lang="en-US" sz="2400">
                          <a:solidFill>
                            <a:srgbClr val="1A1A1A"/>
                          </a:solidFill>
                          <a:latin typeface="Arial"/>
                          <a:ea typeface="Arial"/>
                          <a:cs typeface="Arial"/>
                          <a:sym typeface="Arial"/>
                        </a:rPr>
                        <a:t>Vector Store</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Chroma</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bl>
          </a:graphicData>
        </a:graphic>
      </p:graphicFrame>
      <p:grpSp>
        <p:nvGrpSpPr>
          <p:cNvPr name="Group 41" id="41"/>
          <p:cNvGrpSpPr/>
          <p:nvPr/>
        </p:nvGrpSpPr>
        <p:grpSpPr>
          <a:xfrm rot="0">
            <a:off x="6857838" y="3009805"/>
            <a:ext cx="10211086" cy="5943695"/>
            <a:chOff x="0" y="0"/>
            <a:chExt cx="13614781" cy="7924927"/>
          </a:xfrm>
        </p:grpSpPr>
        <p:sp>
          <p:nvSpPr>
            <p:cNvPr name="Freeform 42" id="42"/>
            <p:cNvSpPr/>
            <p:nvPr/>
          </p:nvSpPr>
          <p:spPr>
            <a:xfrm flipH="false" flipV="false" rot="0">
              <a:off x="0" y="0"/>
              <a:ext cx="13614781" cy="7924927"/>
            </a:xfrm>
            <a:custGeom>
              <a:avLst/>
              <a:gdLst/>
              <a:ahLst/>
              <a:cxnLst/>
              <a:rect r="r" b="b" t="t" l="l"/>
              <a:pathLst>
                <a:path h="7924927" w="13614781">
                  <a:moveTo>
                    <a:pt x="0" y="152400"/>
                  </a:moveTo>
                  <a:cubicBezTo>
                    <a:pt x="0" y="68199"/>
                    <a:pt x="68199" y="0"/>
                    <a:pt x="152400" y="0"/>
                  </a:cubicBezTo>
                  <a:lnTo>
                    <a:pt x="13462381" y="0"/>
                  </a:lnTo>
                  <a:cubicBezTo>
                    <a:pt x="13546582" y="0"/>
                    <a:pt x="13614781" y="68199"/>
                    <a:pt x="13614781" y="152400"/>
                  </a:cubicBezTo>
                  <a:lnTo>
                    <a:pt x="13614781" y="7772527"/>
                  </a:lnTo>
                  <a:cubicBezTo>
                    <a:pt x="13614781" y="7856728"/>
                    <a:pt x="13546582" y="7924927"/>
                    <a:pt x="13462381" y="7924927"/>
                  </a:cubicBezTo>
                  <a:lnTo>
                    <a:pt x="152400" y="7924927"/>
                  </a:lnTo>
                  <a:cubicBezTo>
                    <a:pt x="68199" y="7924927"/>
                    <a:pt x="0" y="7856728"/>
                    <a:pt x="0" y="7772527"/>
                  </a:cubicBezTo>
                  <a:close/>
                </a:path>
              </a:pathLst>
            </a:custGeom>
            <a:solidFill>
              <a:srgbClr val="EEF1EE"/>
            </a:solidFill>
          </p:spPr>
        </p:sp>
      </p:grpSp>
      <p:sp>
        <p:nvSpPr>
          <p:cNvPr name="TextBox 43" id="43"/>
          <p:cNvSpPr txBox="true"/>
          <p:nvPr/>
        </p:nvSpPr>
        <p:spPr>
          <a:xfrm rot="0">
            <a:off x="7124405" y="3143088"/>
            <a:ext cx="9968303" cy="413480"/>
          </a:xfrm>
          <a:prstGeom prst="rect">
            <a:avLst/>
          </a:prstGeom>
        </p:spPr>
        <p:txBody>
          <a:bodyPr anchor="t" rtlCol="false" tIns="0" lIns="0" bIns="0" rIns="0">
            <a:spAutoFit/>
          </a:bodyPr>
          <a:lstStyle/>
          <a:p>
            <a:pPr algn="l">
              <a:lnSpc>
                <a:spcPts val="2204"/>
              </a:lnSpc>
            </a:pPr>
            <a:r>
              <a:rPr lang="en-US" sz="1575" b="true">
                <a:solidFill>
                  <a:srgbClr val="1A1A1A"/>
                </a:solidFill>
                <a:latin typeface="Arial Bold"/>
                <a:ea typeface="Arial Bold"/>
                <a:cs typeface="Arial Bold"/>
                <a:sym typeface="Arial Bold"/>
              </a:rPr>
              <a:t>Exemple réel de réponse sourcée</a:t>
            </a:r>
          </a:p>
        </p:txBody>
      </p:sp>
      <p:graphicFrame>
        <p:nvGraphicFramePr>
          <p:cNvPr name="Table 44" id="44"/>
          <p:cNvGraphicFramePr>
            <a:graphicFrameLocks noGrp="true"/>
          </p:cNvGraphicFramePr>
          <p:nvPr/>
        </p:nvGraphicFramePr>
        <p:xfrm>
          <a:off x="7124403" y="3670763"/>
          <a:ext cx="9677400" cy="4152900"/>
        </p:xfrm>
        <a:graphic>
          <a:graphicData uri="http://schemas.openxmlformats.org/drawingml/2006/table">
            <a:tbl>
              <a:tblPr/>
              <a:tblGrid>
                <a:gridCol w="4838700"/>
                <a:gridCol w="4838700"/>
              </a:tblGrid>
              <a:tr h="708704">
                <a:tc>
                  <a:txBody>
                    <a:bodyPr anchor="t" rtlCol="false"/>
                    <a:lstStyle/>
                    <a:p>
                      <a:pPr algn="l">
                        <a:lnSpc>
                          <a:spcPts val="3358"/>
                        </a:lnSpc>
                        <a:defRPr/>
                      </a:pPr>
                      <a:r>
                        <a:rPr lang="en-US" sz="2400" b="true">
                          <a:solidFill>
                            <a:srgbClr val="1A1A1A"/>
                          </a:solidFill>
                          <a:latin typeface="Arial Bold"/>
                          <a:ea typeface="Arial Bold"/>
                          <a:cs typeface="Arial Bold"/>
                          <a:sym typeface="Arial Bold"/>
                        </a:rPr>
                        <a:t>Champ</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b="true">
                          <a:solidFill>
                            <a:srgbClr val="1A1A1A"/>
                          </a:solidFill>
                          <a:latin typeface="Arial Bold"/>
                          <a:ea typeface="Arial Bold"/>
                          <a:cs typeface="Arial Bold"/>
                          <a:sym typeface="Arial Bold"/>
                        </a:rPr>
                        <a:t>Valeur</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613346">
                <a:tc>
                  <a:txBody>
                    <a:bodyPr anchor="t" rtlCol="false"/>
                    <a:lstStyle/>
                    <a:p>
                      <a:pPr algn="l">
                        <a:lnSpc>
                          <a:spcPts val="3358"/>
                        </a:lnSpc>
                        <a:defRPr/>
                      </a:pPr>
                      <a:r>
                        <a:rPr lang="en-US" sz="2400">
                          <a:solidFill>
                            <a:srgbClr val="1A1A1A"/>
                          </a:solidFill>
                          <a:latin typeface="Arial"/>
                          <a:ea typeface="Arial"/>
                          <a:cs typeface="Arial"/>
                          <a:sym typeface="Arial"/>
                        </a:rPr>
                        <a:t>Question</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How is diabetes diagnosed?</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613346">
                <a:tc>
                  <a:txBody>
                    <a:bodyPr anchor="t" rtlCol="false"/>
                    <a:lstStyle/>
                    <a:p>
                      <a:pPr algn="l">
                        <a:lnSpc>
                          <a:spcPts val="3358"/>
                        </a:lnSpc>
                        <a:defRPr/>
                      </a:pPr>
                      <a:r>
                        <a:rPr lang="en-US" sz="2400">
                          <a:solidFill>
                            <a:srgbClr val="1A1A1A"/>
                          </a:solidFill>
                          <a:latin typeface="Arial"/>
                          <a:ea typeface="Arial"/>
                          <a:cs typeface="Arial"/>
                          <a:sym typeface="Arial"/>
                        </a:rPr>
                        <a:t>Source citée</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[Source 1]</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990813">
                <a:tc>
                  <a:txBody>
                    <a:bodyPr anchor="t" rtlCol="false"/>
                    <a:lstStyle/>
                    <a:p>
                      <a:pPr algn="l">
                        <a:lnSpc>
                          <a:spcPts val="3358"/>
                        </a:lnSpc>
                        <a:defRPr/>
                      </a:pPr>
                      <a:r>
                        <a:rPr lang="en-US" sz="2400">
                          <a:solidFill>
                            <a:srgbClr val="1A1A1A"/>
                          </a:solidFill>
                          <a:latin typeface="Arial"/>
                          <a:ea typeface="Arial"/>
                          <a:cs typeface="Arial"/>
                          <a:sym typeface="Arial"/>
                        </a:rPr>
                        <a:t>Article</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TyG et SIRI — NHANES 1999–2010</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613346">
                <a:tc>
                  <a:txBody>
                    <a:bodyPr anchor="t" rtlCol="false"/>
                    <a:lstStyle/>
                    <a:p>
                      <a:pPr algn="l">
                        <a:lnSpc>
                          <a:spcPts val="3358"/>
                        </a:lnSpc>
                        <a:defRPr/>
                      </a:pPr>
                      <a:r>
                        <a:rPr lang="en-US" sz="2400">
                          <a:solidFill>
                            <a:srgbClr val="1A1A1A"/>
                          </a:solidFill>
                          <a:latin typeface="Arial"/>
                          <a:ea typeface="Arial"/>
                          <a:cs typeface="Arial"/>
                          <a:sym typeface="Arial"/>
                        </a:rPr>
                        <a:t>Section</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A1A1A"/>
                          </a:solidFill>
                          <a:latin typeface="Arial"/>
                          <a:ea typeface="Arial"/>
                          <a:cs typeface="Arial"/>
                          <a:sym typeface="Arial"/>
                        </a:rPr>
                        <a:t>methods</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613346">
                <a:tc>
                  <a:txBody>
                    <a:bodyPr anchor="t" rtlCol="false"/>
                    <a:lstStyle/>
                    <a:p>
                      <a:pPr algn="l">
                        <a:lnSpc>
                          <a:spcPts val="3358"/>
                        </a:lnSpc>
                        <a:defRPr/>
                      </a:pPr>
                      <a:r>
                        <a:rPr lang="en-US" sz="2400">
                          <a:solidFill>
                            <a:srgbClr val="1A1A1A"/>
                          </a:solidFill>
                          <a:latin typeface="Arial"/>
                          <a:ea typeface="Arial"/>
                          <a:cs typeface="Arial"/>
                          <a:sym typeface="Arial"/>
                        </a:rPr>
                        <a:t>Distance</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3358"/>
                        </a:lnSpc>
                        <a:defRPr/>
                      </a:pPr>
                      <a:r>
                        <a:rPr lang="en-US" sz="2400">
                          <a:solidFill>
                            <a:srgbClr val="14746B"/>
                          </a:solidFill>
                          <a:latin typeface="Arial"/>
                          <a:ea typeface="Arial"/>
                          <a:cs typeface="Arial"/>
                          <a:sym typeface="Arial"/>
                        </a:rPr>
                        <a:t>0.580</a:t>
                      </a:r>
                      <a:endParaRPr lang="en-US" sz="1100"/>
                    </a:p>
                  </a:txBody>
                  <a:tcPr marL="101600" marR="101600" marT="101600" marB="1016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bl>
          </a:graphicData>
        </a:graphic>
      </p:graphicFrame>
      <p:sp>
        <p:nvSpPr>
          <p:cNvPr name="TextBox 45" id="45"/>
          <p:cNvSpPr txBox="true"/>
          <p:nvPr/>
        </p:nvSpPr>
        <p:spPr>
          <a:xfrm rot="0">
            <a:off x="7124405" y="7950432"/>
            <a:ext cx="9968303" cy="345643"/>
          </a:xfrm>
          <a:prstGeom prst="rect">
            <a:avLst/>
          </a:prstGeom>
        </p:spPr>
        <p:txBody>
          <a:bodyPr anchor="t" rtlCol="false" tIns="0" lIns="0" bIns="0" rIns="0">
            <a:spAutoFit/>
          </a:bodyPr>
          <a:lstStyle/>
          <a:p>
            <a:pPr algn="l">
              <a:lnSpc>
                <a:spcPts val="1822"/>
              </a:lnSpc>
            </a:pPr>
            <a:r>
              <a:rPr lang="en-US" sz="1350" b="true">
                <a:solidFill>
                  <a:srgbClr val="7C2F36"/>
                </a:solidFill>
                <a:latin typeface="Arial Bold"/>
                <a:ea typeface="Arial Bold"/>
                <a:cs typeface="Arial Bold"/>
                <a:sym typeface="Arial Bold"/>
              </a:rPr>
              <a:t>Sur les 8 questions testées, le modèle signale une limite du corpus dans 3 cas plutôt que d'inventer une réponse.</a:t>
            </a:r>
          </a:p>
        </p:txBody>
      </p:sp>
      <p:grpSp>
        <p:nvGrpSpPr>
          <p:cNvPr name="Group 46" id="46"/>
          <p:cNvGrpSpPr/>
          <p:nvPr/>
        </p:nvGrpSpPr>
        <p:grpSpPr>
          <a:xfrm rot="0">
            <a:off x="14973433" y="533305"/>
            <a:ext cx="2095500" cy="778669"/>
            <a:chOff x="0" y="0"/>
            <a:chExt cx="2794000" cy="1038225"/>
          </a:xfrm>
        </p:grpSpPr>
        <p:sp>
          <p:nvSpPr>
            <p:cNvPr name="Freeform 47" id="47"/>
            <p:cNvSpPr/>
            <p:nvPr/>
          </p:nvSpPr>
          <p:spPr>
            <a:xfrm flipH="false" flipV="false" rot="0">
              <a:off x="0" y="0"/>
              <a:ext cx="2794000" cy="1038225"/>
            </a:xfrm>
            <a:custGeom>
              <a:avLst/>
              <a:gdLst/>
              <a:ahLst/>
              <a:cxnLst/>
              <a:rect r="r" b="b" t="t" l="l"/>
              <a:pathLst>
                <a:path h="1038225" w="2794000">
                  <a:moveTo>
                    <a:pt x="0" y="127000"/>
                  </a:moveTo>
                  <a:cubicBezTo>
                    <a:pt x="0" y="56896"/>
                    <a:pt x="56896" y="0"/>
                    <a:pt x="127000" y="0"/>
                  </a:cubicBezTo>
                  <a:lnTo>
                    <a:pt x="2667000" y="0"/>
                  </a:lnTo>
                  <a:cubicBezTo>
                    <a:pt x="2737104" y="0"/>
                    <a:pt x="2794000" y="56896"/>
                    <a:pt x="2794000" y="127000"/>
                  </a:cubicBezTo>
                  <a:lnTo>
                    <a:pt x="2794000" y="911225"/>
                  </a:lnTo>
                  <a:cubicBezTo>
                    <a:pt x="2794000" y="981329"/>
                    <a:pt x="2737104" y="1038225"/>
                    <a:pt x="2667000" y="1038225"/>
                  </a:cubicBezTo>
                  <a:lnTo>
                    <a:pt x="127000" y="1038225"/>
                  </a:lnTo>
                  <a:cubicBezTo>
                    <a:pt x="56896" y="1038225"/>
                    <a:pt x="0" y="981329"/>
                    <a:pt x="0" y="911225"/>
                  </a:cubicBezTo>
                  <a:close/>
                </a:path>
              </a:pathLst>
            </a:custGeom>
            <a:solidFill>
              <a:srgbClr val="14746B"/>
            </a:solidFill>
          </p:spPr>
        </p:sp>
      </p:grpSp>
      <p:sp>
        <p:nvSpPr>
          <p:cNvPr name="TextBox 48" id="48"/>
          <p:cNvSpPr txBox="true"/>
          <p:nvPr/>
        </p:nvSpPr>
        <p:spPr>
          <a:xfrm rot="0">
            <a:off x="15553534" y="776478"/>
            <a:ext cx="1011336" cy="367474"/>
          </a:xfrm>
          <a:prstGeom prst="rect">
            <a:avLst/>
          </a:prstGeom>
        </p:spPr>
        <p:txBody>
          <a:bodyPr anchor="t" rtlCol="false" tIns="0" lIns="0" bIns="0" rIns="0">
            <a:spAutoFit/>
          </a:bodyPr>
          <a:lstStyle/>
          <a:p>
            <a:pPr algn="l">
              <a:lnSpc>
                <a:spcPts val="1995"/>
              </a:lnSpc>
            </a:pPr>
            <a:r>
              <a:rPr lang="en-US" sz="1425" b="true">
                <a:solidFill>
                  <a:srgbClr val="FFFFFF"/>
                </a:solidFill>
                <a:latin typeface="Arial Bold"/>
                <a:ea typeface="Arial Bold"/>
                <a:cs typeface="Arial Bold"/>
                <a:sym typeface="Arial Bold"/>
              </a:rPr>
              <a:t>SPRINT 3</a:t>
            </a:r>
          </a:p>
        </p:txBody>
      </p:sp>
      <p:grpSp>
        <p:nvGrpSpPr>
          <p:cNvPr name="Group 49" id="49"/>
          <p:cNvGrpSpPr/>
          <p:nvPr/>
        </p:nvGrpSpPr>
        <p:grpSpPr>
          <a:xfrm rot="0">
            <a:off x="6172400" y="9506150"/>
            <a:ext cx="1428750" cy="76010"/>
            <a:chOff x="0" y="0"/>
            <a:chExt cx="1905000" cy="101346"/>
          </a:xfrm>
        </p:grpSpPr>
        <p:sp>
          <p:nvSpPr>
            <p:cNvPr name="Freeform 50" id="50"/>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14746B"/>
            </a:solidFill>
          </p:spPr>
        </p:sp>
      </p:grpSp>
      <p:grpSp>
        <p:nvGrpSpPr>
          <p:cNvPr name="Group 51" id="51"/>
          <p:cNvGrpSpPr/>
          <p:nvPr/>
        </p:nvGrpSpPr>
        <p:grpSpPr>
          <a:xfrm rot="0">
            <a:off x="7677217" y="9506150"/>
            <a:ext cx="1428750" cy="76010"/>
            <a:chOff x="0" y="0"/>
            <a:chExt cx="1905000" cy="101346"/>
          </a:xfrm>
        </p:grpSpPr>
        <p:sp>
          <p:nvSpPr>
            <p:cNvPr name="Freeform 52" id="52"/>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14746B"/>
            </a:solidFill>
          </p:spPr>
        </p:sp>
      </p:grpSp>
      <p:grpSp>
        <p:nvGrpSpPr>
          <p:cNvPr name="Group 53" id="53"/>
          <p:cNvGrpSpPr/>
          <p:nvPr/>
        </p:nvGrpSpPr>
        <p:grpSpPr>
          <a:xfrm rot="0">
            <a:off x="9182033" y="9506150"/>
            <a:ext cx="1428750" cy="76010"/>
            <a:chOff x="0" y="0"/>
            <a:chExt cx="1905000" cy="101346"/>
          </a:xfrm>
        </p:grpSpPr>
        <p:sp>
          <p:nvSpPr>
            <p:cNvPr name="Freeform 54" id="54"/>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14746B"/>
            </a:solidFill>
          </p:spPr>
        </p:sp>
      </p:grpSp>
      <p:grpSp>
        <p:nvGrpSpPr>
          <p:cNvPr name="Group 55" id="55"/>
          <p:cNvGrpSpPr/>
          <p:nvPr/>
        </p:nvGrpSpPr>
        <p:grpSpPr>
          <a:xfrm rot="0">
            <a:off x="10686850" y="9506150"/>
            <a:ext cx="1428750" cy="76010"/>
            <a:chOff x="0" y="0"/>
            <a:chExt cx="1905000" cy="101346"/>
          </a:xfrm>
        </p:grpSpPr>
        <p:sp>
          <p:nvSpPr>
            <p:cNvPr name="Freeform 56" id="56"/>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D9DAD8"/>
            </a:solidFill>
          </p:spPr>
        </p:sp>
      </p:grpSp>
      <p:sp>
        <p:nvSpPr>
          <p:cNvPr name="TextBox 57" id="57"/>
          <p:cNvSpPr txBox="true"/>
          <p:nvPr/>
        </p:nvSpPr>
        <p:spPr>
          <a:xfrm rot="0">
            <a:off x="1219067" y="9551822"/>
            <a:ext cx="5012512" cy="354244"/>
          </a:xfrm>
          <a:prstGeom prst="rect">
            <a:avLst/>
          </a:prstGeom>
        </p:spPr>
        <p:txBody>
          <a:bodyPr anchor="t" rtlCol="false" tIns="0" lIns="0" bIns="0" rIns="0">
            <a:spAutoFit/>
          </a:bodyPr>
          <a:lstStyle/>
          <a:p>
            <a:pPr algn="l">
              <a:lnSpc>
                <a:spcPts val="1889"/>
              </a:lnSpc>
            </a:pPr>
            <a:r>
              <a:rPr lang="en-US" sz="1350">
                <a:solidFill>
                  <a:srgbClr val="6B7280"/>
                </a:solidFill>
                <a:latin typeface="Arial"/>
                <a:ea typeface="Arial"/>
                <a:cs typeface="Arial"/>
                <a:sym typeface="Arial"/>
              </a:rPr>
              <a:t>PipelineForge — Assistant Scientifique Documentaire (LLMOps)</a:t>
            </a:r>
          </a:p>
        </p:txBody>
      </p:sp>
      <p:sp>
        <p:nvSpPr>
          <p:cNvPr name="TextBox 58" id="58"/>
          <p:cNvSpPr txBox="true"/>
          <p:nvPr/>
        </p:nvSpPr>
        <p:spPr>
          <a:xfrm rot="0">
            <a:off x="14211595" y="9551822"/>
            <a:ext cx="2942711" cy="354244"/>
          </a:xfrm>
          <a:prstGeom prst="rect">
            <a:avLst/>
          </a:prstGeom>
        </p:spPr>
        <p:txBody>
          <a:bodyPr anchor="t" rtlCol="false" tIns="0" lIns="0" bIns="0" rIns="0">
            <a:spAutoFit/>
          </a:bodyPr>
          <a:lstStyle/>
          <a:p>
            <a:pPr algn="l">
              <a:lnSpc>
                <a:spcPts val="1889"/>
              </a:lnSpc>
            </a:pPr>
            <a:r>
              <a:rPr lang="en-US" sz="1350">
                <a:solidFill>
                  <a:srgbClr val="6B7280"/>
                </a:solidFill>
                <a:latin typeface="Arial"/>
                <a:ea typeface="Arial"/>
                <a:cs typeface="Arial"/>
                <a:sym typeface="Arial"/>
              </a:rPr>
              <a:t>Sprint 3 · Chaîne RAG · Hafsa Elhilali</a:t>
            </a:r>
          </a:p>
        </p:txBody>
      </p:sp>
      <p:sp>
        <p:nvSpPr>
          <p:cNvPr name="TextBox 59" id="5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transition spd="slow">
    <p:cover dir="d"/>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19067" y="2149250"/>
            <a:ext cx="2286000" cy="733234"/>
            <a:chOff x="0" y="0"/>
            <a:chExt cx="3048000" cy="977646"/>
          </a:xfrm>
        </p:grpSpPr>
        <p:sp>
          <p:nvSpPr>
            <p:cNvPr name="Freeform 3" id="3"/>
            <p:cNvSpPr/>
            <p:nvPr/>
          </p:nvSpPr>
          <p:spPr>
            <a:xfrm flipH="false" flipV="false" rot="0">
              <a:off x="0" y="0"/>
              <a:ext cx="3048000" cy="977646"/>
            </a:xfrm>
            <a:custGeom>
              <a:avLst/>
              <a:gdLst/>
              <a:ahLst/>
              <a:cxnLst/>
              <a:rect r="r" b="b" t="t" l="l"/>
              <a:pathLst>
                <a:path h="977646" w="3048000">
                  <a:moveTo>
                    <a:pt x="0" y="127000"/>
                  </a:moveTo>
                  <a:cubicBezTo>
                    <a:pt x="0" y="56896"/>
                    <a:pt x="56896" y="0"/>
                    <a:pt x="127000" y="0"/>
                  </a:cubicBezTo>
                  <a:lnTo>
                    <a:pt x="2921000" y="0"/>
                  </a:lnTo>
                  <a:cubicBezTo>
                    <a:pt x="2991104" y="0"/>
                    <a:pt x="3048000" y="56896"/>
                    <a:pt x="3048000" y="127000"/>
                  </a:cubicBezTo>
                  <a:lnTo>
                    <a:pt x="3048000" y="850646"/>
                  </a:lnTo>
                  <a:cubicBezTo>
                    <a:pt x="3048000" y="920750"/>
                    <a:pt x="2991104" y="977646"/>
                    <a:pt x="2921000" y="977646"/>
                  </a:cubicBezTo>
                  <a:lnTo>
                    <a:pt x="127000" y="977646"/>
                  </a:lnTo>
                  <a:cubicBezTo>
                    <a:pt x="56896" y="977646"/>
                    <a:pt x="0" y="920750"/>
                    <a:pt x="0" y="850646"/>
                  </a:cubicBezTo>
                  <a:close/>
                </a:path>
              </a:pathLst>
            </a:custGeom>
            <a:solidFill>
              <a:srgbClr val="14746B"/>
            </a:solidFill>
          </p:spPr>
        </p:sp>
      </p:grpSp>
      <p:grpSp>
        <p:nvGrpSpPr>
          <p:cNvPr name="Group 4" id="4"/>
          <p:cNvGrpSpPr/>
          <p:nvPr/>
        </p:nvGrpSpPr>
        <p:grpSpPr>
          <a:xfrm rot="0">
            <a:off x="3619338" y="2454011"/>
            <a:ext cx="228505" cy="123730"/>
            <a:chOff x="0" y="0"/>
            <a:chExt cx="304673" cy="164973"/>
          </a:xfrm>
        </p:grpSpPr>
        <p:sp>
          <p:nvSpPr>
            <p:cNvPr name="Freeform 5" id="5" descr="arrow-right"/>
            <p:cNvSpPr/>
            <p:nvPr/>
          </p:nvSpPr>
          <p:spPr>
            <a:xfrm flipH="false" flipV="false" rot="0">
              <a:off x="0" y="0"/>
              <a:ext cx="304673" cy="164973"/>
            </a:xfrm>
            <a:custGeom>
              <a:avLst/>
              <a:gdLst/>
              <a:ahLst/>
              <a:cxnLst/>
              <a:rect r="r" b="b" t="t" l="l"/>
              <a:pathLst>
                <a:path h="164973" w="304673">
                  <a:moveTo>
                    <a:pt x="0" y="0"/>
                  </a:moveTo>
                  <a:lnTo>
                    <a:pt x="304673" y="0"/>
                  </a:lnTo>
                  <a:lnTo>
                    <a:pt x="304673" y="164973"/>
                  </a:lnTo>
                  <a:lnTo>
                    <a:pt x="0" y="164973"/>
                  </a:lnTo>
                  <a:lnTo>
                    <a:pt x="0" y="0"/>
                  </a:lnTo>
                  <a:close/>
                </a:path>
              </a:pathLst>
            </a:custGeom>
            <a:blipFill>
              <a:blip r:embed="rId2"/>
              <a:stretch>
                <a:fillRect l="0" t="-946" r="0" b="-946"/>
              </a:stretch>
            </a:blipFill>
          </p:spPr>
        </p:sp>
      </p:grpSp>
      <p:grpSp>
        <p:nvGrpSpPr>
          <p:cNvPr name="Group 6" id="6"/>
          <p:cNvGrpSpPr/>
          <p:nvPr/>
        </p:nvGrpSpPr>
        <p:grpSpPr>
          <a:xfrm rot="0">
            <a:off x="3962133" y="2149250"/>
            <a:ext cx="2286000" cy="836114"/>
            <a:chOff x="0" y="0"/>
            <a:chExt cx="3048000" cy="1114819"/>
          </a:xfrm>
        </p:grpSpPr>
        <p:sp>
          <p:nvSpPr>
            <p:cNvPr name="Freeform 7" id="7"/>
            <p:cNvSpPr/>
            <p:nvPr/>
          </p:nvSpPr>
          <p:spPr>
            <a:xfrm flipH="false" flipV="false" rot="0">
              <a:off x="0" y="0"/>
              <a:ext cx="3048000" cy="1114806"/>
            </a:xfrm>
            <a:custGeom>
              <a:avLst/>
              <a:gdLst/>
              <a:ahLst/>
              <a:cxnLst/>
              <a:rect r="r" b="b" t="t" l="l"/>
              <a:pathLst>
                <a:path h="1114806" w="3048000">
                  <a:moveTo>
                    <a:pt x="0" y="113030"/>
                  </a:moveTo>
                  <a:cubicBezTo>
                    <a:pt x="0" y="50673"/>
                    <a:pt x="56896" y="0"/>
                    <a:pt x="127000" y="0"/>
                  </a:cubicBezTo>
                  <a:lnTo>
                    <a:pt x="2921000" y="0"/>
                  </a:lnTo>
                  <a:cubicBezTo>
                    <a:pt x="2991104" y="0"/>
                    <a:pt x="3048000" y="50673"/>
                    <a:pt x="3048000" y="113030"/>
                  </a:cubicBezTo>
                  <a:lnTo>
                    <a:pt x="3048000" y="1001776"/>
                  </a:lnTo>
                  <a:cubicBezTo>
                    <a:pt x="3048000" y="1064260"/>
                    <a:pt x="2991104" y="1114806"/>
                    <a:pt x="2921000" y="1114806"/>
                  </a:cubicBezTo>
                  <a:lnTo>
                    <a:pt x="127000" y="1114806"/>
                  </a:lnTo>
                  <a:cubicBezTo>
                    <a:pt x="56896" y="1114806"/>
                    <a:pt x="0" y="1064133"/>
                    <a:pt x="0" y="1001776"/>
                  </a:cubicBezTo>
                  <a:close/>
                </a:path>
              </a:pathLst>
            </a:custGeom>
            <a:solidFill>
              <a:srgbClr val="14746B"/>
            </a:solidFill>
          </p:spPr>
        </p:sp>
      </p:grpSp>
      <p:grpSp>
        <p:nvGrpSpPr>
          <p:cNvPr name="Group 8" id="8"/>
          <p:cNvGrpSpPr/>
          <p:nvPr/>
        </p:nvGrpSpPr>
        <p:grpSpPr>
          <a:xfrm rot="0">
            <a:off x="6362405" y="2454011"/>
            <a:ext cx="228505" cy="123730"/>
            <a:chOff x="0" y="0"/>
            <a:chExt cx="304673" cy="164973"/>
          </a:xfrm>
        </p:grpSpPr>
        <p:sp>
          <p:nvSpPr>
            <p:cNvPr name="Freeform 9" id="9" descr="arrow-right"/>
            <p:cNvSpPr/>
            <p:nvPr/>
          </p:nvSpPr>
          <p:spPr>
            <a:xfrm flipH="false" flipV="false" rot="0">
              <a:off x="0" y="0"/>
              <a:ext cx="304673" cy="164973"/>
            </a:xfrm>
            <a:custGeom>
              <a:avLst/>
              <a:gdLst/>
              <a:ahLst/>
              <a:cxnLst/>
              <a:rect r="r" b="b" t="t" l="l"/>
              <a:pathLst>
                <a:path h="164973" w="304673">
                  <a:moveTo>
                    <a:pt x="0" y="0"/>
                  </a:moveTo>
                  <a:lnTo>
                    <a:pt x="304673" y="0"/>
                  </a:lnTo>
                  <a:lnTo>
                    <a:pt x="304673" y="164973"/>
                  </a:lnTo>
                  <a:lnTo>
                    <a:pt x="0" y="164973"/>
                  </a:lnTo>
                  <a:lnTo>
                    <a:pt x="0" y="0"/>
                  </a:lnTo>
                  <a:close/>
                </a:path>
              </a:pathLst>
            </a:custGeom>
            <a:blipFill>
              <a:blip r:embed="rId2"/>
              <a:stretch>
                <a:fillRect l="0" t="-946" r="0" b="-946"/>
              </a:stretch>
            </a:blipFill>
          </p:spPr>
        </p:sp>
      </p:grpSp>
      <p:grpSp>
        <p:nvGrpSpPr>
          <p:cNvPr name="Group 10" id="10"/>
          <p:cNvGrpSpPr/>
          <p:nvPr/>
        </p:nvGrpSpPr>
        <p:grpSpPr>
          <a:xfrm rot="0">
            <a:off x="6705200" y="2149250"/>
            <a:ext cx="2286000" cy="733234"/>
            <a:chOff x="0" y="0"/>
            <a:chExt cx="3048000" cy="977646"/>
          </a:xfrm>
        </p:grpSpPr>
        <p:sp>
          <p:nvSpPr>
            <p:cNvPr name="Freeform 11" id="11"/>
            <p:cNvSpPr/>
            <p:nvPr/>
          </p:nvSpPr>
          <p:spPr>
            <a:xfrm flipH="false" flipV="false" rot="0">
              <a:off x="0" y="0"/>
              <a:ext cx="3048000" cy="977646"/>
            </a:xfrm>
            <a:custGeom>
              <a:avLst/>
              <a:gdLst/>
              <a:ahLst/>
              <a:cxnLst/>
              <a:rect r="r" b="b" t="t" l="l"/>
              <a:pathLst>
                <a:path h="977646" w="3048000">
                  <a:moveTo>
                    <a:pt x="0" y="127000"/>
                  </a:moveTo>
                  <a:cubicBezTo>
                    <a:pt x="0" y="56896"/>
                    <a:pt x="56896" y="0"/>
                    <a:pt x="127000" y="0"/>
                  </a:cubicBezTo>
                  <a:lnTo>
                    <a:pt x="2921000" y="0"/>
                  </a:lnTo>
                  <a:cubicBezTo>
                    <a:pt x="2991104" y="0"/>
                    <a:pt x="3048000" y="56896"/>
                    <a:pt x="3048000" y="127000"/>
                  </a:cubicBezTo>
                  <a:lnTo>
                    <a:pt x="3048000" y="850646"/>
                  </a:lnTo>
                  <a:cubicBezTo>
                    <a:pt x="3048000" y="920750"/>
                    <a:pt x="2991104" y="977646"/>
                    <a:pt x="2921000" y="977646"/>
                  </a:cubicBezTo>
                  <a:lnTo>
                    <a:pt x="127000" y="977646"/>
                  </a:lnTo>
                  <a:cubicBezTo>
                    <a:pt x="56896" y="977646"/>
                    <a:pt x="0" y="920750"/>
                    <a:pt x="0" y="850646"/>
                  </a:cubicBezTo>
                  <a:close/>
                </a:path>
              </a:pathLst>
            </a:custGeom>
            <a:solidFill>
              <a:srgbClr val="14746B"/>
            </a:solidFill>
          </p:spPr>
        </p:sp>
      </p:grpSp>
      <p:grpSp>
        <p:nvGrpSpPr>
          <p:cNvPr name="Group 12" id="12"/>
          <p:cNvGrpSpPr/>
          <p:nvPr/>
        </p:nvGrpSpPr>
        <p:grpSpPr>
          <a:xfrm rot="0">
            <a:off x="9105471" y="2454011"/>
            <a:ext cx="228505" cy="123730"/>
            <a:chOff x="0" y="0"/>
            <a:chExt cx="304673" cy="164973"/>
          </a:xfrm>
        </p:grpSpPr>
        <p:sp>
          <p:nvSpPr>
            <p:cNvPr name="Freeform 13" id="13" descr="arrow-right"/>
            <p:cNvSpPr/>
            <p:nvPr/>
          </p:nvSpPr>
          <p:spPr>
            <a:xfrm flipH="false" flipV="false" rot="0">
              <a:off x="0" y="0"/>
              <a:ext cx="304673" cy="164973"/>
            </a:xfrm>
            <a:custGeom>
              <a:avLst/>
              <a:gdLst/>
              <a:ahLst/>
              <a:cxnLst/>
              <a:rect r="r" b="b" t="t" l="l"/>
              <a:pathLst>
                <a:path h="164973" w="304673">
                  <a:moveTo>
                    <a:pt x="0" y="0"/>
                  </a:moveTo>
                  <a:lnTo>
                    <a:pt x="304673" y="0"/>
                  </a:lnTo>
                  <a:lnTo>
                    <a:pt x="304673" y="164973"/>
                  </a:lnTo>
                  <a:lnTo>
                    <a:pt x="0" y="164973"/>
                  </a:lnTo>
                  <a:lnTo>
                    <a:pt x="0" y="0"/>
                  </a:lnTo>
                  <a:close/>
                </a:path>
              </a:pathLst>
            </a:custGeom>
            <a:blipFill>
              <a:blip r:embed="rId2"/>
              <a:stretch>
                <a:fillRect l="0" t="-946" r="0" b="-946"/>
              </a:stretch>
            </a:blipFill>
          </p:spPr>
        </p:sp>
      </p:grpSp>
      <p:sp>
        <p:nvSpPr>
          <p:cNvPr name="Freeform 14" id="14"/>
          <p:cNvSpPr/>
          <p:nvPr/>
        </p:nvSpPr>
        <p:spPr>
          <a:xfrm flipH="false" flipV="false" rot="0">
            <a:off x="9437560" y="2145973"/>
            <a:ext cx="2307431" cy="739712"/>
          </a:xfrm>
          <a:custGeom>
            <a:avLst/>
            <a:gdLst/>
            <a:ahLst/>
            <a:cxnLst/>
            <a:rect r="r" b="b" t="t" l="l"/>
            <a:pathLst>
              <a:path h="739712" w="2307431">
                <a:moveTo>
                  <a:pt x="0" y="0"/>
                </a:moveTo>
                <a:lnTo>
                  <a:pt x="2307432" y="0"/>
                </a:lnTo>
                <a:lnTo>
                  <a:pt x="2307432" y="739711"/>
                </a:lnTo>
                <a:lnTo>
                  <a:pt x="0" y="7397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219105" y="3358287"/>
            <a:ext cx="171317" cy="239148"/>
            <a:chOff x="0" y="0"/>
            <a:chExt cx="200152" cy="279400"/>
          </a:xfrm>
        </p:grpSpPr>
        <p:sp>
          <p:nvSpPr>
            <p:cNvPr name="Freeform 16" id="16" descr="CheckCircle"/>
            <p:cNvSpPr/>
            <p:nvPr/>
          </p:nvSpPr>
          <p:spPr>
            <a:xfrm flipH="false" flipV="false" rot="0">
              <a:off x="0" y="0"/>
              <a:ext cx="200152" cy="279400"/>
            </a:xfrm>
            <a:custGeom>
              <a:avLst/>
              <a:gdLst/>
              <a:ahLst/>
              <a:cxnLst/>
              <a:rect r="r" b="b" t="t" l="l"/>
              <a:pathLst>
                <a:path h="279400" w="200152">
                  <a:moveTo>
                    <a:pt x="0" y="0"/>
                  </a:moveTo>
                  <a:lnTo>
                    <a:pt x="200152" y="0"/>
                  </a:lnTo>
                  <a:lnTo>
                    <a:pt x="200152" y="279400"/>
                  </a:lnTo>
                  <a:lnTo>
                    <a:pt x="0" y="279400"/>
                  </a:lnTo>
                  <a:lnTo>
                    <a:pt x="0" y="0"/>
                  </a:lnTo>
                  <a:close/>
                </a:path>
              </a:pathLst>
            </a:custGeom>
            <a:blipFill>
              <a:blip r:embed="rId5"/>
              <a:stretch>
                <a:fillRect l="-1700" t="0" r="-1700" b="0"/>
              </a:stretch>
            </a:blipFill>
          </p:spPr>
        </p:sp>
      </p:grpSp>
      <p:grpSp>
        <p:nvGrpSpPr>
          <p:cNvPr name="Group 17" id="17"/>
          <p:cNvGrpSpPr/>
          <p:nvPr/>
        </p:nvGrpSpPr>
        <p:grpSpPr>
          <a:xfrm rot="0">
            <a:off x="1197638" y="4300084"/>
            <a:ext cx="165068" cy="209550"/>
            <a:chOff x="0" y="0"/>
            <a:chExt cx="220091" cy="279400"/>
          </a:xfrm>
        </p:grpSpPr>
        <p:sp>
          <p:nvSpPr>
            <p:cNvPr name="Freeform 18" id="18" descr="Wrench"/>
            <p:cNvSpPr/>
            <p:nvPr/>
          </p:nvSpPr>
          <p:spPr>
            <a:xfrm flipH="false" flipV="false" rot="0">
              <a:off x="0" y="0"/>
              <a:ext cx="220091" cy="279400"/>
            </a:xfrm>
            <a:custGeom>
              <a:avLst/>
              <a:gdLst/>
              <a:ahLst/>
              <a:cxnLst/>
              <a:rect r="r" b="b" t="t" l="l"/>
              <a:pathLst>
                <a:path h="279400" w="220091">
                  <a:moveTo>
                    <a:pt x="0" y="0"/>
                  </a:moveTo>
                  <a:lnTo>
                    <a:pt x="220091" y="0"/>
                  </a:lnTo>
                  <a:lnTo>
                    <a:pt x="220091" y="279400"/>
                  </a:lnTo>
                  <a:lnTo>
                    <a:pt x="0" y="279400"/>
                  </a:lnTo>
                  <a:lnTo>
                    <a:pt x="0" y="0"/>
                  </a:lnTo>
                  <a:close/>
                </a:path>
              </a:pathLst>
            </a:custGeom>
            <a:blipFill>
              <a:blip r:embed="rId6"/>
              <a:stretch>
                <a:fillRect l="0" t="-640" r="0" b="-636"/>
              </a:stretch>
            </a:blipFill>
          </p:spPr>
        </p:sp>
      </p:grpSp>
      <p:grpSp>
        <p:nvGrpSpPr>
          <p:cNvPr name="Group 19" id="19"/>
          <p:cNvGrpSpPr/>
          <p:nvPr/>
        </p:nvGrpSpPr>
        <p:grpSpPr>
          <a:xfrm rot="0">
            <a:off x="1175610" y="5184270"/>
            <a:ext cx="146304" cy="209550"/>
            <a:chOff x="0" y="0"/>
            <a:chExt cx="195072" cy="279400"/>
          </a:xfrm>
        </p:grpSpPr>
        <p:sp>
          <p:nvSpPr>
            <p:cNvPr name="Freeform 20" id="20" descr="Settings"/>
            <p:cNvSpPr/>
            <p:nvPr/>
          </p:nvSpPr>
          <p:spPr>
            <a:xfrm flipH="false" flipV="false" rot="0">
              <a:off x="0" y="0"/>
              <a:ext cx="195072" cy="279400"/>
            </a:xfrm>
            <a:custGeom>
              <a:avLst/>
              <a:gdLst/>
              <a:ahLst/>
              <a:cxnLst/>
              <a:rect r="r" b="b" t="t" l="l"/>
              <a:pathLst>
                <a:path h="279400" w="195072">
                  <a:moveTo>
                    <a:pt x="0" y="0"/>
                  </a:moveTo>
                  <a:lnTo>
                    <a:pt x="195072" y="0"/>
                  </a:lnTo>
                  <a:lnTo>
                    <a:pt x="195072" y="279400"/>
                  </a:lnTo>
                  <a:lnTo>
                    <a:pt x="0" y="279400"/>
                  </a:lnTo>
                  <a:lnTo>
                    <a:pt x="0" y="0"/>
                  </a:lnTo>
                  <a:close/>
                </a:path>
              </a:pathLst>
            </a:custGeom>
            <a:blipFill>
              <a:blip r:embed="rId7"/>
              <a:stretch>
                <a:fillRect l="0" t="-2363" r="0" b="-2363"/>
              </a:stretch>
            </a:blipFill>
          </p:spPr>
        </p:sp>
      </p:grpSp>
      <p:grpSp>
        <p:nvGrpSpPr>
          <p:cNvPr name="Group 21" id="21"/>
          <p:cNvGrpSpPr/>
          <p:nvPr/>
        </p:nvGrpSpPr>
        <p:grpSpPr>
          <a:xfrm rot="0">
            <a:off x="6857838" y="3194847"/>
            <a:ext cx="10211086" cy="5758625"/>
            <a:chOff x="0" y="0"/>
            <a:chExt cx="13614781" cy="7678166"/>
          </a:xfrm>
        </p:grpSpPr>
        <p:sp>
          <p:nvSpPr>
            <p:cNvPr name="Freeform 22" id="22"/>
            <p:cNvSpPr/>
            <p:nvPr/>
          </p:nvSpPr>
          <p:spPr>
            <a:xfrm flipH="false" flipV="false" rot="0">
              <a:off x="0" y="0"/>
              <a:ext cx="13614781" cy="7678166"/>
            </a:xfrm>
            <a:custGeom>
              <a:avLst/>
              <a:gdLst/>
              <a:ahLst/>
              <a:cxnLst/>
              <a:rect r="r" b="b" t="t" l="l"/>
              <a:pathLst>
                <a:path h="7678166" w="13614781">
                  <a:moveTo>
                    <a:pt x="0" y="152400"/>
                  </a:moveTo>
                  <a:cubicBezTo>
                    <a:pt x="0" y="68199"/>
                    <a:pt x="68199" y="0"/>
                    <a:pt x="152400" y="0"/>
                  </a:cubicBezTo>
                  <a:lnTo>
                    <a:pt x="13462381" y="0"/>
                  </a:lnTo>
                  <a:cubicBezTo>
                    <a:pt x="13546582" y="0"/>
                    <a:pt x="13614781" y="68199"/>
                    <a:pt x="13614781" y="152400"/>
                  </a:cubicBezTo>
                  <a:lnTo>
                    <a:pt x="13614781" y="7525766"/>
                  </a:lnTo>
                  <a:cubicBezTo>
                    <a:pt x="13614781" y="7609967"/>
                    <a:pt x="13546582" y="7678166"/>
                    <a:pt x="13462381" y="7678166"/>
                  </a:cubicBezTo>
                  <a:lnTo>
                    <a:pt x="152400" y="7678166"/>
                  </a:lnTo>
                  <a:cubicBezTo>
                    <a:pt x="68199" y="7678166"/>
                    <a:pt x="0" y="7609967"/>
                    <a:pt x="0" y="7525766"/>
                  </a:cubicBezTo>
                  <a:close/>
                </a:path>
              </a:pathLst>
            </a:custGeom>
            <a:solidFill>
              <a:srgbClr val="EEF1EE"/>
            </a:solidFill>
          </p:spPr>
        </p:sp>
      </p:grpSp>
      <p:graphicFrame>
        <p:nvGraphicFramePr>
          <p:cNvPr name="Table 23" id="23"/>
          <p:cNvGraphicFramePr>
            <a:graphicFrameLocks noGrp="true"/>
          </p:cNvGraphicFramePr>
          <p:nvPr/>
        </p:nvGraphicFramePr>
        <p:xfrm>
          <a:off x="7105386" y="3754107"/>
          <a:ext cx="9715500" cy="4991100"/>
        </p:xfrm>
        <a:graphic>
          <a:graphicData uri="http://schemas.openxmlformats.org/drawingml/2006/table">
            <a:tbl>
              <a:tblPr/>
              <a:tblGrid>
                <a:gridCol w="3238500"/>
                <a:gridCol w="3238500"/>
                <a:gridCol w="3238500"/>
              </a:tblGrid>
              <a:tr h="619966">
                <a:tc>
                  <a:txBody>
                    <a:bodyPr anchor="t" rtlCol="false"/>
                    <a:lstStyle/>
                    <a:p>
                      <a:pPr algn="l">
                        <a:lnSpc>
                          <a:spcPts val="2929"/>
                        </a:lnSpc>
                        <a:defRPr/>
                      </a:pPr>
                      <a:r>
                        <a:rPr lang="en-US" sz="2091">
                          <a:solidFill>
                            <a:srgbClr val="1A1A1A"/>
                          </a:solidFill>
                          <a:latin typeface="Arial"/>
                          <a:ea typeface="Arial"/>
                          <a:cs typeface="Arial"/>
                          <a:sym typeface="Arial"/>
                        </a:rPr>
                        <a:t>Sujet</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Distance</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Pertinence</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Chimiothérapie</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0.588</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4746B"/>
                          </a:solidFill>
                          <a:latin typeface="Arial"/>
                          <a:ea typeface="Arial"/>
                          <a:cs typeface="Arial"/>
                          <a:sym typeface="Arial"/>
                        </a:rPr>
                        <a:t>41 %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Diabète</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0.580</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4746B"/>
                          </a:solidFill>
                          <a:latin typeface="Arial"/>
                          <a:ea typeface="Arial"/>
                          <a:cs typeface="Arial"/>
                          <a:sym typeface="Arial"/>
                        </a:rPr>
                        <a:t>42 %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Cardiovasculaire</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0.694</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31 %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Épidémiologie</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0.601</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4746B"/>
                          </a:solidFill>
                          <a:latin typeface="Arial"/>
                          <a:ea typeface="Arial"/>
                          <a:cs typeface="Arial"/>
                          <a:sym typeface="Arial"/>
                        </a:rPr>
                        <a:t>40 %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Vaccins</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0.723</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7C2F36"/>
                          </a:solidFill>
                          <a:latin typeface="Arial"/>
                          <a:ea typeface="Arial"/>
                          <a:cs typeface="Arial"/>
                          <a:sym typeface="Arial"/>
                        </a:rPr>
                        <a:t>28 %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Essais cliniques</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0.624</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4746B"/>
                          </a:solidFill>
                          <a:latin typeface="Arial"/>
                          <a:ea typeface="Arial"/>
                          <a:cs typeface="Arial"/>
                          <a:sym typeface="Arial"/>
                        </a:rPr>
                        <a:t>38 %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ML diagnostic</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0.422</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4746B"/>
                          </a:solidFill>
                          <a:latin typeface="Arial"/>
                          <a:ea typeface="Arial"/>
                          <a:cs typeface="Arial"/>
                          <a:sym typeface="Arial"/>
                        </a:rPr>
                        <a:t>58 %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r h="546392">
                <a:tc>
                  <a:txBody>
                    <a:bodyPr anchor="t" rtlCol="false"/>
                    <a:lstStyle/>
                    <a:p>
                      <a:pPr algn="l">
                        <a:lnSpc>
                          <a:spcPts val="2929"/>
                        </a:lnSpc>
                        <a:defRPr/>
                      </a:pPr>
                      <a:r>
                        <a:rPr lang="en-US" sz="2091">
                          <a:solidFill>
                            <a:srgbClr val="1A1A1A"/>
                          </a:solidFill>
                          <a:latin typeface="Arial"/>
                          <a:ea typeface="Arial"/>
                          <a:cs typeface="Arial"/>
                          <a:sym typeface="Arial"/>
                        </a:rPr>
                        <a:t>Méthodes épidémio.</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A1A1A"/>
                          </a:solidFill>
                          <a:latin typeface="Arial"/>
                          <a:ea typeface="Arial"/>
                          <a:cs typeface="Arial"/>
                          <a:sym typeface="Arial"/>
                        </a:rPr>
                        <a:t>0.688</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c>
                  <a:txBody>
                    <a:bodyPr anchor="t" rtlCol="false"/>
                    <a:lstStyle/>
                    <a:p>
                      <a:pPr algn="l">
                        <a:lnSpc>
                          <a:spcPts val="2929"/>
                        </a:lnSpc>
                        <a:defRPr/>
                      </a:pPr>
                      <a:r>
                        <a:rPr lang="en-US" sz="2091">
                          <a:solidFill>
                            <a:srgbClr val="14746B"/>
                          </a:solidFill>
                          <a:latin typeface="Arial"/>
                          <a:ea typeface="Arial"/>
                          <a:cs typeface="Arial"/>
                          <a:sym typeface="Arial"/>
                        </a:rPr>
                        <a:t>31 %</a:t>
                      </a:r>
                      <a:endParaRPr lang="en-US" sz="1100"/>
                    </a:p>
                  </a:txBody>
                  <a:tcPr marL="88900" marR="88900" marT="88900" marB="88900" anchor="t">
                    <a:lnL cmpd="sng" algn="ctr" cap="flat" w="12700">
                      <a:solidFill>
                        <a:srgbClr val="CDCDCD"/>
                      </a:solidFill>
                      <a:prstDash val="solid"/>
                      <a:round/>
                      <a:headEnd type="none" w="med" len="med"/>
                      <a:tailEnd type="none" w="med" len="med"/>
                    </a:lnL>
                    <a:lnR cmpd="sng" algn="ctr" cap="flat" w="12700">
                      <a:solidFill>
                        <a:srgbClr val="CDCDCD"/>
                      </a:solidFill>
                      <a:prstDash val="solid"/>
                      <a:round/>
                      <a:headEnd type="none" w="med" len="med"/>
                      <a:tailEnd type="none" w="med" len="med"/>
                    </a:lnR>
                    <a:lnT cmpd="sng" algn="ctr" cap="flat" w="12700">
                      <a:solidFill>
                        <a:srgbClr val="CDCDCD"/>
                      </a:solidFill>
                      <a:prstDash val="solid"/>
                      <a:round/>
                      <a:headEnd type="none" w="med" len="med"/>
                      <a:tailEnd type="none" w="med" len="med"/>
                    </a:lnT>
                    <a:lnB cmpd="sng" algn="ctr" cap="flat" w="12700">
                      <a:solidFill>
                        <a:srgbClr val="CDCDCD"/>
                      </a:solidFill>
                      <a:prstDash val="solid"/>
                      <a:round/>
                      <a:headEnd type="none" w="med" len="med"/>
                      <a:tailEnd type="none" w="med" len="med"/>
                    </a:lnB>
                  </a:tcPr>
                </a:tc>
              </a:tr>
            </a:tbl>
          </a:graphicData>
        </a:graphic>
      </p:graphicFrame>
      <p:grpSp>
        <p:nvGrpSpPr>
          <p:cNvPr name="Group 24" id="24"/>
          <p:cNvGrpSpPr/>
          <p:nvPr/>
        </p:nvGrpSpPr>
        <p:grpSpPr>
          <a:xfrm rot="0">
            <a:off x="14973433" y="533305"/>
            <a:ext cx="2095500" cy="778669"/>
            <a:chOff x="0" y="0"/>
            <a:chExt cx="2794000" cy="1038225"/>
          </a:xfrm>
        </p:grpSpPr>
        <p:sp>
          <p:nvSpPr>
            <p:cNvPr name="Freeform 25" id="25"/>
            <p:cNvSpPr/>
            <p:nvPr/>
          </p:nvSpPr>
          <p:spPr>
            <a:xfrm flipH="false" flipV="false" rot="0">
              <a:off x="0" y="0"/>
              <a:ext cx="2794000" cy="1038225"/>
            </a:xfrm>
            <a:custGeom>
              <a:avLst/>
              <a:gdLst/>
              <a:ahLst/>
              <a:cxnLst/>
              <a:rect r="r" b="b" t="t" l="l"/>
              <a:pathLst>
                <a:path h="1038225" w="2794000">
                  <a:moveTo>
                    <a:pt x="0" y="127000"/>
                  </a:moveTo>
                  <a:cubicBezTo>
                    <a:pt x="0" y="56896"/>
                    <a:pt x="56896" y="0"/>
                    <a:pt x="127000" y="0"/>
                  </a:cubicBezTo>
                  <a:lnTo>
                    <a:pt x="2667000" y="0"/>
                  </a:lnTo>
                  <a:cubicBezTo>
                    <a:pt x="2737104" y="0"/>
                    <a:pt x="2794000" y="56896"/>
                    <a:pt x="2794000" y="127000"/>
                  </a:cubicBezTo>
                  <a:lnTo>
                    <a:pt x="2794000" y="911225"/>
                  </a:lnTo>
                  <a:cubicBezTo>
                    <a:pt x="2794000" y="981329"/>
                    <a:pt x="2737104" y="1038225"/>
                    <a:pt x="2667000" y="1038225"/>
                  </a:cubicBezTo>
                  <a:lnTo>
                    <a:pt x="127000" y="1038225"/>
                  </a:lnTo>
                  <a:cubicBezTo>
                    <a:pt x="56896" y="1038225"/>
                    <a:pt x="0" y="981329"/>
                    <a:pt x="0" y="911225"/>
                  </a:cubicBezTo>
                  <a:close/>
                </a:path>
              </a:pathLst>
            </a:custGeom>
            <a:solidFill>
              <a:srgbClr val="14746B"/>
            </a:solidFill>
          </p:spPr>
        </p:sp>
      </p:grpSp>
      <p:grpSp>
        <p:nvGrpSpPr>
          <p:cNvPr name="Group 26" id="26"/>
          <p:cNvGrpSpPr/>
          <p:nvPr/>
        </p:nvGrpSpPr>
        <p:grpSpPr>
          <a:xfrm rot="0">
            <a:off x="6172400" y="9506150"/>
            <a:ext cx="1428750" cy="76010"/>
            <a:chOff x="0" y="0"/>
            <a:chExt cx="1905000" cy="101346"/>
          </a:xfrm>
        </p:grpSpPr>
        <p:sp>
          <p:nvSpPr>
            <p:cNvPr name="Freeform 27" id="27"/>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14746B"/>
            </a:solidFill>
          </p:spPr>
        </p:sp>
      </p:grpSp>
      <p:grpSp>
        <p:nvGrpSpPr>
          <p:cNvPr name="Group 28" id="28"/>
          <p:cNvGrpSpPr/>
          <p:nvPr/>
        </p:nvGrpSpPr>
        <p:grpSpPr>
          <a:xfrm rot="0">
            <a:off x="7677217" y="9506150"/>
            <a:ext cx="1428750" cy="76010"/>
            <a:chOff x="0" y="0"/>
            <a:chExt cx="1905000" cy="101346"/>
          </a:xfrm>
        </p:grpSpPr>
        <p:sp>
          <p:nvSpPr>
            <p:cNvPr name="Freeform 29" id="29"/>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14746B"/>
            </a:solidFill>
          </p:spPr>
        </p:sp>
      </p:grpSp>
      <p:grpSp>
        <p:nvGrpSpPr>
          <p:cNvPr name="Group 30" id="30"/>
          <p:cNvGrpSpPr/>
          <p:nvPr/>
        </p:nvGrpSpPr>
        <p:grpSpPr>
          <a:xfrm rot="0">
            <a:off x="9182033" y="9506150"/>
            <a:ext cx="1428750" cy="76010"/>
            <a:chOff x="0" y="0"/>
            <a:chExt cx="1905000" cy="101346"/>
          </a:xfrm>
        </p:grpSpPr>
        <p:sp>
          <p:nvSpPr>
            <p:cNvPr name="Freeform 31" id="31"/>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14746B"/>
            </a:solidFill>
          </p:spPr>
        </p:sp>
      </p:grpSp>
      <p:grpSp>
        <p:nvGrpSpPr>
          <p:cNvPr name="Group 32" id="32"/>
          <p:cNvGrpSpPr/>
          <p:nvPr/>
        </p:nvGrpSpPr>
        <p:grpSpPr>
          <a:xfrm rot="0">
            <a:off x="10686850" y="9506150"/>
            <a:ext cx="1428750" cy="76010"/>
            <a:chOff x="0" y="0"/>
            <a:chExt cx="1905000" cy="101346"/>
          </a:xfrm>
        </p:grpSpPr>
        <p:sp>
          <p:nvSpPr>
            <p:cNvPr name="Freeform 33" id="33"/>
            <p:cNvSpPr/>
            <p:nvPr/>
          </p:nvSpPr>
          <p:spPr>
            <a:xfrm flipH="false" flipV="false" rot="0">
              <a:off x="0" y="0"/>
              <a:ext cx="1905000" cy="101347"/>
            </a:xfrm>
            <a:custGeom>
              <a:avLst/>
              <a:gdLst/>
              <a:ahLst/>
              <a:cxnLst/>
              <a:rect r="r" b="b" t="t" l="l"/>
              <a:pathLst>
                <a:path h="101347" w="1905000">
                  <a:moveTo>
                    <a:pt x="0" y="50673"/>
                  </a:moveTo>
                  <a:cubicBezTo>
                    <a:pt x="0" y="22733"/>
                    <a:pt x="22733" y="0"/>
                    <a:pt x="50673" y="0"/>
                  </a:cubicBezTo>
                  <a:lnTo>
                    <a:pt x="1854327" y="0"/>
                  </a:lnTo>
                  <a:cubicBezTo>
                    <a:pt x="1882267" y="0"/>
                    <a:pt x="1905000" y="22733"/>
                    <a:pt x="1905000" y="50673"/>
                  </a:cubicBezTo>
                  <a:cubicBezTo>
                    <a:pt x="1905000" y="78613"/>
                    <a:pt x="1882267" y="101346"/>
                    <a:pt x="1854327" y="101346"/>
                  </a:cubicBezTo>
                  <a:lnTo>
                    <a:pt x="50673" y="101346"/>
                  </a:lnTo>
                  <a:cubicBezTo>
                    <a:pt x="22733" y="101473"/>
                    <a:pt x="0" y="78740"/>
                    <a:pt x="0" y="50673"/>
                  </a:cubicBezTo>
                  <a:close/>
                </a:path>
              </a:pathLst>
            </a:custGeom>
            <a:solidFill>
              <a:srgbClr val="D9DAD8"/>
            </a:solidFill>
          </p:spPr>
        </p:sp>
      </p:grpSp>
      <p:sp>
        <p:nvSpPr>
          <p:cNvPr name="Freeform 34" id="34"/>
          <p:cNvSpPr/>
          <p:nvPr/>
        </p:nvSpPr>
        <p:spPr>
          <a:xfrm flipH="false" flipV="false" rot="0">
            <a:off x="962935" y="5918051"/>
            <a:ext cx="5399469" cy="3340249"/>
          </a:xfrm>
          <a:custGeom>
            <a:avLst/>
            <a:gdLst/>
            <a:ahLst/>
            <a:cxnLst/>
            <a:rect r="r" b="b" t="t" l="l"/>
            <a:pathLst>
              <a:path h="3340249" w="5399469">
                <a:moveTo>
                  <a:pt x="0" y="0"/>
                </a:moveTo>
                <a:lnTo>
                  <a:pt x="5399470" y="0"/>
                </a:lnTo>
                <a:lnTo>
                  <a:pt x="5399470" y="3340249"/>
                </a:lnTo>
                <a:lnTo>
                  <a:pt x="0" y="3340249"/>
                </a:lnTo>
                <a:lnTo>
                  <a:pt x="0" y="0"/>
                </a:lnTo>
                <a:close/>
              </a:path>
            </a:pathLst>
          </a:custGeom>
          <a:blipFill>
            <a:blip r:embed="rId8"/>
            <a:stretch>
              <a:fillRect l="-1961" t="0" r="-1961" b="-23488"/>
            </a:stretch>
          </a:blipFill>
        </p:spPr>
      </p:sp>
      <p:sp>
        <p:nvSpPr>
          <p:cNvPr name="TextBox 35" id="35"/>
          <p:cNvSpPr txBox="true"/>
          <p:nvPr/>
        </p:nvSpPr>
        <p:spPr>
          <a:xfrm rot="0">
            <a:off x="1219067" y="971550"/>
            <a:ext cx="13342620" cy="249555"/>
          </a:xfrm>
          <a:prstGeom prst="rect">
            <a:avLst/>
          </a:prstGeom>
        </p:spPr>
        <p:txBody>
          <a:bodyPr anchor="t" rtlCol="false" tIns="0" lIns="0" bIns="0" rIns="0">
            <a:spAutoFit/>
          </a:bodyPr>
          <a:lstStyle/>
          <a:p>
            <a:pPr algn="l">
              <a:lnSpc>
                <a:spcPts val="1995"/>
              </a:lnSpc>
            </a:pPr>
            <a:r>
              <a:rPr lang="en-US" b="true" sz="1425" spc="148">
                <a:solidFill>
                  <a:srgbClr val="14746B"/>
                </a:solidFill>
                <a:latin typeface="Arial Bold"/>
                <a:ea typeface="Arial Bold"/>
                <a:cs typeface="Arial Bold"/>
                <a:sym typeface="Arial Bold"/>
              </a:rPr>
              <a:t>SPRINT 3 </a:t>
            </a:r>
          </a:p>
        </p:txBody>
      </p:sp>
      <p:sp>
        <p:nvSpPr>
          <p:cNvPr name="TextBox 36" id="36"/>
          <p:cNvSpPr txBox="true"/>
          <p:nvPr/>
        </p:nvSpPr>
        <p:spPr>
          <a:xfrm rot="0">
            <a:off x="1219067" y="1357941"/>
            <a:ext cx="13342620" cy="517027"/>
          </a:xfrm>
          <a:prstGeom prst="rect">
            <a:avLst/>
          </a:prstGeom>
        </p:spPr>
        <p:txBody>
          <a:bodyPr anchor="t" rtlCol="false" tIns="0" lIns="0" bIns="0" rIns="0">
            <a:spAutoFit/>
          </a:bodyPr>
          <a:lstStyle/>
          <a:p>
            <a:pPr algn="l">
              <a:lnSpc>
                <a:spcPts val="3621"/>
              </a:lnSpc>
            </a:pPr>
            <a:r>
              <a:rPr lang="en-US" sz="3150" b="true">
                <a:solidFill>
                  <a:srgbClr val="1A1A1A"/>
                </a:solidFill>
                <a:latin typeface="Arial Bold"/>
                <a:ea typeface="Arial Bold"/>
                <a:cs typeface="Arial Bold"/>
                <a:sym typeface="Arial Bold"/>
              </a:rPr>
              <a:t>MLflow &amp; Résultats</a:t>
            </a:r>
          </a:p>
        </p:txBody>
      </p:sp>
      <p:sp>
        <p:nvSpPr>
          <p:cNvPr name="TextBox 37" id="37"/>
          <p:cNvSpPr txBox="true"/>
          <p:nvPr/>
        </p:nvSpPr>
        <p:spPr>
          <a:xfrm rot="0">
            <a:off x="1390383" y="2244423"/>
            <a:ext cx="2019567" cy="281911"/>
          </a:xfrm>
          <a:prstGeom prst="rect">
            <a:avLst/>
          </a:prstGeom>
        </p:spPr>
        <p:txBody>
          <a:bodyPr anchor="t" rtlCol="false" tIns="0" lIns="0" bIns="0" rIns="0">
            <a:spAutoFit/>
          </a:bodyPr>
          <a:lstStyle/>
          <a:p>
            <a:pPr algn="l">
              <a:lnSpc>
                <a:spcPts val="1620"/>
              </a:lnSpc>
            </a:pPr>
            <a:r>
              <a:rPr lang="en-US" sz="1350" b="true">
                <a:solidFill>
                  <a:srgbClr val="FFFFFF"/>
                </a:solidFill>
                <a:latin typeface="Arial Bold"/>
                <a:ea typeface="Arial Bold"/>
                <a:cs typeface="Arial Bold"/>
                <a:sym typeface="Arial Bold"/>
              </a:rPr>
              <a:t>Ingestion</a:t>
            </a:r>
          </a:p>
        </p:txBody>
      </p:sp>
      <p:sp>
        <p:nvSpPr>
          <p:cNvPr name="TextBox 38" id="38"/>
          <p:cNvSpPr txBox="true"/>
          <p:nvPr/>
        </p:nvSpPr>
        <p:spPr>
          <a:xfrm rot="0">
            <a:off x="1390383" y="2459669"/>
            <a:ext cx="20195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Sprint 1</a:t>
            </a:r>
          </a:p>
        </p:txBody>
      </p:sp>
      <p:sp>
        <p:nvSpPr>
          <p:cNvPr name="TextBox 39" id="39"/>
          <p:cNvSpPr txBox="true"/>
          <p:nvPr/>
        </p:nvSpPr>
        <p:spPr>
          <a:xfrm rot="0">
            <a:off x="4133450" y="2229250"/>
            <a:ext cx="2019567" cy="487623"/>
          </a:xfrm>
          <a:prstGeom prst="rect">
            <a:avLst/>
          </a:prstGeom>
        </p:spPr>
        <p:txBody>
          <a:bodyPr anchor="t" rtlCol="false" tIns="0" lIns="0" bIns="0" rIns="0">
            <a:spAutoFit/>
          </a:bodyPr>
          <a:lstStyle/>
          <a:p>
            <a:pPr algn="l">
              <a:lnSpc>
                <a:spcPts val="1620"/>
              </a:lnSpc>
            </a:pPr>
            <a:r>
              <a:rPr lang="en-US" sz="1350" b="true">
                <a:solidFill>
                  <a:srgbClr val="FFFFFF"/>
                </a:solidFill>
                <a:latin typeface="Arial Bold"/>
                <a:ea typeface="Arial Bold"/>
                <a:cs typeface="Arial Bold"/>
                <a:sym typeface="Arial Bold"/>
              </a:rPr>
              <a:t>Transform. &amp; Qualité</a:t>
            </a:r>
          </a:p>
        </p:txBody>
      </p:sp>
      <p:sp>
        <p:nvSpPr>
          <p:cNvPr name="TextBox 40" id="40"/>
          <p:cNvSpPr txBox="true"/>
          <p:nvPr/>
        </p:nvSpPr>
        <p:spPr>
          <a:xfrm rot="0">
            <a:off x="4133450" y="2562520"/>
            <a:ext cx="20195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Sprint 2</a:t>
            </a:r>
          </a:p>
        </p:txBody>
      </p:sp>
      <p:sp>
        <p:nvSpPr>
          <p:cNvPr name="TextBox 41" id="41"/>
          <p:cNvSpPr txBox="true"/>
          <p:nvPr/>
        </p:nvSpPr>
        <p:spPr>
          <a:xfrm rot="0">
            <a:off x="6876517" y="2244423"/>
            <a:ext cx="2019567" cy="281911"/>
          </a:xfrm>
          <a:prstGeom prst="rect">
            <a:avLst/>
          </a:prstGeom>
        </p:spPr>
        <p:txBody>
          <a:bodyPr anchor="t" rtlCol="false" tIns="0" lIns="0" bIns="0" rIns="0">
            <a:spAutoFit/>
          </a:bodyPr>
          <a:lstStyle/>
          <a:p>
            <a:pPr algn="l">
              <a:lnSpc>
                <a:spcPts val="1620"/>
              </a:lnSpc>
            </a:pPr>
            <a:r>
              <a:rPr lang="en-US" sz="1350" b="true">
                <a:solidFill>
                  <a:srgbClr val="FFFFFF"/>
                </a:solidFill>
                <a:latin typeface="Arial Bold"/>
                <a:ea typeface="Arial Bold"/>
                <a:cs typeface="Arial Bold"/>
                <a:sym typeface="Arial Bold"/>
              </a:rPr>
              <a:t>Embeddings</a:t>
            </a:r>
          </a:p>
        </p:txBody>
      </p:sp>
      <p:sp>
        <p:nvSpPr>
          <p:cNvPr name="TextBox 42" id="42"/>
          <p:cNvSpPr txBox="true"/>
          <p:nvPr/>
        </p:nvSpPr>
        <p:spPr>
          <a:xfrm rot="0">
            <a:off x="6876517" y="2459669"/>
            <a:ext cx="2019567" cy="327622"/>
          </a:xfrm>
          <a:prstGeom prst="rect">
            <a:avLst/>
          </a:prstGeom>
        </p:spPr>
        <p:txBody>
          <a:bodyPr anchor="t" rtlCol="false" tIns="0" lIns="0" bIns="0" rIns="0">
            <a:spAutoFit/>
          </a:bodyPr>
          <a:lstStyle/>
          <a:p>
            <a:pPr algn="l">
              <a:lnSpc>
                <a:spcPts val="1679"/>
              </a:lnSpc>
            </a:pPr>
            <a:r>
              <a:rPr lang="en-US" sz="1200">
                <a:solidFill>
                  <a:srgbClr val="D7EBE8"/>
                </a:solidFill>
                <a:latin typeface="Arial"/>
                <a:ea typeface="Arial"/>
                <a:cs typeface="Arial"/>
                <a:sym typeface="Arial"/>
              </a:rPr>
              <a:t>Sprint 3</a:t>
            </a:r>
          </a:p>
        </p:txBody>
      </p:sp>
      <p:sp>
        <p:nvSpPr>
          <p:cNvPr name="TextBox 43" id="43"/>
          <p:cNvSpPr txBox="true"/>
          <p:nvPr/>
        </p:nvSpPr>
        <p:spPr>
          <a:xfrm rot="0">
            <a:off x="9640757" y="2244423"/>
            <a:ext cx="1977228" cy="219075"/>
          </a:xfrm>
          <a:prstGeom prst="rect">
            <a:avLst/>
          </a:prstGeom>
        </p:spPr>
        <p:txBody>
          <a:bodyPr anchor="t" rtlCol="false" tIns="0" lIns="0" bIns="0" rIns="0">
            <a:spAutoFit/>
          </a:bodyPr>
          <a:lstStyle/>
          <a:p>
            <a:pPr algn="l">
              <a:lnSpc>
                <a:spcPts val="1620"/>
              </a:lnSpc>
            </a:pPr>
            <a:r>
              <a:rPr lang="en-US" sz="1350" b="true">
                <a:solidFill>
                  <a:srgbClr val="7C2F36"/>
                </a:solidFill>
                <a:latin typeface="Arial Bold"/>
                <a:ea typeface="Arial Bold"/>
                <a:cs typeface="Arial Bold"/>
                <a:sym typeface="Arial Bold"/>
              </a:rPr>
              <a:t>MLflow &amp;</a:t>
            </a:r>
            <a:r>
              <a:rPr lang="en-US" sz="1350" b="true">
                <a:solidFill>
                  <a:srgbClr val="7C2F36"/>
                </a:solidFill>
                <a:latin typeface="Arial Bold"/>
                <a:ea typeface="Arial Bold"/>
                <a:cs typeface="Arial Bold"/>
                <a:sym typeface="Arial Bold"/>
              </a:rPr>
              <a:t> Résultats</a:t>
            </a:r>
          </a:p>
        </p:txBody>
      </p:sp>
      <p:sp>
        <p:nvSpPr>
          <p:cNvPr name="TextBox 44" id="44"/>
          <p:cNvSpPr txBox="true"/>
          <p:nvPr/>
        </p:nvSpPr>
        <p:spPr>
          <a:xfrm rot="0">
            <a:off x="9640757" y="2459669"/>
            <a:ext cx="1977228" cy="327622"/>
          </a:xfrm>
          <a:prstGeom prst="rect">
            <a:avLst/>
          </a:prstGeom>
        </p:spPr>
        <p:txBody>
          <a:bodyPr anchor="t" rtlCol="false" tIns="0" lIns="0" bIns="0" rIns="0">
            <a:spAutoFit/>
          </a:bodyPr>
          <a:lstStyle/>
          <a:p>
            <a:pPr algn="l">
              <a:lnSpc>
                <a:spcPts val="1679"/>
              </a:lnSpc>
            </a:pPr>
            <a:r>
              <a:rPr lang="en-US" sz="1200">
                <a:solidFill>
                  <a:srgbClr val="7C2F36"/>
                </a:solidFill>
                <a:latin typeface="Arial"/>
                <a:ea typeface="Arial"/>
                <a:cs typeface="Arial"/>
                <a:sym typeface="Arial"/>
              </a:rPr>
              <a:t>Sprint 3</a:t>
            </a:r>
          </a:p>
        </p:txBody>
      </p:sp>
      <p:sp>
        <p:nvSpPr>
          <p:cNvPr name="TextBox 45" id="45"/>
          <p:cNvSpPr txBox="true"/>
          <p:nvPr/>
        </p:nvSpPr>
        <p:spPr>
          <a:xfrm rot="0">
            <a:off x="1483528" y="3311684"/>
            <a:ext cx="5221672" cy="667106"/>
          </a:xfrm>
          <a:prstGeom prst="rect">
            <a:avLst/>
          </a:prstGeom>
        </p:spPr>
        <p:txBody>
          <a:bodyPr anchor="t" rtlCol="false" tIns="0" lIns="0" bIns="0" rIns="0">
            <a:spAutoFit/>
          </a:bodyPr>
          <a:lstStyle/>
          <a:p>
            <a:pPr algn="l">
              <a:lnSpc>
                <a:spcPts val="2667"/>
              </a:lnSpc>
            </a:pPr>
            <a:r>
              <a:rPr lang="en-US" sz="1974">
                <a:solidFill>
                  <a:srgbClr val="1A1A1A"/>
                </a:solidFill>
                <a:latin typeface="Arial"/>
                <a:ea typeface="Arial"/>
                <a:cs typeface="Arial"/>
                <a:sym typeface="Arial"/>
              </a:rPr>
              <a:t>8 questions biomédicales testées de bout en bout, toutes avec réponse sourcée</a:t>
            </a:r>
          </a:p>
        </p:txBody>
      </p:sp>
      <p:sp>
        <p:nvSpPr>
          <p:cNvPr name="TextBox 46" id="46"/>
          <p:cNvSpPr txBox="true"/>
          <p:nvPr/>
        </p:nvSpPr>
        <p:spPr>
          <a:xfrm rot="0">
            <a:off x="1476940" y="4223884"/>
            <a:ext cx="5206336" cy="667106"/>
          </a:xfrm>
          <a:prstGeom prst="rect">
            <a:avLst/>
          </a:prstGeom>
        </p:spPr>
        <p:txBody>
          <a:bodyPr anchor="t" rtlCol="false" tIns="0" lIns="0" bIns="0" rIns="0">
            <a:spAutoFit/>
          </a:bodyPr>
          <a:lstStyle/>
          <a:p>
            <a:pPr algn="l">
              <a:lnSpc>
                <a:spcPts val="2667"/>
              </a:lnSpc>
            </a:pPr>
            <a:r>
              <a:rPr lang="en-US" sz="1974">
                <a:solidFill>
                  <a:srgbClr val="1A1A1A"/>
                </a:solidFill>
                <a:latin typeface="Arial"/>
                <a:ea typeface="Arial"/>
                <a:cs typeface="Arial"/>
                <a:sym typeface="Arial"/>
              </a:rPr>
              <a:t>Bug de cohérence linguistique identifié et corrigé, 8 questions revalidées</a:t>
            </a:r>
          </a:p>
        </p:txBody>
      </p:sp>
      <p:sp>
        <p:nvSpPr>
          <p:cNvPr name="TextBox 47" id="47"/>
          <p:cNvSpPr txBox="true"/>
          <p:nvPr/>
        </p:nvSpPr>
        <p:spPr>
          <a:xfrm rot="0">
            <a:off x="1436224" y="5108070"/>
            <a:ext cx="5225586" cy="667106"/>
          </a:xfrm>
          <a:prstGeom prst="rect">
            <a:avLst/>
          </a:prstGeom>
        </p:spPr>
        <p:txBody>
          <a:bodyPr anchor="t" rtlCol="false" tIns="0" lIns="0" bIns="0" rIns="0">
            <a:spAutoFit/>
          </a:bodyPr>
          <a:lstStyle/>
          <a:p>
            <a:pPr algn="l">
              <a:lnSpc>
                <a:spcPts val="2667"/>
              </a:lnSpc>
            </a:pPr>
            <a:r>
              <a:rPr lang="en-US" sz="1974">
                <a:solidFill>
                  <a:srgbClr val="1A1A1A"/>
                </a:solidFill>
                <a:latin typeface="Arial"/>
                <a:ea typeface="Arial"/>
                <a:cs typeface="Arial"/>
                <a:sym typeface="Arial"/>
              </a:rPr>
              <a:t>MLflow trace automatiquement paramètres, métriques et artefacts à chaque appel</a:t>
            </a:r>
          </a:p>
        </p:txBody>
      </p:sp>
      <p:sp>
        <p:nvSpPr>
          <p:cNvPr name="TextBox 48" id="48"/>
          <p:cNvSpPr txBox="true"/>
          <p:nvPr/>
        </p:nvSpPr>
        <p:spPr>
          <a:xfrm rot="0">
            <a:off x="7105383" y="3328159"/>
            <a:ext cx="10007479" cy="368798"/>
          </a:xfrm>
          <a:prstGeom prst="rect">
            <a:avLst/>
          </a:prstGeom>
        </p:spPr>
        <p:txBody>
          <a:bodyPr anchor="t" rtlCol="false" tIns="0" lIns="0" bIns="0" rIns="0">
            <a:spAutoFit/>
          </a:bodyPr>
          <a:lstStyle/>
          <a:p>
            <a:pPr algn="l">
              <a:lnSpc>
                <a:spcPts val="2059"/>
              </a:lnSpc>
            </a:pPr>
            <a:r>
              <a:rPr lang="en-US" sz="1470" b="true">
                <a:solidFill>
                  <a:srgbClr val="1A1A1A"/>
                </a:solidFill>
                <a:latin typeface="Arial Bold"/>
                <a:ea typeface="Arial Bold"/>
                <a:cs typeface="Arial Bold"/>
                <a:sym typeface="Arial Bold"/>
              </a:rPr>
              <a:t>8 questions testées — résultats détaillés</a:t>
            </a:r>
          </a:p>
        </p:txBody>
      </p:sp>
      <p:sp>
        <p:nvSpPr>
          <p:cNvPr name="TextBox 49" id="49"/>
          <p:cNvSpPr txBox="true"/>
          <p:nvPr/>
        </p:nvSpPr>
        <p:spPr>
          <a:xfrm rot="0">
            <a:off x="15553534" y="786527"/>
            <a:ext cx="1011336" cy="367474"/>
          </a:xfrm>
          <a:prstGeom prst="rect">
            <a:avLst/>
          </a:prstGeom>
        </p:spPr>
        <p:txBody>
          <a:bodyPr anchor="t" rtlCol="false" tIns="0" lIns="0" bIns="0" rIns="0">
            <a:spAutoFit/>
          </a:bodyPr>
          <a:lstStyle/>
          <a:p>
            <a:pPr algn="l">
              <a:lnSpc>
                <a:spcPts val="1995"/>
              </a:lnSpc>
            </a:pPr>
            <a:r>
              <a:rPr lang="en-US" sz="1425" b="true">
                <a:solidFill>
                  <a:srgbClr val="FFFFFF"/>
                </a:solidFill>
                <a:latin typeface="Arial Bold"/>
                <a:ea typeface="Arial Bold"/>
                <a:cs typeface="Arial Bold"/>
                <a:sym typeface="Arial Bold"/>
              </a:rPr>
              <a:t>SPRINT 3</a:t>
            </a:r>
          </a:p>
        </p:txBody>
      </p:sp>
      <p:sp>
        <p:nvSpPr>
          <p:cNvPr name="TextBox 50" id="50"/>
          <p:cNvSpPr txBox="true"/>
          <p:nvPr/>
        </p:nvSpPr>
        <p:spPr>
          <a:xfrm rot="0">
            <a:off x="1219067" y="9551822"/>
            <a:ext cx="5012512" cy="354244"/>
          </a:xfrm>
          <a:prstGeom prst="rect">
            <a:avLst/>
          </a:prstGeom>
        </p:spPr>
        <p:txBody>
          <a:bodyPr anchor="t" rtlCol="false" tIns="0" lIns="0" bIns="0" rIns="0">
            <a:spAutoFit/>
          </a:bodyPr>
          <a:lstStyle/>
          <a:p>
            <a:pPr algn="l">
              <a:lnSpc>
                <a:spcPts val="1889"/>
              </a:lnSpc>
            </a:pPr>
            <a:r>
              <a:rPr lang="en-US" sz="1350">
                <a:solidFill>
                  <a:srgbClr val="6B7280"/>
                </a:solidFill>
                <a:latin typeface="Arial"/>
                <a:ea typeface="Arial"/>
                <a:cs typeface="Arial"/>
                <a:sym typeface="Arial"/>
              </a:rPr>
              <a:t>PipelineForge — Assistant Scientifique Documentaire (LLMOps)</a:t>
            </a:r>
          </a:p>
        </p:txBody>
      </p:sp>
      <p:sp>
        <p:nvSpPr>
          <p:cNvPr name="TextBox 51" id="51"/>
          <p:cNvSpPr txBox="true"/>
          <p:nvPr/>
        </p:nvSpPr>
        <p:spPr>
          <a:xfrm rot="0">
            <a:off x="13716657" y="9551822"/>
            <a:ext cx="3452498" cy="354244"/>
          </a:xfrm>
          <a:prstGeom prst="rect">
            <a:avLst/>
          </a:prstGeom>
        </p:spPr>
        <p:txBody>
          <a:bodyPr anchor="t" rtlCol="false" tIns="0" lIns="0" bIns="0" rIns="0">
            <a:spAutoFit/>
          </a:bodyPr>
          <a:lstStyle/>
          <a:p>
            <a:pPr algn="l">
              <a:lnSpc>
                <a:spcPts val="1889"/>
              </a:lnSpc>
            </a:pPr>
            <a:r>
              <a:rPr lang="en-US" sz="1350">
                <a:solidFill>
                  <a:srgbClr val="6B7280"/>
                </a:solidFill>
                <a:latin typeface="Arial"/>
                <a:ea typeface="Arial"/>
                <a:cs typeface="Arial"/>
                <a:sym typeface="Arial"/>
              </a:rPr>
              <a:t>Sprint 3 · MLflow &amp; Résultats · Hafsa Elhilali</a:t>
            </a:r>
          </a:p>
        </p:txBody>
      </p:sp>
      <p:sp>
        <p:nvSpPr>
          <p:cNvPr name="TextBox 52" id="5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5767" y="360997"/>
            <a:ext cx="13076053" cy="1054903"/>
          </a:xfrm>
          <a:prstGeom prst="rect">
            <a:avLst/>
          </a:prstGeom>
        </p:spPr>
        <p:txBody>
          <a:bodyPr anchor="t" rtlCol="false" tIns="0" lIns="0" bIns="0" rIns="0">
            <a:spAutoFit/>
          </a:bodyPr>
          <a:lstStyle/>
          <a:p>
            <a:pPr algn="l">
              <a:lnSpc>
                <a:spcPts val="4683"/>
              </a:lnSpc>
            </a:pPr>
            <a:r>
              <a:rPr lang="en-US" sz="3903" b="true">
                <a:solidFill>
                  <a:srgbClr val="262A33"/>
                </a:solidFill>
                <a:latin typeface="Calibri (MS) Bold"/>
                <a:ea typeface="Calibri (MS) Bold"/>
                <a:cs typeface="Calibri (MS) Bold"/>
                <a:sym typeface="Calibri (MS) Bold"/>
              </a:rPr>
              <a:t>Sprint 4 — Concevoir l'API</a:t>
            </a:r>
          </a:p>
        </p:txBody>
      </p:sp>
      <p:sp>
        <p:nvSpPr>
          <p:cNvPr name="TextBox 3" id="3"/>
          <p:cNvSpPr txBox="true"/>
          <p:nvPr/>
        </p:nvSpPr>
        <p:spPr>
          <a:xfrm rot="0">
            <a:off x="846953" y="1332519"/>
            <a:ext cx="13076053" cy="536372"/>
          </a:xfrm>
          <a:prstGeom prst="rect">
            <a:avLst/>
          </a:prstGeom>
        </p:spPr>
        <p:txBody>
          <a:bodyPr anchor="t" rtlCol="false" tIns="0" lIns="0" bIns="0" rIns="0">
            <a:spAutoFit/>
          </a:bodyPr>
          <a:lstStyle/>
          <a:p>
            <a:pPr algn="l">
              <a:lnSpc>
                <a:spcPts val="2251"/>
              </a:lnSpc>
            </a:pPr>
            <a:r>
              <a:rPr lang="en-US" sz="1876" i="true">
                <a:solidFill>
                  <a:srgbClr val="6B707A"/>
                </a:solidFill>
                <a:latin typeface="Calibri (MS) Italics"/>
                <a:ea typeface="Calibri (MS) Italics"/>
                <a:cs typeface="Calibri (MS) Italics"/>
                <a:sym typeface="Calibri (MS) Italics"/>
              </a:rPr>
              <a:t>Du script exécutable par son auteur au service interrogeable par tous</a:t>
            </a:r>
          </a:p>
        </p:txBody>
      </p:sp>
      <p:grpSp>
        <p:nvGrpSpPr>
          <p:cNvPr name="Group 4" id="4"/>
          <p:cNvGrpSpPr/>
          <p:nvPr/>
        </p:nvGrpSpPr>
        <p:grpSpPr>
          <a:xfrm rot="0">
            <a:off x="14481696" y="494167"/>
            <a:ext cx="3225784" cy="851059"/>
            <a:chOff x="0" y="0"/>
            <a:chExt cx="4301046" cy="1134745"/>
          </a:xfrm>
        </p:grpSpPr>
        <p:sp>
          <p:nvSpPr>
            <p:cNvPr name="Freeform 5" id="5"/>
            <p:cNvSpPr/>
            <p:nvPr/>
          </p:nvSpPr>
          <p:spPr>
            <a:xfrm flipH="false" flipV="false" rot="0">
              <a:off x="0" y="0"/>
              <a:ext cx="4300982" cy="1134745"/>
            </a:xfrm>
            <a:custGeom>
              <a:avLst/>
              <a:gdLst/>
              <a:ahLst/>
              <a:cxnLst/>
              <a:rect r="r" b="b" t="t" l="l"/>
              <a:pathLst>
                <a:path h="1134745" w="4300982">
                  <a:moveTo>
                    <a:pt x="0" y="0"/>
                  </a:moveTo>
                  <a:lnTo>
                    <a:pt x="4300982" y="0"/>
                  </a:lnTo>
                  <a:lnTo>
                    <a:pt x="4300982" y="1134745"/>
                  </a:lnTo>
                  <a:lnTo>
                    <a:pt x="0" y="1134745"/>
                  </a:lnTo>
                  <a:close/>
                </a:path>
              </a:pathLst>
            </a:custGeom>
            <a:solidFill>
              <a:srgbClr val="7B1F2A"/>
            </a:solidFill>
          </p:spPr>
        </p:sp>
        <p:sp>
          <p:nvSpPr>
            <p:cNvPr name="TextBox 6" id="6"/>
            <p:cNvSpPr txBox="true"/>
            <p:nvPr/>
          </p:nvSpPr>
          <p:spPr>
            <a:xfrm>
              <a:off x="0" y="-47625"/>
              <a:ext cx="4301046" cy="1182370"/>
            </a:xfrm>
            <a:prstGeom prst="rect">
              <a:avLst/>
            </a:prstGeom>
          </p:spPr>
          <p:txBody>
            <a:bodyPr anchor="ctr" rtlCol="false" tIns="50800" lIns="50800" bIns="50800" rIns="50800"/>
            <a:lstStyle/>
            <a:p>
              <a:pPr algn="ctr">
                <a:lnSpc>
                  <a:spcPts val="2341"/>
                </a:lnSpc>
              </a:pPr>
              <a:r>
                <a:rPr lang="en-US" sz="1951" b="true">
                  <a:solidFill>
                    <a:srgbClr val="FFFFFF"/>
                  </a:solidFill>
                  <a:latin typeface="Calibri (MS) Bold"/>
                  <a:ea typeface="Calibri (MS) Bold"/>
                  <a:cs typeface="Calibri (MS) Bold"/>
                  <a:sym typeface="Calibri (MS) Bold"/>
                </a:rPr>
                <a:t>SPRINT 4</a:t>
              </a:r>
            </a:p>
            <a:p>
              <a:pPr algn="ctr">
                <a:lnSpc>
                  <a:spcPts val="1711"/>
                </a:lnSpc>
              </a:pPr>
              <a:r>
                <a:rPr lang="en-US" sz="1426">
                  <a:solidFill>
                    <a:srgbClr val="FFFFFF"/>
                  </a:solidFill>
                  <a:latin typeface="Calibri (MS)"/>
                  <a:ea typeface="Calibri (MS)"/>
                  <a:cs typeface="Calibri (MS)"/>
                  <a:sym typeface="Calibri (MS)"/>
                </a:rPr>
                <a:t>Chbab Brahim</a:t>
              </a:r>
            </a:p>
          </p:txBody>
        </p:sp>
      </p:grpSp>
      <p:grpSp>
        <p:nvGrpSpPr>
          <p:cNvPr name="Group 7" id="7"/>
          <p:cNvGrpSpPr/>
          <p:nvPr/>
        </p:nvGrpSpPr>
        <p:grpSpPr>
          <a:xfrm rot="0">
            <a:off x="6570297" y="9570577"/>
            <a:ext cx="1166774" cy="133455"/>
            <a:chOff x="0" y="0"/>
            <a:chExt cx="1555699" cy="177940"/>
          </a:xfrm>
        </p:grpSpPr>
        <p:sp>
          <p:nvSpPr>
            <p:cNvPr name="Freeform 8" id="8"/>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9" id="9"/>
          <p:cNvGrpSpPr/>
          <p:nvPr/>
        </p:nvGrpSpPr>
        <p:grpSpPr>
          <a:xfrm rot="0">
            <a:off x="7901788" y="9570577"/>
            <a:ext cx="1166774" cy="133455"/>
            <a:chOff x="0" y="0"/>
            <a:chExt cx="1555699" cy="177940"/>
          </a:xfrm>
        </p:grpSpPr>
        <p:sp>
          <p:nvSpPr>
            <p:cNvPr name="Freeform 10" id="10"/>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11" id="11"/>
          <p:cNvGrpSpPr/>
          <p:nvPr/>
        </p:nvGrpSpPr>
        <p:grpSpPr>
          <a:xfrm rot="0">
            <a:off x="9233278" y="9570577"/>
            <a:ext cx="1166774" cy="133455"/>
            <a:chOff x="0" y="0"/>
            <a:chExt cx="1555699" cy="177940"/>
          </a:xfrm>
        </p:grpSpPr>
        <p:sp>
          <p:nvSpPr>
            <p:cNvPr name="Freeform 12" id="12"/>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13" id="13"/>
          <p:cNvGrpSpPr/>
          <p:nvPr/>
        </p:nvGrpSpPr>
        <p:grpSpPr>
          <a:xfrm rot="0">
            <a:off x="10564768" y="9570577"/>
            <a:ext cx="1166774" cy="133455"/>
            <a:chOff x="0" y="0"/>
            <a:chExt cx="1555699" cy="177940"/>
          </a:xfrm>
        </p:grpSpPr>
        <p:sp>
          <p:nvSpPr>
            <p:cNvPr name="Freeform 14" id="14"/>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22705D"/>
            </a:solidFill>
          </p:spPr>
        </p:sp>
      </p:grpSp>
      <p:graphicFrame>
        <p:nvGraphicFramePr>
          <p:cNvPr name="Table 15" id="15"/>
          <p:cNvGraphicFramePr>
            <a:graphicFrameLocks noGrp="true"/>
          </p:cNvGraphicFramePr>
          <p:nvPr/>
        </p:nvGraphicFramePr>
        <p:xfrm>
          <a:off x="754970" y="2333543"/>
          <a:ext cx="9170214" cy="2669085"/>
        </p:xfrm>
        <a:graphic>
          <a:graphicData uri="http://schemas.openxmlformats.org/drawingml/2006/table">
            <a:tbl>
              <a:tblPr/>
              <a:tblGrid>
                <a:gridCol w="2189902"/>
                <a:gridCol w="1642426"/>
                <a:gridCol w="5337886"/>
              </a:tblGrid>
              <a:tr h="667271">
                <a:tc>
                  <a:txBody>
                    <a:bodyPr anchor="t" rtlCol="false"/>
                    <a:lstStyle/>
                    <a:p>
                      <a:pPr algn="l">
                        <a:lnSpc>
                          <a:spcPts val="2071"/>
                        </a:lnSpc>
                        <a:defRPr/>
                      </a:pPr>
                      <a:r>
                        <a:rPr lang="en-US" sz="1726" b="true">
                          <a:solidFill>
                            <a:srgbClr val="FFFFFF"/>
                          </a:solidFill>
                          <a:latin typeface="Calibri (MS) Bold"/>
                          <a:ea typeface="Calibri (MS) Bold"/>
                          <a:cs typeface="Calibri (MS) Bold"/>
                          <a:sym typeface="Calibri (MS) Bold"/>
                        </a:rPr>
                        <a:t>Framework</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22705D"/>
                    </a:solidFill>
                  </a:tcPr>
                </a:tc>
                <a:tc>
                  <a:txBody>
                    <a:bodyPr anchor="t" rtlCol="false"/>
                    <a:lstStyle/>
                    <a:p>
                      <a:pPr algn="l">
                        <a:lnSpc>
                          <a:spcPts val="2071"/>
                        </a:lnSpc>
                        <a:defRPr/>
                      </a:pPr>
                      <a:r>
                        <a:rPr lang="en-US" sz="1726" b="true">
                          <a:solidFill>
                            <a:srgbClr val="FFFFFF"/>
                          </a:solidFill>
                          <a:latin typeface="Calibri (MS) Bold"/>
                          <a:ea typeface="Calibri (MS) Bold"/>
                          <a:cs typeface="Calibri (MS) Bold"/>
                          <a:sym typeface="Calibri (MS) Bold"/>
                        </a:rPr>
                        <a:t>Verdict</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22705D"/>
                    </a:solidFill>
                  </a:tcPr>
                </a:tc>
                <a:tc>
                  <a:txBody>
                    <a:bodyPr anchor="t" rtlCol="false"/>
                    <a:lstStyle/>
                    <a:p>
                      <a:pPr algn="l">
                        <a:lnSpc>
                          <a:spcPts val="2071"/>
                        </a:lnSpc>
                        <a:defRPr/>
                      </a:pPr>
                      <a:r>
                        <a:rPr lang="en-US" sz="1726" b="true">
                          <a:solidFill>
                            <a:srgbClr val="FFFFFF"/>
                          </a:solidFill>
                          <a:latin typeface="Calibri (MS) Bold"/>
                          <a:ea typeface="Calibri (MS) Bold"/>
                          <a:cs typeface="Calibri (MS) Bold"/>
                          <a:sym typeface="Calibri (MS) Bold"/>
                        </a:rPr>
                        <a:t>Motif</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22705D"/>
                    </a:solidFill>
                  </a:tcPr>
                </a:tc>
              </a:tr>
              <a:tr h="667271">
                <a:tc>
                  <a:txBody>
                    <a:bodyPr anchor="t" rtlCol="false"/>
                    <a:lstStyle/>
                    <a:p>
                      <a:pPr algn="l">
                        <a:lnSpc>
                          <a:spcPts val="2071"/>
                        </a:lnSpc>
                        <a:defRPr/>
                      </a:pPr>
                      <a:r>
                        <a:rPr lang="en-US" sz="1726">
                          <a:solidFill>
                            <a:srgbClr val="262A33"/>
                          </a:solidFill>
                          <a:latin typeface="Calibri (MS)"/>
                          <a:ea typeface="Calibri (MS)"/>
                          <a:cs typeface="Calibri (MS)"/>
                          <a:sym typeface="Calibri (MS)"/>
                        </a:rPr>
                        <a:t>Flask</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262A33"/>
                          </a:solidFill>
                          <a:latin typeface="Calibri (MS)"/>
                          <a:ea typeface="Calibri (MS)"/>
                          <a:cs typeface="Calibri (MS)"/>
                          <a:sym typeface="Calibri (MS)"/>
                        </a:rPr>
                        <a:t>Rejeté</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262A33"/>
                          </a:solidFill>
                          <a:latin typeface="Calibri (MS)"/>
                          <a:ea typeface="Calibri (MS)"/>
                          <a:cs typeface="Calibri (MS)"/>
                          <a:sym typeface="Calibri (MS)"/>
                        </a:rPr>
                        <a:t>validation manuelle, pas de doc auto, async limité</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FFFFF"/>
                    </a:solidFill>
                  </a:tcPr>
                </a:tc>
              </a:tr>
              <a:tr h="667271">
                <a:tc>
                  <a:txBody>
                    <a:bodyPr anchor="t" rtlCol="false"/>
                    <a:lstStyle/>
                    <a:p>
                      <a:pPr algn="l">
                        <a:lnSpc>
                          <a:spcPts val="2071"/>
                        </a:lnSpc>
                        <a:defRPr/>
                      </a:pPr>
                      <a:r>
                        <a:rPr lang="en-US" sz="1726">
                          <a:solidFill>
                            <a:srgbClr val="262A33"/>
                          </a:solidFill>
                          <a:latin typeface="Calibri (MS)"/>
                          <a:ea typeface="Calibri (MS)"/>
                          <a:cs typeface="Calibri (MS)"/>
                          <a:sym typeface="Calibri (MS)"/>
                        </a:rPr>
                        <a:t>Django REST</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2F3F5"/>
                    </a:solidFill>
                  </a:tcPr>
                </a:tc>
                <a:tc>
                  <a:txBody>
                    <a:bodyPr anchor="t" rtlCol="false"/>
                    <a:lstStyle/>
                    <a:p>
                      <a:pPr algn="l">
                        <a:lnSpc>
                          <a:spcPts val="2071"/>
                        </a:lnSpc>
                        <a:defRPr/>
                      </a:pPr>
                      <a:r>
                        <a:rPr lang="en-US" sz="1726">
                          <a:solidFill>
                            <a:srgbClr val="262A33"/>
                          </a:solidFill>
                          <a:latin typeface="Calibri (MS)"/>
                          <a:ea typeface="Calibri (MS)"/>
                          <a:cs typeface="Calibri (MS)"/>
                          <a:sym typeface="Calibri (MS)"/>
                        </a:rPr>
                        <a:t>Rejeté</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2F3F5"/>
                    </a:solidFill>
                  </a:tcPr>
                </a:tc>
                <a:tc>
                  <a:txBody>
                    <a:bodyPr anchor="t" rtlCol="false"/>
                    <a:lstStyle/>
                    <a:p>
                      <a:pPr algn="l">
                        <a:lnSpc>
                          <a:spcPts val="2071"/>
                        </a:lnSpc>
                        <a:defRPr/>
                      </a:pPr>
                      <a:r>
                        <a:rPr lang="en-US" sz="1726">
                          <a:solidFill>
                            <a:srgbClr val="262A33"/>
                          </a:solidFill>
                          <a:latin typeface="Calibri (MS)"/>
                          <a:ea typeface="Calibri (MS)"/>
                          <a:cs typeface="Calibri (MS)"/>
                          <a:sym typeface="Calibri (MS)"/>
                        </a:rPr>
                        <a:t>disproportionné pour 2 endpoints</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2F3F5"/>
                    </a:solidFill>
                  </a:tcPr>
                </a:tc>
              </a:tr>
              <a:tr h="667271">
                <a:tc>
                  <a:txBody>
                    <a:bodyPr anchor="t" rtlCol="false"/>
                    <a:lstStyle/>
                    <a:p>
                      <a:pPr algn="l">
                        <a:lnSpc>
                          <a:spcPts val="2071"/>
                        </a:lnSpc>
                        <a:defRPr/>
                      </a:pPr>
                      <a:r>
                        <a:rPr lang="en-US" sz="1726">
                          <a:solidFill>
                            <a:srgbClr val="262A33"/>
                          </a:solidFill>
                          <a:latin typeface="Calibri (MS)"/>
                          <a:ea typeface="Calibri (MS)"/>
                          <a:cs typeface="Calibri (MS)"/>
                          <a:sym typeface="Calibri (MS)"/>
                        </a:rPr>
                        <a:t>FastAPI</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262A33"/>
                          </a:solidFill>
                          <a:latin typeface="Calibri (MS)"/>
                          <a:ea typeface="Calibri (MS)"/>
                          <a:cs typeface="Calibri (MS)"/>
                          <a:sym typeface="Calibri (MS)"/>
                        </a:rPr>
                        <a:t>Retenu</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FFFFF"/>
                    </a:solidFill>
                  </a:tcPr>
                </a:tc>
                <a:tc>
                  <a:txBody>
                    <a:bodyPr anchor="t" rtlCol="false"/>
                    <a:lstStyle/>
                    <a:p>
                      <a:pPr algn="l">
                        <a:lnSpc>
                          <a:spcPts val="2071"/>
                        </a:lnSpc>
                        <a:defRPr/>
                      </a:pPr>
                      <a:r>
                        <a:rPr lang="en-US" sz="1726">
                          <a:solidFill>
                            <a:srgbClr val="262A33"/>
                          </a:solidFill>
                          <a:latin typeface="Calibri (MS)"/>
                          <a:ea typeface="Calibri (MS)"/>
                          <a:cs typeface="Calibri (MS)"/>
                          <a:sym typeface="Calibri (MS)"/>
                        </a:rPr>
                        <a:t>Pydantic natif, OpenAPI auto, async natif (Starlette)</a:t>
                      </a:r>
                      <a:endParaRPr lang="en-US" sz="1100"/>
                    </a:p>
                  </a:txBody>
                  <a:tcPr marL="63500" marR="63500" marT="63500" marB="63500" anchor="ctr">
                    <a:lnL cmpd="sng" algn="ctr" cap="flat" w="4762">
                      <a:solidFill>
                        <a:srgbClr val="257965"/>
                      </a:solidFill>
                      <a:prstDash val="solid"/>
                      <a:round/>
                      <a:headEnd type="none" w="med" len="med"/>
                      <a:tailEnd type="none" w="med" len="med"/>
                    </a:lnL>
                    <a:lnR cmpd="sng" algn="ctr" cap="flat" w="4762">
                      <a:solidFill>
                        <a:srgbClr val="257965"/>
                      </a:solidFill>
                      <a:prstDash val="solid"/>
                      <a:round/>
                      <a:headEnd type="none" w="med" len="med"/>
                      <a:tailEnd type="none" w="med" len="med"/>
                    </a:lnR>
                    <a:lnT cmpd="sng" algn="ctr" cap="flat" w="4762">
                      <a:solidFill>
                        <a:srgbClr val="257965"/>
                      </a:solidFill>
                      <a:prstDash val="solid"/>
                      <a:round/>
                      <a:headEnd type="none" w="med" len="med"/>
                      <a:tailEnd type="none" w="med" len="med"/>
                    </a:lnT>
                    <a:lnB cmpd="sng" algn="ctr" cap="flat" w="4762">
                      <a:solidFill>
                        <a:srgbClr val="257965"/>
                      </a:solidFill>
                      <a:prstDash val="solid"/>
                      <a:round/>
                      <a:headEnd type="none" w="med" len="med"/>
                      <a:tailEnd type="none" w="med" len="med"/>
                    </a:lnB>
                    <a:solidFill>
                      <a:srgbClr val="FFFFFF"/>
                    </a:solidFill>
                  </a:tcPr>
                </a:tc>
              </a:tr>
            </a:tbl>
          </a:graphicData>
        </a:graphic>
      </p:graphicFrame>
      <p:sp>
        <p:nvSpPr>
          <p:cNvPr name="TextBox 16" id="16"/>
          <p:cNvSpPr txBox="true"/>
          <p:nvPr/>
        </p:nvSpPr>
        <p:spPr>
          <a:xfrm rot="0">
            <a:off x="805767" y="5429679"/>
            <a:ext cx="9095308" cy="2628611"/>
          </a:xfrm>
          <a:prstGeom prst="rect">
            <a:avLst/>
          </a:prstGeom>
        </p:spPr>
        <p:txBody>
          <a:bodyPr anchor="t" rtlCol="false" tIns="0" lIns="0" bIns="0" rIns="0">
            <a:spAutoFit/>
          </a:bodyPr>
          <a:lstStyle/>
          <a:p>
            <a:pPr algn="l">
              <a:lnSpc>
                <a:spcPts val="2581"/>
              </a:lnSpc>
            </a:pPr>
            <a:r>
              <a:rPr lang="en-US" sz="2151" b="true">
                <a:solidFill>
                  <a:srgbClr val="7A1F2B"/>
                </a:solidFill>
                <a:latin typeface="Calibri (MS) Bold"/>
                <a:ea typeface="Calibri (MS) Bold"/>
                <a:cs typeface="Calibri (MS) Bold"/>
                <a:sym typeface="Calibri (MS) Bold"/>
              </a:rPr>
              <a:t>▪ </a:t>
            </a:r>
            <a:r>
              <a:rPr lang="en-US" sz="2151" b="true">
                <a:solidFill>
                  <a:srgbClr val="262A33"/>
                </a:solidFill>
                <a:latin typeface="Calibri (MS) Bold"/>
                <a:ea typeface="Calibri (MS) Bold"/>
                <a:cs typeface="Calibri (MS) Bold"/>
                <a:sym typeface="Calibri (MS) Bold"/>
              </a:rPr>
              <a:t>Cohérence d'équipe : </a:t>
            </a:r>
            <a:r>
              <a:rPr lang="en-US" sz="2151">
                <a:solidFill>
                  <a:srgbClr val="262A33"/>
                </a:solidFill>
                <a:latin typeface="Calibri (MS)"/>
                <a:ea typeface="Calibri (MS)"/>
                <a:cs typeface="Calibri (MS)"/>
                <a:sym typeface="Calibri (MS)"/>
              </a:rPr>
              <a:t>Pydantic déjà adopté au Sprint 2 — aucune nouvelle dépendance conceptuelle</a:t>
            </a:r>
          </a:p>
          <a:p>
            <a:pPr algn="l">
              <a:lnSpc>
                <a:spcPts val="2581"/>
              </a:lnSpc>
            </a:pPr>
          </a:p>
          <a:p>
            <a:pPr algn="l">
              <a:lnSpc>
                <a:spcPts val="2581"/>
              </a:lnSpc>
            </a:pPr>
            <a:r>
              <a:rPr lang="en-US" sz="2151" b="true">
                <a:solidFill>
                  <a:srgbClr val="7A1F2B"/>
                </a:solidFill>
                <a:latin typeface="Calibri (MS) Bold"/>
                <a:ea typeface="Calibri (MS) Bold"/>
                <a:cs typeface="Calibri (MS) Bold"/>
                <a:sym typeface="Calibri (MS) Bold"/>
              </a:rPr>
              <a:t>▪ </a:t>
            </a:r>
            <a:r>
              <a:rPr lang="en-US" sz="2151" b="true">
                <a:solidFill>
                  <a:srgbClr val="262A33"/>
                </a:solidFill>
                <a:latin typeface="Calibri (MS) Bold"/>
                <a:ea typeface="Calibri (MS) Bold"/>
                <a:cs typeface="Calibri (MS) Bold"/>
                <a:sym typeface="Calibri (MS) Bold"/>
              </a:rPr>
              <a:t>Réduction de la surface d'erreur : </a:t>
            </a:r>
            <a:r>
              <a:rPr lang="en-US" sz="2151">
                <a:solidFill>
                  <a:srgbClr val="262A33"/>
                </a:solidFill>
                <a:latin typeface="Calibri (MS)"/>
                <a:ea typeface="Calibri (MS)"/>
                <a:cs typeface="Calibri (MS)"/>
                <a:sym typeface="Calibri (MS)"/>
              </a:rPr>
              <a:t>validation déclarative, requêtes malformées rejetées avant le code applicatif</a:t>
            </a:r>
          </a:p>
          <a:p>
            <a:pPr algn="l">
              <a:lnSpc>
                <a:spcPts val="2581"/>
              </a:lnSpc>
            </a:pPr>
          </a:p>
          <a:p>
            <a:pPr algn="l">
              <a:lnSpc>
                <a:spcPts val="2581"/>
              </a:lnSpc>
            </a:pPr>
            <a:r>
              <a:rPr lang="en-US" sz="2151" b="true">
                <a:solidFill>
                  <a:srgbClr val="7A1F2B"/>
                </a:solidFill>
                <a:latin typeface="Calibri (MS) Bold"/>
                <a:ea typeface="Calibri (MS) Bold"/>
                <a:cs typeface="Calibri (MS) Bold"/>
                <a:sym typeface="Calibri (MS) Bold"/>
              </a:rPr>
              <a:t>▪ </a:t>
            </a:r>
            <a:r>
              <a:rPr lang="en-US" sz="2151" b="true">
                <a:solidFill>
                  <a:srgbClr val="262A33"/>
                </a:solidFill>
                <a:latin typeface="Calibri (MS) Bold"/>
                <a:ea typeface="Calibri (MS) Bold"/>
                <a:cs typeface="Calibri (MS) Bold"/>
                <a:sym typeface="Calibri (MS) Bold"/>
              </a:rPr>
              <a:t>Documentation OpenAPI auto-générée : </a:t>
            </a:r>
            <a:r>
              <a:rPr lang="en-US" sz="2151">
                <a:solidFill>
                  <a:srgbClr val="262A33"/>
                </a:solidFill>
                <a:latin typeface="Calibri (MS)"/>
                <a:ea typeface="Calibri (MS)"/>
                <a:cs typeface="Calibri (MS)"/>
                <a:sym typeface="Calibri (MS)"/>
              </a:rPr>
              <a:t>coût de transmission réduit vers le déploiement</a:t>
            </a:r>
          </a:p>
        </p:txBody>
      </p:sp>
      <p:grpSp>
        <p:nvGrpSpPr>
          <p:cNvPr name="Group 17" id="17"/>
          <p:cNvGrpSpPr/>
          <p:nvPr/>
        </p:nvGrpSpPr>
        <p:grpSpPr>
          <a:xfrm rot="0">
            <a:off x="10420398" y="2321624"/>
            <a:ext cx="7024459" cy="1094518"/>
            <a:chOff x="0" y="0"/>
            <a:chExt cx="9365945" cy="1459357"/>
          </a:xfrm>
        </p:grpSpPr>
        <p:sp>
          <p:nvSpPr>
            <p:cNvPr name="Freeform 18" id="18"/>
            <p:cNvSpPr/>
            <p:nvPr/>
          </p:nvSpPr>
          <p:spPr>
            <a:xfrm flipH="false" flipV="false" rot="0">
              <a:off x="0" y="0"/>
              <a:ext cx="9365996" cy="1459357"/>
            </a:xfrm>
            <a:custGeom>
              <a:avLst/>
              <a:gdLst/>
              <a:ahLst/>
              <a:cxnLst/>
              <a:rect r="r" b="b" t="t" l="l"/>
              <a:pathLst>
                <a:path h="1459357" w="9365996">
                  <a:moveTo>
                    <a:pt x="0" y="0"/>
                  </a:moveTo>
                  <a:lnTo>
                    <a:pt x="9365996" y="0"/>
                  </a:lnTo>
                  <a:lnTo>
                    <a:pt x="9365996" y="1459357"/>
                  </a:lnTo>
                  <a:lnTo>
                    <a:pt x="0" y="1459357"/>
                  </a:lnTo>
                  <a:close/>
                </a:path>
              </a:pathLst>
            </a:custGeom>
            <a:solidFill>
              <a:srgbClr val="F2F3F5"/>
            </a:solidFill>
            <a:ln w="23831" cap="sq">
              <a:solidFill>
                <a:srgbClr val="257965"/>
              </a:solidFill>
              <a:prstDash val="solid"/>
              <a:miter/>
            </a:ln>
          </p:spPr>
        </p:sp>
      </p:grpSp>
      <p:sp>
        <p:nvSpPr>
          <p:cNvPr name="TextBox 19" id="19"/>
          <p:cNvSpPr txBox="true"/>
          <p:nvPr/>
        </p:nvSpPr>
        <p:spPr>
          <a:xfrm rot="0">
            <a:off x="10689012" y="2416931"/>
            <a:ext cx="6624495" cy="948166"/>
          </a:xfrm>
          <a:prstGeom prst="rect">
            <a:avLst/>
          </a:prstGeom>
        </p:spPr>
        <p:txBody>
          <a:bodyPr anchor="t" rtlCol="false" tIns="0" lIns="0" bIns="0" rIns="0">
            <a:spAutoFit/>
          </a:bodyPr>
          <a:lstStyle/>
          <a:p>
            <a:pPr algn="l">
              <a:lnSpc>
                <a:spcPts val="2071"/>
              </a:lnSpc>
            </a:pPr>
            <a:r>
              <a:rPr lang="en-US" sz="1726" b="true">
                <a:solidFill>
                  <a:srgbClr val="7A1F2B"/>
                </a:solidFill>
                <a:latin typeface="Calibri (MS) Bold"/>
                <a:ea typeface="Calibri (MS) Bold"/>
                <a:cs typeface="Calibri (MS) Bold"/>
                <a:sym typeface="Calibri (MS) Bold"/>
              </a:rPr>
              <a:t>GET /health   </a:t>
            </a:r>
            <a:r>
              <a:rPr lang="en-US" sz="1726">
                <a:solidFill>
                  <a:srgbClr val="262A33"/>
                </a:solidFill>
                <a:latin typeface="Calibri (MS)"/>
                <a:ea typeface="Calibri (MS)"/>
                <a:cs typeface="Calibri (MS)"/>
                <a:sym typeface="Calibri (MS)"/>
              </a:rPr>
              <a:t>disponibilité — aucune dépendance lourde</a:t>
            </a:r>
          </a:p>
          <a:p>
            <a:pPr algn="l">
              <a:lnSpc>
                <a:spcPts val="1801"/>
              </a:lnSpc>
            </a:pPr>
            <a:r>
              <a:rPr lang="en-US" sz="1501">
                <a:solidFill>
                  <a:srgbClr val="6B707A"/>
                </a:solidFill>
                <a:latin typeface="Calibri (MS)"/>
                <a:ea typeface="Calibri (MS)"/>
                <a:cs typeface="Calibri (MS)"/>
                <a:sym typeface="Calibri (MS)"/>
              </a:rPr>
              <a:t>Dépendances : 0 dépendance</a:t>
            </a:r>
          </a:p>
        </p:txBody>
      </p:sp>
      <p:grpSp>
        <p:nvGrpSpPr>
          <p:cNvPr name="Group 20" id="20"/>
          <p:cNvGrpSpPr/>
          <p:nvPr/>
        </p:nvGrpSpPr>
        <p:grpSpPr>
          <a:xfrm rot="0">
            <a:off x="10420398" y="3584486"/>
            <a:ext cx="7024459" cy="1094518"/>
            <a:chOff x="0" y="0"/>
            <a:chExt cx="9365945" cy="1459357"/>
          </a:xfrm>
        </p:grpSpPr>
        <p:sp>
          <p:nvSpPr>
            <p:cNvPr name="Freeform 21" id="21"/>
            <p:cNvSpPr/>
            <p:nvPr/>
          </p:nvSpPr>
          <p:spPr>
            <a:xfrm flipH="false" flipV="false" rot="0">
              <a:off x="0" y="0"/>
              <a:ext cx="9365996" cy="1459357"/>
            </a:xfrm>
            <a:custGeom>
              <a:avLst/>
              <a:gdLst/>
              <a:ahLst/>
              <a:cxnLst/>
              <a:rect r="r" b="b" t="t" l="l"/>
              <a:pathLst>
                <a:path h="1459357" w="9365996">
                  <a:moveTo>
                    <a:pt x="0" y="0"/>
                  </a:moveTo>
                  <a:lnTo>
                    <a:pt x="9365996" y="0"/>
                  </a:lnTo>
                  <a:lnTo>
                    <a:pt x="9365996" y="1459357"/>
                  </a:lnTo>
                  <a:lnTo>
                    <a:pt x="0" y="1459357"/>
                  </a:lnTo>
                  <a:close/>
                </a:path>
              </a:pathLst>
            </a:custGeom>
            <a:solidFill>
              <a:srgbClr val="F2F3F5"/>
            </a:solidFill>
            <a:ln w="23831" cap="sq">
              <a:solidFill>
                <a:srgbClr val="257965"/>
              </a:solidFill>
              <a:prstDash val="solid"/>
              <a:miter/>
            </a:ln>
          </p:spPr>
        </p:sp>
      </p:grpSp>
      <p:sp>
        <p:nvSpPr>
          <p:cNvPr name="TextBox 22" id="22"/>
          <p:cNvSpPr txBox="true"/>
          <p:nvPr/>
        </p:nvSpPr>
        <p:spPr>
          <a:xfrm rot="0">
            <a:off x="10689012" y="3679793"/>
            <a:ext cx="6624495" cy="948166"/>
          </a:xfrm>
          <a:prstGeom prst="rect">
            <a:avLst/>
          </a:prstGeom>
        </p:spPr>
        <p:txBody>
          <a:bodyPr anchor="t" rtlCol="false" tIns="0" lIns="0" bIns="0" rIns="0">
            <a:spAutoFit/>
          </a:bodyPr>
          <a:lstStyle/>
          <a:p>
            <a:pPr algn="l">
              <a:lnSpc>
                <a:spcPts val="2071"/>
              </a:lnSpc>
            </a:pPr>
            <a:r>
              <a:rPr lang="en-US" sz="1726" b="true">
                <a:solidFill>
                  <a:srgbClr val="7A1F2B"/>
                </a:solidFill>
                <a:latin typeface="Calibri (MS) Bold"/>
                <a:ea typeface="Calibri (MS) Bold"/>
                <a:cs typeface="Calibri (MS) Bold"/>
                <a:sym typeface="Calibri (MS) Bold"/>
              </a:rPr>
              <a:t>POST /ask   </a:t>
            </a:r>
            <a:r>
              <a:rPr lang="en-US" sz="1726">
                <a:solidFill>
                  <a:srgbClr val="262A33"/>
                </a:solidFill>
                <a:latin typeface="Calibri (MS)"/>
                <a:ea typeface="Calibri (MS)"/>
                <a:cs typeface="Calibri (MS)"/>
                <a:sym typeface="Calibri (MS)"/>
              </a:rPr>
              <a:t>question → réponse sourcée</a:t>
            </a:r>
          </a:p>
          <a:p>
            <a:pPr algn="l">
              <a:lnSpc>
                <a:spcPts val="1801"/>
              </a:lnSpc>
            </a:pPr>
            <a:r>
              <a:rPr lang="en-US" sz="1501">
                <a:solidFill>
                  <a:srgbClr val="6B707A"/>
                </a:solidFill>
                <a:latin typeface="Calibri (MS)"/>
                <a:ea typeface="Calibri (MS)"/>
                <a:cs typeface="Calibri (MS)"/>
                <a:sym typeface="Calibri (MS)"/>
              </a:rPr>
              <a:t>Dépendances : Chroma + LLM + MLflow</a:t>
            </a:r>
          </a:p>
        </p:txBody>
      </p:sp>
      <p:grpSp>
        <p:nvGrpSpPr>
          <p:cNvPr name="Group 23" id="23"/>
          <p:cNvGrpSpPr/>
          <p:nvPr/>
        </p:nvGrpSpPr>
        <p:grpSpPr>
          <a:xfrm rot="0">
            <a:off x="10420398" y="4847349"/>
            <a:ext cx="7024459" cy="1094518"/>
            <a:chOff x="0" y="0"/>
            <a:chExt cx="9365945" cy="1459357"/>
          </a:xfrm>
        </p:grpSpPr>
        <p:sp>
          <p:nvSpPr>
            <p:cNvPr name="Freeform 24" id="24"/>
            <p:cNvSpPr/>
            <p:nvPr/>
          </p:nvSpPr>
          <p:spPr>
            <a:xfrm flipH="false" flipV="false" rot="0">
              <a:off x="0" y="0"/>
              <a:ext cx="9365996" cy="1459357"/>
            </a:xfrm>
            <a:custGeom>
              <a:avLst/>
              <a:gdLst/>
              <a:ahLst/>
              <a:cxnLst/>
              <a:rect r="r" b="b" t="t" l="l"/>
              <a:pathLst>
                <a:path h="1459357" w="9365996">
                  <a:moveTo>
                    <a:pt x="0" y="0"/>
                  </a:moveTo>
                  <a:lnTo>
                    <a:pt x="9365996" y="0"/>
                  </a:lnTo>
                  <a:lnTo>
                    <a:pt x="9365996" y="1459357"/>
                  </a:lnTo>
                  <a:lnTo>
                    <a:pt x="0" y="1459357"/>
                  </a:lnTo>
                  <a:close/>
                </a:path>
              </a:pathLst>
            </a:custGeom>
            <a:solidFill>
              <a:srgbClr val="F2F3F5"/>
            </a:solidFill>
            <a:ln w="23831" cap="sq">
              <a:solidFill>
                <a:srgbClr val="257965"/>
              </a:solidFill>
              <a:prstDash val="solid"/>
              <a:miter/>
            </a:ln>
          </p:spPr>
        </p:sp>
      </p:grpSp>
      <p:sp>
        <p:nvSpPr>
          <p:cNvPr name="TextBox 25" id="25"/>
          <p:cNvSpPr txBox="true"/>
          <p:nvPr/>
        </p:nvSpPr>
        <p:spPr>
          <a:xfrm rot="0">
            <a:off x="10689012" y="4942646"/>
            <a:ext cx="6624495" cy="948166"/>
          </a:xfrm>
          <a:prstGeom prst="rect">
            <a:avLst/>
          </a:prstGeom>
        </p:spPr>
        <p:txBody>
          <a:bodyPr anchor="t" rtlCol="false" tIns="0" lIns="0" bIns="0" rIns="0">
            <a:spAutoFit/>
          </a:bodyPr>
          <a:lstStyle/>
          <a:p>
            <a:pPr algn="l">
              <a:lnSpc>
                <a:spcPts val="2071"/>
              </a:lnSpc>
            </a:pPr>
            <a:r>
              <a:rPr lang="en-US" sz="1726" b="true">
                <a:solidFill>
                  <a:srgbClr val="7A1F2B"/>
                </a:solidFill>
                <a:latin typeface="Calibri (MS) Bold"/>
                <a:ea typeface="Calibri (MS) Bold"/>
                <a:cs typeface="Calibri (MS) Bold"/>
                <a:sym typeface="Calibri (MS) Bold"/>
              </a:rPr>
              <a:t>GET /docs   </a:t>
            </a:r>
            <a:r>
              <a:rPr lang="en-US" sz="1726">
                <a:solidFill>
                  <a:srgbClr val="262A33"/>
                </a:solidFill>
                <a:latin typeface="Calibri (MS)"/>
                <a:ea typeface="Calibri (MS)"/>
                <a:cs typeface="Calibri (MS)"/>
                <a:sym typeface="Calibri (MS)"/>
              </a:rPr>
              <a:t>documentation interactive OpenAPI</a:t>
            </a:r>
          </a:p>
          <a:p>
            <a:pPr algn="l">
              <a:lnSpc>
                <a:spcPts val="1801"/>
              </a:lnSpc>
            </a:pPr>
            <a:r>
              <a:rPr lang="en-US" sz="1501">
                <a:solidFill>
                  <a:srgbClr val="6B707A"/>
                </a:solidFill>
                <a:latin typeface="Calibri (MS)"/>
                <a:ea typeface="Calibri (MS)"/>
                <a:cs typeface="Calibri (MS)"/>
                <a:sym typeface="Calibri (MS)"/>
              </a:rPr>
              <a:t>Dépendances : 0 dépendance</a:t>
            </a:r>
          </a:p>
        </p:txBody>
      </p:sp>
      <p:grpSp>
        <p:nvGrpSpPr>
          <p:cNvPr name="Group 26" id="26"/>
          <p:cNvGrpSpPr/>
          <p:nvPr/>
        </p:nvGrpSpPr>
        <p:grpSpPr>
          <a:xfrm rot="0">
            <a:off x="10432313" y="6245657"/>
            <a:ext cx="7000627" cy="2402176"/>
            <a:chOff x="0" y="0"/>
            <a:chExt cx="9334170" cy="3202902"/>
          </a:xfrm>
        </p:grpSpPr>
        <p:sp>
          <p:nvSpPr>
            <p:cNvPr name="Freeform 27" id="27"/>
            <p:cNvSpPr/>
            <p:nvPr/>
          </p:nvSpPr>
          <p:spPr>
            <a:xfrm flipH="false" flipV="false" rot="0">
              <a:off x="0" y="0"/>
              <a:ext cx="9334119" cy="3202940"/>
            </a:xfrm>
            <a:custGeom>
              <a:avLst/>
              <a:gdLst/>
              <a:ahLst/>
              <a:cxnLst/>
              <a:rect r="r" b="b" t="t" l="l"/>
              <a:pathLst>
                <a:path h="3202940" w="9334119">
                  <a:moveTo>
                    <a:pt x="0" y="0"/>
                  </a:moveTo>
                  <a:lnTo>
                    <a:pt x="9334119" y="0"/>
                  </a:lnTo>
                  <a:lnTo>
                    <a:pt x="9334119" y="3202940"/>
                  </a:lnTo>
                  <a:lnTo>
                    <a:pt x="0" y="3202940"/>
                  </a:lnTo>
                  <a:close/>
                </a:path>
              </a:pathLst>
            </a:custGeom>
            <a:solidFill>
              <a:srgbClr val="1E222B"/>
            </a:solidFill>
          </p:spPr>
        </p:sp>
      </p:grpSp>
      <p:sp>
        <p:nvSpPr>
          <p:cNvPr name="TextBox 28" id="28"/>
          <p:cNvSpPr txBox="true"/>
          <p:nvPr/>
        </p:nvSpPr>
        <p:spPr>
          <a:xfrm rot="0">
            <a:off x="10689012" y="6383950"/>
            <a:ext cx="6624495" cy="552414"/>
          </a:xfrm>
          <a:prstGeom prst="rect">
            <a:avLst/>
          </a:prstGeom>
        </p:spPr>
        <p:txBody>
          <a:bodyPr anchor="t" rtlCol="false" tIns="0" lIns="0" bIns="0" rIns="0">
            <a:spAutoFit/>
          </a:bodyPr>
          <a:lstStyle/>
          <a:p>
            <a:pPr algn="l">
              <a:lnSpc>
                <a:spcPts val="2071"/>
              </a:lnSpc>
            </a:pPr>
            <a:r>
              <a:rPr lang="en-US" sz="1726">
                <a:solidFill>
                  <a:srgbClr val="D8E0EA"/>
                </a:solidFill>
                <a:latin typeface="Calibri (MS)"/>
                <a:ea typeface="Calibri (MS)"/>
                <a:cs typeface="Calibri (MS)"/>
                <a:sym typeface="Calibri (MS)"/>
              </a:rPr>
              <a:t>Requête  { question, top_k ∈ [1,50] (défaut 5), where? }</a:t>
            </a:r>
          </a:p>
          <a:p>
            <a:pPr algn="l">
              <a:lnSpc>
                <a:spcPts val="2071"/>
              </a:lnSpc>
            </a:pPr>
            <a:r>
              <a:rPr lang="en-US" sz="1726">
                <a:solidFill>
                  <a:srgbClr val="D8E0EA"/>
                </a:solidFill>
                <a:latin typeface="Calibri (MS)"/>
                <a:ea typeface="Calibri (MS)"/>
                <a:cs typeface="Calibri (MS)"/>
                <a:sym typeface="Calibri (MS)"/>
              </a:rPr>
              <a:t>Réponse  { answer, sources[{title, section, distance}], latency_ms }</a:t>
            </a:r>
          </a:p>
        </p:txBody>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transition spd="fast">
    <p:cover dir="d"/>
  </p:transition>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5767" y="360997"/>
            <a:ext cx="13076053" cy="1054903"/>
          </a:xfrm>
          <a:prstGeom prst="rect">
            <a:avLst/>
          </a:prstGeom>
        </p:spPr>
        <p:txBody>
          <a:bodyPr anchor="t" rtlCol="false" tIns="0" lIns="0" bIns="0" rIns="0">
            <a:spAutoFit/>
          </a:bodyPr>
          <a:lstStyle/>
          <a:p>
            <a:pPr algn="l">
              <a:lnSpc>
                <a:spcPts val="4683"/>
              </a:lnSpc>
            </a:pPr>
            <a:r>
              <a:rPr lang="en-US" sz="3903" b="true">
                <a:solidFill>
                  <a:srgbClr val="262A33"/>
                </a:solidFill>
                <a:latin typeface="Calibri (MS) Bold"/>
                <a:ea typeface="Calibri (MS) Bold"/>
                <a:cs typeface="Calibri (MS) Bold"/>
                <a:sym typeface="Calibri (MS) Bold"/>
              </a:rPr>
              <a:t>Sprint 4 — Politique d'erreurs &amp; conteneurisation</a:t>
            </a:r>
          </a:p>
        </p:txBody>
      </p:sp>
      <p:sp>
        <p:nvSpPr>
          <p:cNvPr name="TextBox 3" id="3"/>
          <p:cNvSpPr txBox="true"/>
          <p:nvPr/>
        </p:nvSpPr>
        <p:spPr>
          <a:xfrm rot="0">
            <a:off x="846953" y="1332519"/>
            <a:ext cx="13076053" cy="536372"/>
          </a:xfrm>
          <a:prstGeom prst="rect">
            <a:avLst/>
          </a:prstGeom>
        </p:spPr>
        <p:txBody>
          <a:bodyPr anchor="t" rtlCol="false" tIns="0" lIns="0" bIns="0" rIns="0">
            <a:spAutoFit/>
          </a:bodyPr>
          <a:lstStyle/>
          <a:p>
            <a:pPr algn="l">
              <a:lnSpc>
                <a:spcPts val="2251"/>
              </a:lnSpc>
            </a:pPr>
            <a:r>
              <a:rPr lang="en-US" sz="1876" i="true">
                <a:solidFill>
                  <a:srgbClr val="6B707A"/>
                </a:solidFill>
                <a:latin typeface="Calibri (MS) Italics"/>
                <a:ea typeface="Calibri (MS) Italics"/>
                <a:cs typeface="Calibri (MS) Italics"/>
                <a:sym typeface="Calibri (MS) Italics"/>
              </a:rPr>
              <a:t>Décisions issues de la lecture du code amont, non d'une hypothèse</a:t>
            </a:r>
          </a:p>
        </p:txBody>
      </p:sp>
      <p:grpSp>
        <p:nvGrpSpPr>
          <p:cNvPr name="Group 4" id="4"/>
          <p:cNvGrpSpPr/>
          <p:nvPr/>
        </p:nvGrpSpPr>
        <p:grpSpPr>
          <a:xfrm rot="0">
            <a:off x="14481696" y="494167"/>
            <a:ext cx="3225784" cy="851059"/>
            <a:chOff x="0" y="0"/>
            <a:chExt cx="4301046" cy="1134745"/>
          </a:xfrm>
        </p:grpSpPr>
        <p:sp>
          <p:nvSpPr>
            <p:cNvPr name="Freeform 5" id="5"/>
            <p:cNvSpPr/>
            <p:nvPr/>
          </p:nvSpPr>
          <p:spPr>
            <a:xfrm flipH="false" flipV="false" rot="0">
              <a:off x="0" y="0"/>
              <a:ext cx="4300982" cy="1134745"/>
            </a:xfrm>
            <a:custGeom>
              <a:avLst/>
              <a:gdLst/>
              <a:ahLst/>
              <a:cxnLst/>
              <a:rect r="r" b="b" t="t" l="l"/>
              <a:pathLst>
                <a:path h="1134745" w="4300982">
                  <a:moveTo>
                    <a:pt x="0" y="0"/>
                  </a:moveTo>
                  <a:lnTo>
                    <a:pt x="4300982" y="0"/>
                  </a:lnTo>
                  <a:lnTo>
                    <a:pt x="4300982" y="1134745"/>
                  </a:lnTo>
                  <a:lnTo>
                    <a:pt x="0" y="1134745"/>
                  </a:lnTo>
                  <a:close/>
                </a:path>
              </a:pathLst>
            </a:custGeom>
            <a:solidFill>
              <a:srgbClr val="7B1F2A"/>
            </a:solidFill>
          </p:spPr>
        </p:sp>
        <p:sp>
          <p:nvSpPr>
            <p:cNvPr name="TextBox 6" id="6"/>
            <p:cNvSpPr txBox="true"/>
            <p:nvPr/>
          </p:nvSpPr>
          <p:spPr>
            <a:xfrm>
              <a:off x="0" y="-47625"/>
              <a:ext cx="4301046" cy="1182370"/>
            </a:xfrm>
            <a:prstGeom prst="rect">
              <a:avLst/>
            </a:prstGeom>
          </p:spPr>
          <p:txBody>
            <a:bodyPr anchor="ctr" rtlCol="false" tIns="50800" lIns="50800" bIns="50800" rIns="50800"/>
            <a:lstStyle/>
            <a:p>
              <a:pPr algn="ctr">
                <a:lnSpc>
                  <a:spcPts val="2341"/>
                </a:lnSpc>
              </a:pPr>
              <a:r>
                <a:rPr lang="en-US" sz="1951" b="true">
                  <a:solidFill>
                    <a:srgbClr val="FFFFFF"/>
                  </a:solidFill>
                  <a:latin typeface="Calibri (MS) Bold"/>
                  <a:ea typeface="Calibri (MS) Bold"/>
                  <a:cs typeface="Calibri (MS) Bold"/>
                  <a:sym typeface="Calibri (MS) Bold"/>
                </a:rPr>
                <a:t>SPRINT 4</a:t>
              </a:r>
            </a:p>
            <a:p>
              <a:pPr algn="ctr">
                <a:lnSpc>
                  <a:spcPts val="1711"/>
                </a:lnSpc>
              </a:pPr>
              <a:r>
                <a:rPr lang="en-US" sz="1426">
                  <a:solidFill>
                    <a:srgbClr val="FFFFFF"/>
                  </a:solidFill>
                  <a:latin typeface="Calibri (MS)"/>
                  <a:ea typeface="Calibri (MS)"/>
                  <a:cs typeface="Calibri (MS)"/>
                  <a:sym typeface="Calibri (MS)"/>
                </a:rPr>
                <a:t>Chbab Brahim</a:t>
              </a:r>
            </a:p>
          </p:txBody>
        </p:sp>
      </p:grpSp>
      <p:graphicFrame>
        <p:nvGraphicFramePr>
          <p:cNvPr name="Table 7" id="7"/>
          <p:cNvGraphicFramePr>
            <a:graphicFrameLocks noGrp="true"/>
          </p:cNvGraphicFramePr>
          <p:nvPr/>
        </p:nvGraphicFramePr>
        <p:xfrm>
          <a:off x="754970" y="2264909"/>
          <a:ext cx="9437123" cy="3431681"/>
        </p:xfrm>
        <a:graphic>
          <a:graphicData uri="http://schemas.openxmlformats.org/drawingml/2006/table">
            <a:tbl>
              <a:tblPr/>
              <a:tblGrid>
                <a:gridCol w="3966327"/>
                <a:gridCol w="1094159"/>
                <a:gridCol w="4376637"/>
              </a:tblGrid>
              <a:tr h="686336">
                <a:tc>
                  <a:txBody>
                    <a:bodyPr anchor="t" rtlCol="false"/>
                    <a:lstStyle/>
                    <a:p>
                      <a:pPr algn="l">
                        <a:lnSpc>
                          <a:spcPts val="2071"/>
                        </a:lnSpc>
                        <a:defRPr/>
                      </a:pPr>
                      <a:r>
                        <a:rPr lang="en-US" sz="1726" b="true">
                          <a:solidFill>
                            <a:srgbClr val="FFFFFF"/>
                          </a:solidFill>
                          <a:latin typeface="Calibri (MS) Bold"/>
                          <a:ea typeface="Calibri (MS) Bold"/>
                          <a:cs typeface="Calibri (MS) Bold"/>
                          <a:sym typeface="Calibri (MS) Bold"/>
                        </a:rPr>
                        <a:t>Situation</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2705D"/>
                    </a:solidFill>
                  </a:tcPr>
                </a:tc>
                <a:tc>
                  <a:txBody>
                    <a:bodyPr anchor="t" rtlCol="false"/>
                    <a:lstStyle/>
                    <a:p>
                      <a:pPr algn="l">
                        <a:lnSpc>
                          <a:spcPts val="2071"/>
                        </a:lnSpc>
                        <a:defRPr/>
                      </a:pPr>
                      <a:r>
                        <a:rPr lang="en-US" sz="1726" b="true">
                          <a:solidFill>
                            <a:srgbClr val="FFFFFF"/>
                          </a:solidFill>
                          <a:latin typeface="Calibri (MS) Bold"/>
                          <a:ea typeface="Calibri (MS) Bold"/>
                          <a:cs typeface="Calibri (MS) Bold"/>
                          <a:sym typeface="Calibri (MS) Bold"/>
                        </a:rPr>
                        <a:t>Code</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2705D"/>
                    </a:solidFill>
                  </a:tcPr>
                </a:tc>
                <a:tc>
                  <a:txBody>
                    <a:bodyPr anchor="t" rtlCol="false"/>
                    <a:lstStyle/>
                    <a:p>
                      <a:pPr algn="l">
                        <a:lnSpc>
                          <a:spcPts val="2071"/>
                        </a:lnSpc>
                        <a:defRPr/>
                      </a:pPr>
                      <a:r>
                        <a:rPr lang="en-US" sz="1726" b="true">
                          <a:solidFill>
                            <a:srgbClr val="FFFFFF"/>
                          </a:solidFill>
                          <a:latin typeface="Calibri (MS) Bold"/>
                          <a:ea typeface="Calibri (MS) Bold"/>
                          <a:cs typeface="Calibri (MS) Bold"/>
                          <a:sym typeface="Calibri (MS) Bold"/>
                        </a:rPr>
                        <a:t>Raison</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22705D"/>
                    </a:solidFill>
                  </a:tcPr>
                </a:tc>
              </a:tr>
              <a:tr h="686336">
                <a:tc>
                  <a:txBody>
                    <a:bodyPr anchor="t" rtlCol="false"/>
                    <a:lstStyle/>
                    <a:p>
                      <a:pPr algn="l">
                        <a:lnSpc>
                          <a:spcPts val="1981"/>
                        </a:lnSpc>
                        <a:defRPr/>
                      </a:pPr>
                      <a:r>
                        <a:rPr lang="en-US" sz="1651">
                          <a:solidFill>
                            <a:srgbClr val="262A33"/>
                          </a:solidFill>
                          <a:latin typeface="Calibri (MS)"/>
                          <a:ea typeface="Calibri (MS)"/>
                          <a:cs typeface="Calibri (MS)"/>
                          <a:sym typeface="Calibri (MS)"/>
                        </a:rPr>
                        <a:t>Requête valide, traitement nominal</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200</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réponse complète avec sources</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6336">
                <a:tc>
                  <a:txBody>
                    <a:bodyPr anchor="t" rtlCol="false"/>
                    <a:lstStyle/>
                    <a:p>
                      <a:pPr algn="l">
                        <a:lnSpc>
                          <a:spcPts val="1981"/>
                        </a:lnSpc>
                        <a:defRPr/>
                      </a:pPr>
                      <a:r>
                        <a:rPr lang="en-US" sz="1651">
                          <a:solidFill>
                            <a:srgbClr val="262A33"/>
                          </a:solidFill>
                          <a:latin typeface="Calibri (MS)"/>
                          <a:ea typeface="Calibri (MS)"/>
                          <a:cs typeface="Calibri (MS)"/>
                          <a:sym typeface="Calibri (MS)"/>
                        </a:rPr>
                        <a:t>LLM indisponible (repli interne)</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3F5"/>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200</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3F5"/>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answer_question() ne lève jamais d'exception</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3F5"/>
                    </a:solidFill>
                  </a:tcPr>
                </a:tc>
              </a:tr>
              <a:tr h="686336">
                <a:tc>
                  <a:txBody>
                    <a:bodyPr anchor="t" rtlCol="false"/>
                    <a:lstStyle/>
                    <a:p>
                      <a:pPr algn="l">
                        <a:lnSpc>
                          <a:spcPts val="1981"/>
                        </a:lnSpc>
                        <a:defRPr/>
                      </a:pPr>
                      <a:r>
                        <a:rPr lang="en-US" sz="1651">
                          <a:solidFill>
                            <a:srgbClr val="262A33"/>
                          </a:solidFill>
                          <a:latin typeface="Calibri (MS)"/>
                          <a:ea typeface="Calibri (MS)"/>
                          <a:cs typeface="Calibri (MS)"/>
                          <a:sym typeface="Calibri (MS)"/>
                        </a:rPr>
                        <a:t>Champ manquant / type incorrect</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422</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rejet déclaratif Pydantic</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FFFFF"/>
                    </a:solidFill>
                  </a:tcPr>
                </a:tc>
              </a:tr>
              <a:tr h="686336">
                <a:tc>
                  <a:txBody>
                    <a:bodyPr anchor="t" rtlCol="false"/>
                    <a:lstStyle/>
                    <a:p>
                      <a:pPr algn="l">
                        <a:lnSpc>
                          <a:spcPts val="1981"/>
                        </a:lnSpc>
                        <a:defRPr/>
                      </a:pPr>
                      <a:r>
                        <a:rPr lang="en-US" sz="1651">
                          <a:solidFill>
                            <a:srgbClr val="262A33"/>
                          </a:solidFill>
                          <a:latin typeface="Calibri (MS)"/>
                          <a:ea typeface="Calibri (MS)"/>
                          <a:cs typeface="Calibri (MS)"/>
                          <a:sym typeface="Calibri (MS)"/>
                        </a:rPr>
                        <a:t>Vector Store ou MLflow inaccessible</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3F5"/>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500</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3F5"/>
                    </a:solidFill>
                  </a:tcPr>
                </a:tc>
                <a:tc>
                  <a:txBody>
                    <a:bodyPr anchor="t" rtlCol="false"/>
                    <a:lstStyle/>
                    <a:p>
                      <a:pPr algn="l">
                        <a:lnSpc>
                          <a:spcPts val="1981"/>
                        </a:lnSpc>
                        <a:defRPr/>
                      </a:pPr>
                      <a:r>
                        <a:rPr lang="en-US" sz="1651">
                          <a:solidFill>
                            <a:srgbClr val="262A33"/>
                          </a:solidFill>
                          <a:latin typeface="Calibri (MS)"/>
                          <a:ea typeface="Calibri (MS)"/>
                          <a:cs typeface="Calibri (MS)"/>
                          <a:sym typeface="Calibri (MS)"/>
                        </a:rPr>
                        <a:t>vraie panne d'infrastructure</a:t>
                      </a:r>
                      <a:endParaRPr lang="en-US" sz="1100"/>
                    </a:p>
                  </a:txBody>
                  <a:tcPr marL="63500" marR="63500" marT="63500" marB="635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F2F3F5"/>
                    </a:solidFill>
                  </a:tcPr>
                </a:tc>
              </a:tr>
            </a:tbl>
          </a:graphicData>
        </a:graphic>
      </p:graphicFrame>
      <p:sp>
        <p:nvSpPr>
          <p:cNvPr name="TextBox 8" id="8"/>
          <p:cNvSpPr txBox="true"/>
          <p:nvPr/>
        </p:nvSpPr>
        <p:spPr>
          <a:xfrm rot="0">
            <a:off x="754970" y="6371711"/>
            <a:ext cx="9369838" cy="2304797"/>
          </a:xfrm>
          <a:prstGeom prst="rect">
            <a:avLst/>
          </a:prstGeom>
        </p:spPr>
        <p:txBody>
          <a:bodyPr anchor="t" rtlCol="false" tIns="0" lIns="0" bIns="0" rIns="0">
            <a:spAutoFit/>
          </a:bodyPr>
          <a:lstStyle/>
          <a:p>
            <a:pPr algn="l">
              <a:lnSpc>
                <a:spcPts val="2581"/>
              </a:lnSpc>
            </a:pPr>
            <a:r>
              <a:rPr lang="en-US" sz="2151" b="true">
                <a:solidFill>
                  <a:srgbClr val="7A1F2B"/>
                </a:solidFill>
                <a:latin typeface="Calibri (MS) Bold"/>
                <a:ea typeface="Calibri (MS) Bold"/>
                <a:cs typeface="Calibri (MS) Bold"/>
                <a:sym typeface="Calibri (MS) Bold"/>
              </a:rPr>
              <a:t>▪ </a:t>
            </a:r>
            <a:r>
              <a:rPr lang="en-US" sz="2151" b="true">
                <a:solidFill>
                  <a:srgbClr val="262A33"/>
                </a:solidFill>
                <a:latin typeface="Calibri (MS) Bold"/>
                <a:ea typeface="Calibri (MS) Bold"/>
                <a:cs typeface="Calibri (MS) Bold"/>
                <a:sym typeface="Calibri (MS) Bold"/>
              </a:rPr>
              <a:t>Image construite depuis la RACINE du dépôt : </a:t>
            </a:r>
            <a:r>
              <a:rPr lang="en-US" sz="2151">
                <a:solidFill>
                  <a:srgbClr val="262A33"/>
                </a:solidFill>
                <a:latin typeface="Calibri (MS)"/>
                <a:ea typeface="Calibri (MS)"/>
                <a:cs typeface="Calibri (MS)"/>
                <a:sym typeface="Calibri (MS)"/>
              </a:rPr>
              <a:t>l'API importe directement le module RAG</a:t>
            </a:r>
          </a:p>
          <a:p>
            <a:pPr algn="l">
              <a:lnSpc>
                <a:spcPts val="2581"/>
              </a:lnSpc>
            </a:pPr>
          </a:p>
          <a:p>
            <a:pPr algn="l">
              <a:lnSpc>
                <a:spcPts val="2581"/>
              </a:lnSpc>
            </a:pPr>
            <a:r>
              <a:rPr lang="en-US" sz="2151" b="true">
                <a:solidFill>
                  <a:srgbClr val="7A1F2B"/>
                </a:solidFill>
                <a:latin typeface="Calibri (MS) Bold"/>
                <a:ea typeface="Calibri (MS) Bold"/>
                <a:cs typeface="Calibri (MS) Bold"/>
                <a:sym typeface="Calibri (MS) Bold"/>
              </a:rPr>
              <a:t>▪ </a:t>
            </a:r>
            <a:r>
              <a:rPr lang="en-US" sz="2151" b="true">
                <a:solidFill>
                  <a:srgbClr val="262A33"/>
                </a:solidFill>
                <a:latin typeface="Calibri (MS) Bold"/>
                <a:ea typeface="Calibri (MS) Bold"/>
                <a:cs typeface="Calibri (MS) Bold"/>
                <a:sym typeface="Calibri (MS) Bold"/>
              </a:rPr>
              <a:t>Chroma = volume monté, </a:t>
            </a:r>
            <a:r>
              <a:rPr lang="en-US" sz="2151">
                <a:solidFill>
                  <a:srgbClr val="262A33"/>
                </a:solidFill>
                <a:latin typeface="Calibri (MS)"/>
                <a:ea typeface="Calibri (MS)"/>
                <a:cs typeface="Calibri (MS)"/>
                <a:sym typeface="Calibri (MS)"/>
              </a:rPr>
              <a:t>pas un 3ᵉ conteneur (base embarquée)</a:t>
            </a:r>
          </a:p>
          <a:p>
            <a:pPr algn="l">
              <a:lnSpc>
                <a:spcPts val="2581"/>
              </a:lnSpc>
            </a:pPr>
          </a:p>
          <a:p>
            <a:pPr algn="l">
              <a:lnSpc>
                <a:spcPts val="2581"/>
              </a:lnSpc>
            </a:pPr>
            <a:r>
              <a:rPr lang="en-US" sz="2151" b="true">
                <a:solidFill>
                  <a:srgbClr val="7A1F2B"/>
                </a:solidFill>
                <a:latin typeface="Calibri (MS) Bold"/>
                <a:ea typeface="Calibri (MS) Bold"/>
                <a:cs typeface="Calibri (MS) Bold"/>
                <a:sym typeface="Calibri (MS) Bold"/>
              </a:rPr>
              <a:t>▪ </a:t>
            </a:r>
            <a:r>
              <a:rPr lang="en-US" sz="2151" b="true">
                <a:solidFill>
                  <a:srgbClr val="262A33"/>
                </a:solidFill>
                <a:latin typeface="Calibri (MS) Bold"/>
                <a:ea typeface="Calibri (MS) Bold"/>
                <a:cs typeface="Calibri (MS) Bold"/>
                <a:sym typeface="Calibri (MS) Bold"/>
              </a:rPr>
              <a:t>`.env` externalisé (12-factor), </a:t>
            </a:r>
            <a:r>
              <a:rPr lang="en-US" sz="2151">
                <a:solidFill>
                  <a:srgbClr val="262A33"/>
                </a:solidFill>
                <a:latin typeface="Calibri (MS)"/>
                <a:ea typeface="Calibri (MS)"/>
                <a:cs typeface="Calibri (MS)"/>
                <a:sym typeface="Calibri (MS)"/>
              </a:rPr>
              <a:t>fusionné avec le .env.example existant — jamais écrasé</a:t>
            </a:r>
          </a:p>
        </p:txBody>
      </p:sp>
      <p:sp>
        <p:nvSpPr>
          <p:cNvPr name="TextBox 9" id="9"/>
          <p:cNvSpPr txBox="true"/>
          <p:nvPr/>
        </p:nvSpPr>
        <p:spPr>
          <a:xfrm rot="0">
            <a:off x="10757649" y="2201504"/>
            <a:ext cx="6761759" cy="545897"/>
          </a:xfrm>
          <a:prstGeom prst="rect">
            <a:avLst/>
          </a:prstGeom>
        </p:spPr>
        <p:txBody>
          <a:bodyPr anchor="t" rtlCol="false" tIns="0" lIns="0" bIns="0" rIns="0">
            <a:spAutoFit/>
          </a:bodyPr>
          <a:lstStyle/>
          <a:p>
            <a:pPr algn="l">
              <a:lnSpc>
                <a:spcPts val="2341"/>
              </a:lnSpc>
            </a:pPr>
            <a:r>
              <a:rPr lang="en-US" sz="1951" b="true">
                <a:solidFill>
                  <a:srgbClr val="262A33"/>
                </a:solidFill>
                <a:latin typeface="Calibri (MS) Bold"/>
                <a:ea typeface="Calibri (MS) Bold"/>
                <a:cs typeface="Calibri (MS) Bold"/>
                <a:sym typeface="Calibri (MS) Bold"/>
              </a:rPr>
              <a:t>Architecture cible (2 conteneurs + volume)</a:t>
            </a:r>
          </a:p>
        </p:txBody>
      </p:sp>
      <p:grpSp>
        <p:nvGrpSpPr>
          <p:cNvPr name="Group 10" id="10"/>
          <p:cNvGrpSpPr/>
          <p:nvPr/>
        </p:nvGrpSpPr>
        <p:grpSpPr>
          <a:xfrm rot="0">
            <a:off x="10692546" y="2868311"/>
            <a:ext cx="6823329" cy="1016918"/>
            <a:chOff x="0" y="0"/>
            <a:chExt cx="9097772" cy="1355890"/>
          </a:xfrm>
        </p:grpSpPr>
        <p:sp>
          <p:nvSpPr>
            <p:cNvPr name="Freeform 11" id="11"/>
            <p:cNvSpPr/>
            <p:nvPr/>
          </p:nvSpPr>
          <p:spPr>
            <a:xfrm flipH="false" flipV="false" rot="0">
              <a:off x="0" y="0"/>
              <a:ext cx="9097772" cy="1355852"/>
            </a:xfrm>
            <a:custGeom>
              <a:avLst/>
              <a:gdLst/>
              <a:ahLst/>
              <a:cxnLst/>
              <a:rect r="r" b="b" t="t" l="l"/>
              <a:pathLst>
                <a:path h="1355852" w="9097772">
                  <a:moveTo>
                    <a:pt x="0" y="0"/>
                  </a:moveTo>
                  <a:lnTo>
                    <a:pt x="9097772" y="0"/>
                  </a:lnTo>
                  <a:lnTo>
                    <a:pt x="9097772" y="1355852"/>
                  </a:lnTo>
                  <a:lnTo>
                    <a:pt x="0" y="1355852"/>
                  </a:lnTo>
                  <a:close/>
                </a:path>
              </a:pathLst>
            </a:custGeom>
            <a:solidFill>
              <a:srgbClr val="F2F3F5"/>
            </a:solidFill>
            <a:ln w="28597" cap="sq">
              <a:solidFill>
                <a:srgbClr val="7A1F2B"/>
              </a:solidFill>
              <a:prstDash val="solid"/>
              <a:miter/>
            </a:ln>
          </p:spPr>
        </p:sp>
        <p:sp>
          <p:nvSpPr>
            <p:cNvPr name="TextBox 12" id="12"/>
            <p:cNvSpPr txBox="true"/>
            <p:nvPr/>
          </p:nvSpPr>
          <p:spPr>
            <a:xfrm>
              <a:off x="0" y="-38100"/>
              <a:ext cx="9097772" cy="1393990"/>
            </a:xfrm>
            <a:prstGeom prst="rect">
              <a:avLst/>
            </a:prstGeom>
          </p:spPr>
          <p:txBody>
            <a:bodyPr anchor="ctr" rtlCol="false" tIns="50800" lIns="50800" bIns="50800" rIns="50800"/>
            <a:lstStyle/>
            <a:p>
              <a:pPr algn="ctr">
                <a:lnSpc>
                  <a:spcPts val="2071"/>
                </a:lnSpc>
              </a:pPr>
              <a:r>
                <a:rPr lang="en-US" sz="1726" b="true">
                  <a:solidFill>
                    <a:srgbClr val="7A1F2B"/>
                  </a:solidFill>
                  <a:latin typeface="Calibri (MS) Bold"/>
                  <a:ea typeface="Calibri (MS) Bold"/>
                  <a:cs typeface="Calibri (MS) Bold"/>
                  <a:sym typeface="Calibri (MS) Bold"/>
                </a:rPr>
                <a:t>Conteneur api — FastAPI + Uvicorn, port 8000</a:t>
              </a:r>
            </a:p>
          </p:txBody>
        </p:sp>
      </p:grpSp>
      <p:grpSp>
        <p:nvGrpSpPr>
          <p:cNvPr name="Group 13" id="13"/>
          <p:cNvGrpSpPr/>
          <p:nvPr/>
        </p:nvGrpSpPr>
        <p:grpSpPr>
          <a:xfrm rot="0">
            <a:off x="10692546" y="4048811"/>
            <a:ext cx="6823329" cy="1016918"/>
            <a:chOff x="0" y="0"/>
            <a:chExt cx="9097772" cy="1355890"/>
          </a:xfrm>
        </p:grpSpPr>
        <p:sp>
          <p:nvSpPr>
            <p:cNvPr name="Freeform 14" id="14"/>
            <p:cNvSpPr/>
            <p:nvPr/>
          </p:nvSpPr>
          <p:spPr>
            <a:xfrm flipH="false" flipV="false" rot="0">
              <a:off x="0" y="0"/>
              <a:ext cx="9097772" cy="1355852"/>
            </a:xfrm>
            <a:custGeom>
              <a:avLst/>
              <a:gdLst/>
              <a:ahLst/>
              <a:cxnLst/>
              <a:rect r="r" b="b" t="t" l="l"/>
              <a:pathLst>
                <a:path h="1355852" w="9097772">
                  <a:moveTo>
                    <a:pt x="0" y="0"/>
                  </a:moveTo>
                  <a:lnTo>
                    <a:pt x="9097772" y="0"/>
                  </a:lnTo>
                  <a:lnTo>
                    <a:pt x="9097772" y="1355852"/>
                  </a:lnTo>
                  <a:lnTo>
                    <a:pt x="0" y="1355852"/>
                  </a:lnTo>
                  <a:close/>
                </a:path>
              </a:pathLst>
            </a:custGeom>
            <a:solidFill>
              <a:srgbClr val="F2F3F5"/>
            </a:solidFill>
            <a:ln w="28597" cap="sq">
              <a:solidFill>
                <a:srgbClr val="3F3DB0"/>
              </a:solidFill>
              <a:prstDash val="solid"/>
              <a:miter/>
            </a:ln>
          </p:spPr>
        </p:sp>
        <p:sp>
          <p:nvSpPr>
            <p:cNvPr name="TextBox 15" id="15"/>
            <p:cNvSpPr txBox="true"/>
            <p:nvPr/>
          </p:nvSpPr>
          <p:spPr>
            <a:xfrm>
              <a:off x="0" y="-38100"/>
              <a:ext cx="9097772" cy="1393990"/>
            </a:xfrm>
            <a:prstGeom prst="rect">
              <a:avLst/>
            </a:prstGeom>
          </p:spPr>
          <p:txBody>
            <a:bodyPr anchor="ctr" rtlCol="false" tIns="50800" lIns="50800" bIns="50800" rIns="50800"/>
            <a:lstStyle/>
            <a:p>
              <a:pPr algn="ctr">
                <a:lnSpc>
                  <a:spcPts val="2071"/>
                </a:lnSpc>
              </a:pPr>
              <a:r>
                <a:rPr lang="en-US" sz="1726" b="true">
                  <a:solidFill>
                    <a:srgbClr val="3F3DB0"/>
                  </a:solidFill>
                  <a:latin typeface="Calibri (MS) Bold"/>
                  <a:ea typeface="Calibri (MS) Bold"/>
                  <a:cs typeface="Calibri (MS) Bold"/>
                  <a:sym typeface="Calibri (MS) Bold"/>
                </a:rPr>
                <a:t>Conteneur mlflow — serveur de suivi, port 5000</a:t>
              </a:r>
            </a:p>
          </p:txBody>
        </p:sp>
      </p:grpSp>
      <p:grpSp>
        <p:nvGrpSpPr>
          <p:cNvPr name="Group 16" id="16"/>
          <p:cNvGrpSpPr/>
          <p:nvPr/>
        </p:nvGrpSpPr>
        <p:grpSpPr>
          <a:xfrm rot="0">
            <a:off x="10692546" y="5229311"/>
            <a:ext cx="6823329" cy="1016918"/>
            <a:chOff x="0" y="0"/>
            <a:chExt cx="9097772" cy="1355890"/>
          </a:xfrm>
        </p:grpSpPr>
        <p:sp>
          <p:nvSpPr>
            <p:cNvPr name="Freeform 17" id="17"/>
            <p:cNvSpPr/>
            <p:nvPr/>
          </p:nvSpPr>
          <p:spPr>
            <a:xfrm flipH="false" flipV="false" rot="0">
              <a:off x="0" y="0"/>
              <a:ext cx="9097772" cy="1355852"/>
            </a:xfrm>
            <a:custGeom>
              <a:avLst/>
              <a:gdLst/>
              <a:ahLst/>
              <a:cxnLst/>
              <a:rect r="r" b="b" t="t" l="l"/>
              <a:pathLst>
                <a:path h="1355852" w="9097772">
                  <a:moveTo>
                    <a:pt x="0" y="0"/>
                  </a:moveTo>
                  <a:lnTo>
                    <a:pt x="9097772" y="0"/>
                  </a:lnTo>
                  <a:lnTo>
                    <a:pt x="9097772" y="1355852"/>
                  </a:lnTo>
                  <a:lnTo>
                    <a:pt x="0" y="1355852"/>
                  </a:lnTo>
                  <a:close/>
                </a:path>
              </a:pathLst>
            </a:custGeom>
            <a:solidFill>
              <a:srgbClr val="F2F3F5"/>
            </a:solidFill>
            <a:ln w="28597" cap="sq">
              <a:solidFill>
                <a:srgbClr val="0F766E"/>
              </a:solidFill>
              <a:prstDash val="solid"/>
              <a:miter/>
            </a:ln>
          </p:spPr>
        </p:sp>
        <p:sp>
          <p:nvSpPr>
            <p:cNvPr name="TextBox 18" id="18"/>
            <p:cNvSpPr txBox="true"/>
            <p:nvPr/>
          </p:nvSpPr>
          <p:spPr>
            <a:xfrm>
              <a:off x="0" y="-38100"/>
              <a:ext cx="9097772" cy="1393990"/>
            </a:xfrm>
            <a:prstGeom prst="rect">
              <a:avLst/>
            </a:prstGeom>
          </p:spPr>
          <p:txBody>
            <a:bodyPr anchor="ctr" rtlCol="false" tIns="50800" lIns="50800" bIns="50800" rIns="50800"/>
            <a:lstStyle/>
            <a:p>
              <a:pPr algn="ctr">
                <a:lnSpc>
                  <a:spcPts val="2071"/>
                </a:lnSpc>
              </a:pPr>
              <a:r>
                <a:rPr lang="en-US" sz="1726" b="true">
                  <a:solidFill>
                    <a:srgbClr val="0F766E"/>
                  </a:solidFill>
                  <a:latin typeface="Calibri (MS) Bold"/>
                  <a:ea typeface="Calibri (MS) Bold"/>
                  <a:cs typeface="Calibri (MS) Bold"/>
                  <a:sym typeface="Calibri (MS) Bold"/>
                </a:rPr>
                <a:t>Volume monté — chroma_db/ (base embarquée, 338 Mo)</a:t>
              </a:r>
            </a:p>
          </p:txBody>
        </p:sp>
      </p:grpSp>
      <p:grpSp>
        <p:nvGrpSpPr>
          <p:cNvPr name="Group 19" id="19"/>
          <p:cNvGrpSpPr/>
          <p:nvPr/>
        </p:nvGrpSpPr>
        <p:grpSpPr>
          <a:xfrm rot="0">
            <a:off x="10692546" y="6409811"/>
            <a:ext cx="6823329" cy="1016918"/>
            <a:chOff x="0" y="0"/>
            <a:chExt cx="9097772" cy="1355890"/>
          </a:xfrm>
        </p:grpSpPr>
        <p:sp>
          <p:nvSpPr>
            <p:cNvPr name="Freeform 20" id="20"/>
            <p:cNvSpPr/>
            <p:nvPr/>
          </p:nvSpPr>
          <p:spPr>
            <a:xfrm flipH="false" flipV="false" rot="0">
              <a:off x="0" y="0"/>
              <a:ext cx="9097772" cy="1355852"/>
            </a:xfrm>
            <a:custGeom>
              <a:avLst/>
              <a:gdLst/>
              <a:ahLst/>
              <a:cxnLst/>
              <a:rect r="r" b="b" t="t" l="l"/>
              <a:pathLst>
                <a:path h="1355852" w="9097772">
                  <a:moveTo>
                    <a:pt x="0" y="0"/>
                  </a:moveTo>
                  <a:lnTo>
                    <a:pt x="9097772" y="0"/>
                  </a:lnTo>
                  <a:lnTo>
                    <a:pt x="9097772" y="1355852"/>
                  </a:lnTo>
                  <a:lnTo>
                    <a:pt x="0" y="1355852"/>
                  </a:lnTo>
                  <a:close/>
                </a:path>
              </a:pathLst>
            </a:custGeom>
            <a:solidFill>
              <a:srgbClr val="F2F3F5"/>
            </a:solidFill>
            <a:ln w="28597" cap="sq">
              <a:solidFill>
                <a:srgbClr val="1F3A5F"/>
              </a:solidFill>
              <a:prstDash val="solid"/>
              <a:miter/>
            </a:ln>
          </p:spPr>
        </p:sp>
        <p:sp>
          <p:nvSpPr>
            <p:cNvPr name="TextBox 21" id="21"/>
            <p:cNvSpPr txBox="true"/>
            <p:nvPr/>
          </p:nvSpPr>
          <p:spPr>
            <a:xfrm>
              <a:off x="0" y="-38100"/>
              <a:ext cx="9097772" cy="1393990"/>
            </a:xfrm>
            <a:prstGeom prst="rect">
              <a:avLst/>
            </a:prstGeom>
          </p:spPr>
          <p:txBody>
            <a:bodyPr anchor="ctr" rtlCol="false" tIns="50800" lIns="50800" bIns="50800" rIns="50800"/>
            <a:lstStyle/>
            <a:p>
              <a:pPr algn="ctr">
                <a:lnSpc>
                  <a:spcPts val="2071"/>
                </a:lnSpc>
              </a:pPr>
              <a:r>
                <a:rPr lang="en-US" sz="1726" b="true">
                  <a:solidFill>
                    <a:srgbClr val="1F3A5F"/>
                  </a:solidFill>
                  <a:latin typeface="Calibri (MS) Bold"/>
                  <a:ea typeface="Calibri (MS) Bold"/>
                  <a:cs typeface="Calibri (MS) Bold"/>
                  <a:sym typeface="Calibri (MS) Bold"/>
                </a:rPr>
                <a:t>Accès réseau sortant → API du modèle de langage (Groq)</a:t>
              </a:r>
            </a:p>
          </p:txBody>
        </p:sp>
      </p:grpSp>
      <p:sp>
        <p:nvSpPr>
          <p:cNvPr name="TextBox 22" id="22"/>
          <p:cNvSpPr txBox="true"/>
          <p:nvPr/>
        </p:nvSpPr>
        <p:spPr>
          <a:xfrm rot="0">
            <a:off x="10757649" y="7596111"/>
            <a:ext cx="6693132" cy="695253"/>
          </a:xfrm>
          <a:prstGeom prst="rect">
            <a:avLst/>
          </a:prstGeom>
        </p:spPr>
        <p:txBody>
          <a:bodyPr anchor="t" rtlCol="false" tIns="0" lIns="0" bIns="0" rIns="0">
            <a:spAutoFit/>
          </a:bodyPr>
          <a:lstStyle/>
          <a:p>
            <a:pPr algn="l">
              <a:lnSpc>
                <a:spcPts val="2551"/>
              </a:lnSpc>
            </a:pPr>
            <a:r>
              <a:rPr lang="en-US" sz="2126" b="true">
                <a:solidFill>
                  <a:srgbClr val="262A33"/>
                </a:solidFill>
                <a:latin typeface="Calibri (MS) Bold"/>
                <a:ea typeface="Calibri (MS) Bold"/>
                <a:cs typeface="Calibri (MS) Bold"/>
                <a:sym typeface="Calibri (MS) Bold"/>
              </a:rPr>
              <a:t>Uvicorn en processus unique : </a:t>
            </a:r>
            <a:r>
              <a:rPr lang="en-US" sz="2126">
                <a:solidFill>
                  <a:srgbClr val="6B707A"/>
                </a:solidFill>
                <a:latin typeface="Calibri (MS)"/>
                <a:ea typeface="Calibri (MS)"/>
                <a:cs typeface="Calibri (MS)"/>
                <a:sym typeface="Calibri (MS)"/>
              </a:rPr>
              <a:t>simple, mais débit limité à une requête simultanée.</a:t>
            </a:r>
          </a:p>
        </p:txBody>
      </p:sp>
      <p:grpSp>
        <p:nvGrpSpPr>
          <p:cNvPr name="Group 23" id="23"/>
          <p:cNvGrpSpPr/>
          <p:nvPr/>
        </p:nvGrpSpPr>
        <p:grpSpPr>
          <a:xfrm rot="0">
            <a:off x="6570297" y="9570577"/>
            <a:ext cx="1166774" cy="133455"/>
            <a:chOff x="0" y="0"/>
            <a:chExt cx="1555699" cy="177940"/>
          </a:xfrm>
        </p:grpSpPr>
        <p:sp>
          <p:nvSpPr>
            <p:cNvPr name="Freeform 24" id="24"/>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25" id="25"/>
          <p:cNvGrpSpPr/>
          <p:nvPr/>
        </p:nvGrpSpPr>
        <p:grpSpPr>
          <a:xfrm rot="0">
            <a:off x="7901788" y="9570577"/>
            <a:ext cx="1166774" cy="133455"/>
            <a:chOff x="0" y="0"/>
            <a:chExt cx="1555699" cy="177940"/>
          </a:xfrm>
        </p:grpSpPr>
        <p:sp>
          <p:nvSpPr>
            <p:cNvPr name="Freeform 26" id="26"/>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27" id="27"/>
          <p:cNvGrpSpPr/>
          <p:nvPr/>
        </p:nvGrpSpPr>
        <p:grpSpPr>
          <a:xfrm rot="0">
            <a:off x="9233278" y="9570577"/>
            <a:ext cx="1166774" cy="133455"/>
            <a:chOff x="0" y="0"/>
            <a:chExt cx="1555699" cy="177940"/>
          </a:xfrm>
        </p:grpSpPr>
        <p:sp>
          <p:nvSpPr>
            <p:cNvPr name="Freeform 28" id="28"/>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29" id="29"/>
          <p:cNvGrpSpPr/>
          <p:nvPr/>
        </p:nvGrpSpPr>
        <p:grpSpPr>
          <a:xfrm rot="0">
            <a:off x="10564768" y="9570577"/>
            <a:ext cx="1166774" cy="133455"/>
            <a:chOff x="0" y="0"/>
            <a:chExt cx="1555699" cy="177940"/>
          </a:xfrm>
        </p:grpSpPr>
        <p:sp>
          <p:nvSpPr>
            <p:cNvPr name="Freeform 30" id="30"/>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22705D"/>
            </a:solidFill>
          </p:spPr>
        </p:sp>
      </p:gr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grpSp>
        <p:nvGrpSpPr>
          <p:cNvPr name="Group 3" id="3"/>
          <p:cNvGrpSpPr/>
          <p:nvPr/>
        </p:nvGrpSpPr>
        <p:grpSpPr>
          <a:xfrm rot="0">
            <a:off x="685800" y="438912"/>
            <a:ext cx="12755880" cy="822960"/>
            <a:chOff x="0" y="0"/>
            <a:chExt cx="17007840" cy="1097280"/>
          </a:xfrm>
        </p:grpSpPr>
        <p:sp>
          <p:nvSpPr>
            <p:cNvPr name="Freeform 4" id="4"/>
            <p:cNvSpPr/>
            <p:nvPr/>
          </p:nvSpPr>
          <p:spPr>
            <a:xfrm flipH="false" flipV="false" rot="0">
              <a:off x="0" y="0"/>
              <a:ext cx="17007839" cy="1097280"/>
            </a:xfrm>
            <a:custGeom>
              <a:avLst/>
              <a:gdLst/>
              <a:ahLst/>
              <a:cxnLst/>
              <a:rect r="r" b="b" t="t" l="l"/>
              <a:pathLst>
                <a:path h="1097280" w="17007839">
                  <a:moveTo>
                    <a:pt x="0" y="0"/>
                  </a:moveTo>
                  <a:lnTo>
                    <a:pt x="17007839" y="0"/>
                  </a:lnTo>
                  <a:lnTo>
                    <a:pt x="17007839" y="1097280"/>
                  </a:lnTo>
                  <a:lnTo>
                    <a:pt x="0" y="1097280"/>
                  </a:lnTo>
                  <a:close/>
                </a:path>
              </a:pathLst>
            </a:custGeom>
            <a:blipFill>
              <a:blip r:embed="rId2">
                <a:alphaModFix amt="0"/>
              </a:blip>
              <a:stretch>
                <a:fillRect l="0" t="-252018" r="0" b="-252018"/>
              </a:stretch>
            </a:blipFill>
          </p:spPr>
        </p:sp>
        <p:sp>
          <p:nvSpPr>
            <p:cNvPr name="TextBox 5" id="5"/>
            <p:cNvSpPr txBox="true"/>
            <p:nvPr/>
          </p:nvSpPr>
          <p:spPr>
            <a:xfrm>
              <a:off x="0" y="-19050"/>
              <a:ext cx="17007840" cy="1116330"/>
            </a:xfrm>
            <a:prstGeom prst="rect">
              <a:avLst/>
            </a:prstGeom>
          </p:spPr>
          <p:txBody>
            <a:bodyPr anchor="ctr" rtlCol="false" tIns="0" lIns="0" bIns="0" rIns="0"/>
            <a:lstStyle/>
            <a:p>
              <a:pPr algn="l">
                <a:lnSpc>
                  <a:spcPts val="5040"/>
                </a:lnSpc>
              </a:pPr>
              <a:r>
                <a:rPr lang="en-US" sz="4200" b="true">
                  <a:solidFill>
                    <a:srgbClr val="1A1A1A"/>
                  </a:solidFill>
                  <a:latin typeface="Arial Bold"/>
                  <a:ea typeface="Arial Bold"/>
                  <a:cs typeface="Arial Bold"/>
                  <a:sym typeface="Arial Bold"/>
                </a:rPr>
                <a:t>Sprint 4 — Architecture Docker</a:t>
              </a:r>
            </a:p>
          </p:txBody>
        </p:sp>
      </p:grpSp>
      <p:grpSp>
        <p:nvGrpSpPr>
          <p:cNvPr name="Group 6" id="6"/>
          <p:cNvGrpSpPr/>
          <p:nvPr/>
        </p:nvGrpSpPr>
        <p:grpSpPr>
          <a:xfrm rot="0">
            <a:off x="685800" y="1261872"/>
            <a:ext cx="12755880" cy="548640"/>
            <a:chOff x="0" y="0"/>
            <a:chExt cx="17007840" cy="731520"/>
          </a:xfrm>
        </p:grpSpPr>
        <p:sp>
          <p:nvSpPr>
            <p:cNvPr name="Freeform 7" id="7"/>
            <p:cNvSpPr/>
            <p:nvPr/>
          </p:nvSpPr>
          <p:spPr>
            <a:xfrm flipH="false" flipV="false" rot="0">
              <a:off x="0" y="0"/>
              <a:ext cx="17007839" cy="731520"/>
            </a:xfrm>
            <a:custGeom>
              <a:avLst/>
              <a:gdLst/>
              <a:ahLst/>
              <a:cxnLst/>
              <a:rect r="r" b="b" t="t" l="l"/>
              <a:pathLst>
                <a:path h="731520" w="17007839">
                  <a:moveTo>
                    <a:pt x="0" y="0"/>
                  </a:moveTo>
                  <a:lnTo>
                    <a:pt x="17007839" y="0"/>
                  </a:lnTo>
                  <a:lnTo>
                    <a:pt x="17007839" y="731520"/>
                  </a:lnTo>
                  <a:lnTo>
                    <a:pt x="0" y="731520"/>
                  </a:lnTo>
                  <a:close/>
                </a:path>
              </a:pathLst>
            </a:custGeom>
            <a:blipFill>
              <a:blip r:embed="rId2">
                <a:alphaModFix amt="0"/>
              </a:blip>
              <a:stretch>
                <a:fillRect l="0" t="-403027" r="0" b="-403027"/>
              </a:stretch>
            </a:blipFill>
          </p:spPr>
        </p:sp>
        <p:sp>
          <p:nvSpPr>
            <p:cNvPr name="TextBox 8" id="8"/>
            <p:cNvSpPr txBox="true"/>
            <p:nvPr/>
          </p:nvSpPr>
          <p:spPr>
            <a:xfrm>
              <a:off x="0" y="-19050"/>
              <a:ext cx="17007840" cy="750570"/>
            </a:xfrm>
            <a:prstGeom prst="rect">
              <a:avLst/>
            </a:prstGeom>
          </p:spPr>
          <p:txBody>
            <a:bodyPr anchor="ctr" rtlCol="false" tIns="0" lIns="0" bIns="0" rIns="0"/>
            <a:lstStyle/>
            <a:p>
              <a:pPr algn="l">
                <a:lnSpc>
                  <a:spcPts val="2340"/>
                </a:lnSpc>
              </a:pPr>
              <a:r>
                <a:rPr lang="en-US" sz="1950" i="true">
                  <a:solidFill>
                    <a:srgbClr val="6B6B6B"/>
                  </a:solidFill>
                  <a:latin typeface="Arial Italics"/>
                  <a:ea typeface="Arial Italics"/>
                  <a:cs typeface="Arial Italics"/>
                  <a:sym typeface="Arial Italics"/>
                </a:rPr>
                <a:t>Comprendre le flux build → pull → run avant de conteneuriser l'API</a:t>
              </a:r>
            </a:p>
          </p:txBody>
        </p:sp>
      </p:grpSp>
      <p:grpSp>
        <p:nvGrpSpPr>
          <p:cNvPr name="Group 9" id="9"/>
          <p:cNvGrpSpPr/>
          <p:nvPr/>
        </p:nvGrpSpPr>
        <p:grpSpPr>
          <a:xfrm rot="0">
            <a:off x="13921740" y="438912"/>
            <a:ext cx="3675888" cy="1069848"/>
            <a:chOff x="0" y="0"/>
            <a:chExt cx="4901184" cy="1426464"/>
          </a:xfrm>
        </p:grpSpPr>
        <p:sp>
          <p:nvSpPr>
            <p:cNvPr name="Freeform 10" id="10"/>
            <p:cNvSpPr/>
            <p:nvPr/>
          </p:nvSpPr>
          <p:spPr>
            <a:xfrm flipH="false" flipV="false" rot="0">
              <a:off x="0" y="0"/>
              <a:ext cx="4901184" cy="1426464"/>
            </a:xfrm>
            <a:custGeom>
              <a:avLst/>
              <a:gdLst/>
              <a:ahLst/>
              <a:cxnLst/>
              <a:rect r="r" b="b" t="t" l="l"/>
              <a:pathLst>
                <a:path h="1426464" w="4901184">
                  <a:moveTo>
                    <a:pt x="0" y="146304"/>
                  </a:moveTo>
                  <a:cubicBezTo>
                    <a:pt x="0" y="65532"/>
                    <a:pt x="65532" y="0"/>
                    <a:pt x="146304" y="0"/>
                  </a:cubicBezTo>
                  <a:lnTo>
                    <a:pt x="4754880" y="0"/>
                  </a:lnTo>
                  <a:cubicBezTo>
                    <a:pt x="4835652" y="0"/>
                    <a:pt x="4901184" y="65532"/>
                    <a:pt x="4901184" y="146304"/>
                  </a:cubicBezTo>
                  <a:lnTo>
                    <a:pt x="4901184" y="1280160"/>
                  </a:lnTo>
                  <a:cubicBezTo>
                    <a:pt x="4901184" y="1360932"/>
                    <a:pt x="4835652" y="1426464"/>
                    <a:pt x="4754880" y="1426464"/>
                  </a:cubicBezTo>
                  <a:lnTo>
                    <a:pt x="146304" y="1426464"/>
                  </a:lnTo>
                  <a:cubicBezTo>
                    <a:pt x="65532" y="1426464"/>
                    <a:pt x="0" y="1360932"/>
                    <a:pt x="0" y="1280160"/>
                  </a:cubicBezTo>
                  <a:close/>
                </a:path>
              </a:pathLst>
            </a:custGeom>
            <a:solidFill>
              <a:srgbClr val="7A1B2E"/>
            </a:solidFill>
          </p:spPr>
        </p:sp>
      </p:grpSp>
      <p:grpSp>
        <p:nvGrpSpPr>
          <p:cNvPr name="Group 11" id="11"/>
          <p:cNvGrpSpPr/>
          <p:nvPr/>
        </p:nvGrpSpPr>
        <p:grpSpPr>
          <a:xfrm rot="0">
            <a:off x="13921740" y="438912"/>
            <a:ext cx="3675888" cy="1069848"/>
            <a:chOff x="0" y="0"/>
            <a:chExt cx="4901184" cy="1426464"/>
          </a:xfrm>
        </p:grpSpPr>
        <p:sp>
          <p:nvSpPr>
            <p:cNvPr name="Freeform 12" id="12"/>
            <p:cNvSpPr/>
            <p:nvPr/>
          </p:nvSpPr>
          <p:spPr>
            <a:xfrm flipH="false" flipV="false" rot="0">
              <a:off x="0" y="0"/>
              <a:ext cx="4901184" cy="1426464"/>
            </a:xfrm>
            <a:custGeom>
              <a:avLst/>
              <a:gdLst/>
              <a:ahLst/>
              <a:cxnLst/>
              <a:rect r="r" b="b" t="t" l="l"/>
              <a:pathLst>
                <a:path h="1426464" w="4901184">
                  <a:moveTo>
                    <a:pt x="0" y="0"/>
                  </a:moveTo>
                  <a:lnTo>
                    <a:pt x="4901184" y="0"/>
                  </a:lnTo>
                  <a:lnTo>
                    <a:pt x="4901184" y="1426464"/>
                  </a:lnTo>
                  <a:lnTo>
                    <a:pt x="0" y="1426464"/>
                  </a:lnTo>
                  <a:close/>
                </a:path>
              </a:pathLst>
            </a:custGeom>
            <a:blipFill>
              <a:blip r:embed="rId2">
                <a:alphaModFix amt="0"/>
              </a:blip>
              <a:stretch>
                <a:fillRect l="0" t="-16948" r="0" b="-16948"/>
              </a:stretch>
            </a:blipFill>
          </p:spPr>
        </p:sp>
        <p:sp>
          <p:nvSpPr>
            <p:cNvPr name="TextBox 13" id="13"/>
            <p:cNvSpPr txBox="true"/>
            <p:nvPr/>
          </p:nvSpPr>
          <p:spPr>
            <a:xfrm>
              <a:off x="0" y="-9525"/>
              <a:ext cx="4901184" cy="1435989"/>
            </a:xfrm>
            <a:prstGeom prst="rect">
              <a:avLst/>
            </a:prstGeom>
          </p:spPr>
          <p:txBody>
            <a:bodyPr anchor="ctr" rtlCol="false" tIns="0" lIns="0" bIns="0" rIns="0"/>
            <a:lstStyle/>
            <a:p>
              <a:pPr algn="ctr">
                <a:lnSpc>
                  <a:spcPts val="2520"/>
                </a:lnSpc>
              </a:pPr>
              <a:r>
                <a:rPr lang="en-US" sz="2100" b="true">
                  <a:solidFill>
                    <a:srgbClr val="FFFFFF"/>
                  </a:solidFill>
                  <a:latin typeface="Arial Bold"/>
                  <a:ea typeface="Arial Bold"/>
                  <a:cs typeface="Arial Bold"/>
                  <a:sym typeface="Arial Bold"/>
                </a:rPr>
                <a:t>SPRINT 4</a:t>
              </a:r>
            </a:p>
            <a:p>
              <a:pPr algn="ctr">
                <a:lnSpc>
                  <a:spcPts val="1980"/>
                </a:lnSpc>
              </a:pPr>
              <a:r>
                <a:rPr lang="en-US" sz="1650">
                  <a:solidFill>
                    <a:srgbClr val="FFFFFF"/>
                  </a:solidFill>
                  <a:latin typeface="Arial"/>
                  <a:ea typeface="Arial"/>
                  <a:cs typeface="Arial"/>
                  <a:sym typeface="Arial"/>
                </a:rPr>
                <a:t>Chbab Brahim</a:t>
              </a:r>
            </a:p>
          </p:txBody>
        </p:sp>
      </p:grpSp>
      <p:grpSp>
        <p:nvGrpSpPr>
          <p:cNvPr name="Group 14" id="14"/>
          <p:cNvGrpSpPr/>
          <p:nvPr/>
        </p:nvGrpSpPr>
        <p:grpSpPr>
          <a:xfrm rot="0">
            <a:off x="3026188" y="1908334"/>
            <a:ext cx="12231052" cy="4941275"/>
            <a:chOff x="0" y="0"/>
            <a:chExt cx="16308070" cy="6588366"/>
          </a:xfrm>
        </p:grpSpPr>
        <p:sp>
          <p:nvSpPr>
            <p:cNvPr name="Freeform 15" id="15"/>
            <p:cNvSpPr/>
            <p:nvPr/>
          </p:nvSpPr>
          <p:spPr>
            <a:xfrm flipH="false" flipV="false" rot="0">
              <a:off x="0" y="0"/>
              <a:ext cx="16308070" cy="6588378"/>
            </a:xfrm>
            <a:custGeom>
              <a:avLst/>
              <a:gdLst/>
              <a:ahLst/>
              <a:cxnLst/>
              <a:rect r="r" b="b" t="t" l="l"/>
              <a:pathLst>
                <a:path h="6588378" w="16308070">
                  <a:moveTo>
                    <a:pt x="0" y="183769"/>
                  </a:moveTo>
                  <a:cubicBezTo>
                    <a:pt x="0" y="82296"/>
                    <a:pt x="82296" y="0"/>
                    <a:pt x="183769" y="0"/>
                  </a:cubicBezTo>
                  <a:lnTo>
                    <a:pt x="16124301" y="0"/>
                  </a:lnTo>
                  <a:cubicBezTo>
                    <a:pt x="16225774" y="0"/>
                    <a:pt x="16308070" y="82296"/>
                    <a:pt x="16308070" y="183769"/>
                  </a:cubicBezTo>
                  <a:lnTo>
                    <a:pt x="16308070" y="6404610"/>
                  </a:lnTo>
                  <a:cubicBezTo>
                    <a:pt x="16308070" y="6506083"/>
                    <a:pt x="16225774" y="6588378"/>
                    <a:pt x="16124301" y="6588378"/>
                  </a:cubicBezTo>
                  <a:lnTo>
                    <a:pt x="183769" y="6588378"/>
                  </a:lnTo>
                  <a:cubicBezTo>
                    <a:pt x="82296" y="6588379"/>
                    <a:pt x="0" y="6506083"/>
                    <a:pt x="0" y="6404610"/>
                  </a:cubicBezTo>
                  <a:close/>
                </a:path>
              </a:pathLst>
            </a:custGeom>
            <a:solidFill>
              <a:srgbClr val="FFFFFF"/>
            </a:solidFill>
            <a:ln w="23812" cap="sq">
              <a:solidFill>
                <a:srgbClr val="7A1B2E"/>
              </a:solidFill>
              <a:prstDash val="solid"/>
              <a:miter/>
            </a:ln>
          </p:spPr>
        </p:sp>
      </p:grpSp>
      <p:grpSp>
        <p:nvGrpSpPr>
          <p:cNvPr name="Group 16" id="16"/>
          <p:cNvGrpSpPr/>
          <p:nvPr/>
        </p:nvGrpSpPr>
        <p:grpSpPr>
          <a:xfrm rot="0">
            <a:off x="3243834" y="2125980"/>
            <a:ext cx="11795760" cy="4505982"/>
            <a:chOff x="0" y="0"/>
            <a:chExt cx="15727680" cy="6007976"/>
          </a:xfrm>
        </p:grpSpPr>
        <p:sp>
          <p:nvSpPr>
            <p:cNvPr name="Freeform 17" id="17" descr="/home/claude/slide3/docker_arch.png"/>
            <p:cNvSpPr/>
            <p:nvPr/>
          </p:nvSpPr>
          <p:spPr>
            <a:xfrm flipH="false" flipV="false" rot="0">
              <a:off x="0" y="0"/>
              <a:ext cx="15727680" cy="6007989"/>
            </a:xfrm>
            <a:custGeom>
              <a:avLst/>
              <a:gdLst/>
              <a:ahLst/>
              <a:cxnLst/>
              <a:rect r="r" b="b" t="t" l="l"/>
              <a:pathLst>
                <a:path h="6007989" w="15727680">
                  <a:moveTo>
                    <a:pt x="0" y="0"/>
                  </a:moveTo>
                  <a:lnTo>
                    <a:pt x="15727680" y="0"/>
                  </a:lnTo>
                  <a:lnTo>
                    <a:pt x="15727680" y="6007989"/>
                  </a:lnTo>
                  <a:lnTo>
                    <a:pt x="0" y="6007989"/>
                  </a:lnTo>
                  <a:lnTo>
                    <a:pt x="0" y="0"/>
                  </a:lnTo>
                  <a:close/>
                </a:path>
              </a:pathLst>
            </a:custGeom>
            <a:blipFill>
              <a:blip r:embed="rId3"/>
              <a:stretch>
                <a:fillRect l="0" t="0" r="0" b="0"/>
              </a:stretch>
            </a:blipFill>
          </p:spPr>
        </p:sp>
      </p:grpSp>
      <p:sp>
        <p:nvSpPr>
          <p:cNvPr name="TextBox 18" id="18"/>
          <p:cNvSpPr txBox="true"/>
          <p:nvPr/>
        </p:nvSpPr>
        <p:spPr>
          <a:xfrm rot="0">
            <a:off x="1097280" y="7211082"/>
            <a:ext cx="16047720" cy="614172"/>
          </a:xfrm>
          <a:prstGeom prst="rect">
            <a:avLst/>
          </a:prstGeom>
        </p:spPr>
        <p:txBody>
          <a:bodyPr anchor="t" rtlCol="false" tIns="0" lIns="0" bIns="0" rIns="0">
            <a:spAutoFit/>
          </a:bodyPr>
          <a:lstStyle/>
          <a:p>
            <a:pPr algn="l">
              <a:lnSpc>
                <a:spcPts val="2897"/>
              </a:lnSpc>
            </a:pPr>
            <a:r>
              <a:rPr lang="en-US" sz="2100" b="true">
                <a:solidFill>
                  <a:srgbClr val="7A1B2E"/>
                </a:solidFill>
                <a:latin typeface="Arial Bold"/>
                <a:ea typeface="Arial Bold"/>
                <a:cs typeface="Arial Bold"/>
                <a:sym typeface="Arial Bold"/>
              </a:rPr>
              <a:t>▪  </a:t>
            </a:r>
            <a:r>
              <a:rPr lang="en-US" sz="2100" b="true">
                <a:solidFill>
                  <a:srgbClr val="1A1A1A"/>
                </a:solidFill>
                <a:latin typeface="Arial Bold"/>
                <a:ea typeface="Arial Bold"/>
                <a:cs typeface="Arial Bold"/>
                <a:sym typeface="Arial Bold"/>
              </a:rPr>
              <a:t>Client</a:t>
            </a:r>
            <a:r>
              <a:rPr lang="en-US" sz="2100">
                <a:solidFill>
                  <a:srgbClr val="1A1A1A"/>
                </a:solidFill>
                <a:latin typeface="Arial"/>
                <a:ea typeface="Arial"/>
                <a:cs typeface="Arial"/>
                <a:sym typeface="Arial"/>
              </a:rPr>
              <a:t> — lance les commandes : </a:t>
            </a:r>
            <a:r>
              <a:rPr lang="en-US" sz="2100" i="true">
                <a:solidFill>
                  <a:srgbClr val="1A1A1A"/>
                </a:solidFill>
                <a:latin typeface="Arial Italics"/>
                <a:ea typeface="Arial Italics"/>
                <a:cs typeface="Arial Italics"/>
                <a:sym typeface="Arial Italics"/>
              </a:rPr>
              <a:t>docker build</a:t>
            </a:r>
            <a:r>
              <a:rPr lang="en-US" sz="2100">
                <a:solidFill>
                  <a:srgbClr val="1A1A1A"/>
                </a:solidFill>
                <a:latin typeface="Arial"/>
                <a:ea typeface="Arial"/>
                <a:cs typeface="Arial"/>
                <a:sym typeface="Arial"/>
              </a:rPr>
              <a:t> (crée l'image), </a:t>
            </a:r>
            <a:r>
              <a:rPr lang="en-US" sz="2100" i="true">
                <a:solidFill>
                  <a:srgbClr val="1A1A1A"/>
                </a:solidFill>
                <a:latin typeface="Arial Italics"/>
                <a:ea typeface="Arial Italics"/>
                <a:cs typeface="Arial Italics"/>
                <a:sym typeface="Arial Italics"/>
              </a:rPr>
              <a:t>docker pull</a:t>
            </a:r>
            <a:r>
              <a:rPr lang="en-US" sz="2100">
                <a:solidFill>
                  <a:srgbClr val="1A1A1A"/>
                </a:solidFill>
                <a:latin typeface="Arial"/>
                <a:ea typeface="Arial"/>
                <a:cs typeface="Arial"/>
                <a:sym typeface="Arial"/>
              </a:rPr>
              <a:t> (récupère une image), </a:t>
            </a:r>
            <a:r>
              <a:rPr lang="en-US" sz="2100" i="true">
                <a:solidFill>
                  <a:srgbClr val="1A1A1A"/>
                </a:solidFill>
                <a:latin typeface="Arial Italics"/>
                <a:ea typeface="Arial Italics"/>
                <a:cs typeface="Arial Italics"/>
                <a:sym typeface="Arial Italics"/>
              </a:rPr>
              <a:t>docker run</a:t>
            </a:r>
            <a:r>
              <a:rPr lang="en-US" sz="2100">
                <a:solidFill>
                  <a:srgbClr val="1A1A1A"/>
                </a:solidFill>
                <a:latin typeface="Arial"/>
                <a:ea typeface="Arial"/>
                <a:cs typeface="Arial"/>
                <a:sym typeface="Arial"/>
              </a:rPr>
              <a:t> (démarre un conteneur)</a:t>
            </a:r>
          </a:p>
        </p:txBody>
      </p:sp>
      <p:sp>
        <p:nvSpPr>
          <p:cNvPr name="TextBox 19" id="19"/>
          <p:cNvSpPr txBox="true"/>
          <p:nvPr/>
        </p:nvSpPr>
        <p:spPr>
          <a:xfrm rot="0">
            <a:off x="1097280" y="7787154"/>
            <a:ext cx="16047720" cy="614172"/>
          </a:xfrm>
          <a:prstGeom prst="rect">
            <a:avLst/>
          </a:prstGeom>
        </p:spPr>
        <p:txBody>
          <a:bodyPr anchor="t" rtlCol="false" tIns="0" lIns="0" bIns="0" rIns="0">
            <a:spAutoFit/>
          </a:bodyPr>
          <a:lstStyle/>
          <a:p>
            <a:pPr algn="l">
              <a:lnSpc>
                <a:spcPts val="2897"/>
              </a:lnSpc>
            </a:pPr>
            <a:r>
              <a:rPr lang="en-US" sz="2100" b="true">
                <a:solidFill>
                  <a:srgbClr val="7A1B2E"/>
                </a:solidFill>
                <a:latin typeface="Arial Bold"/>
                <a:ea typeface="Arial Bold"/>
                <a:cs typeface="Arial Bold"/>
                <a:sym typeface="Arial Bold"/>
              </a:rPr>
              <a:t>▪  </a:t>
            </a:r>
            <a:r>
              <a:rPr lang="en-US" sz="2100" b="true">
                <a:solidFill>
                  <a:srgbClr val="1A1A1A"/>
                </a:solidFill>
                <a:latin typeface="Arial Bold"/>
                <a:ea typeface="Arial Bold"/>
                <a:cs typeface="Arial Bold"/>
                <a:sym typeface="Arial Bold"/>
              </a:rPr>
              <a:t>Docker host</a:t>
            </a:r>
            <a:r>
              <a:rPr lang="en-US" sz="2100">
                <a:solidFill>
                  <a:srgbClr val="1A1A1A"/>
                </a:solidFill>
                <a:latin typeface="Arial"/>
                <a:ea typeface="Arial"/>
                <a:cs typeface="Arial"/>
                <a:sym typeface="Arial"/>
              </a:rPr>
              <a:t> — le Docker Daemon reçoit ces commandes, construit et stocke les images, puis démarre les conteneurs</a:t>
            </a:r>
          </a:p>
        </p:txBody>
      </p:sp>
      <p:sp>
        <p:nvSpPr>
          <p:cNvPr name="TextBox 20" id="20"/>
          <p:cNvSpPr txBox="true"/>
          <p:nvPr/>
        </p:nvSpPr>
        <p:spPr>
          <a:xfrm rot="0">
            <a:off x="1097280" y="8363226"/>
            <a:ext cx="16047720" cy="614172"/>
          </a:xfrm>
          <a:prstGeom prst="rect">
            <a:avLst/>
          </a:prstGeom>
        </p:spPr>
        <p:txBody>
          <a:bodyPr anchor="t" rtlCol="false" tIns="0" lIns="0" bIns="0" rIns="0">
            <a:spAutoFit/>
          </a:bodyPr>
          <a:lstStyle/>
          <a:p>
            <a:pPr algn="l">
              <a:lnSpc>
                <a:spcPts val="2897"/>
              </a:lnSpc>
            </a:pPr>
            <a:r>
              <a:rPr lang="en-US" sz="2100" b="true">
                <a:solidFill>
                  <a:srgbClr val="7A1B2E"/>
                </a:solidFill>
                <a:latin typeface="Arial Bold"/>
                <a:ea typeface="Arial Bold"/>
                <a:cs typeface="Arial Bold"/>
                <a:sym typeface="Arial Bold"/>
              </a:rPr>
              <a:t>▪  </a:t>
            </a:r>
            <a:r>
              <a:rPr lang="en-US" sz="2100" b="true">
                <a:solidFill>
                  <a:srgbClr val="1A1A1A"/>
                </a:solidFill>
                <a:latin typeface="Arial Bold"/>
                <a:ea typeface="Arial Bold"/>
                <a:cs typeface="Arial Bold"/>
                <a:sym typeface="Arial Bold"/>
              </a:rPr>
              <a:t>Registry</a:t>
            </a:r>
            <a:r>
              <a:rPr lang="en-US" sz="2100">
                <a:solidFill>
                  <a:srgbClr val="1A1A1A"/>
                </a:solidFill>
                <a:latin typeface="Arial"/>
                <a:ea typeface="Arial"/>
                <a:cs typeface="Arial"/>
                <a:sym typeface="Arial"/>
              </a:rPr>
              <a:t> — dépôt distant des images (Ubuntu, Openstack, NGINX…), interrogé lors d'un build ou d'un pull</a:t>
            </a:r>
          </a:p>
        </p:txBody>
      </p:sp>
      <p:sp>
        <p:nvSpPr>
          <p:cNvPr name="TextBox 21" id="21"/>
          <p:cNvSpPr txBox="true"/>
          <p:nvPr/>
        </p:nvSpPr>
        <p:spPr>
          <a:xfrm rot="0">
            <a:off x="1097280" y="8939298"/>
            <a:ext cx="16047720" cy="614172"/>
          </a:xfrm>
          <a:prstGeom prst="rect">
            <a:avLst/>
          </a:prstGeom>
        </p:spPr>
        <p:txBody>
          <a:bodyPr anchor="t" rtlCol="false" tIns="0" lIns="0" bIns="0" rIns="0">
            <a:spAutoFit/>
          </a:bodyPr>
          <a:lstStyle/>
          <a:p>
            <a:pPr algn="l">
              <a:lnSpc>
                <a:spcPts val="2897"/>
              </a:lnSpc>
            </a:pPr>
            <a:r>
              <a:rPr lang="en-US" sz="2100" b="true">
                <a:solidFill>
                  <a:srgbClr val="7A1B2E"/>
                </a:solidFill>
                <a:latin typeface="Arial Bold"/>
                <a:ea typeface="Arial Bold"/>
                <a:cs typeface="Arial Bold"/>
                <a:sym typeface="Arial Bold"/>
              </a:rPr>
              <a:t>▪  </a:t>
            </a:r>
            <a:r>
              <a:rPr lang="en-US" sz="2100" b="true">
                <a:solidFill>
                  <a:srgbClr val="1A1A1A"/>
                </a:solidFill>
                <a:latin typeface="Arial Bold"/>
                <a:ea typeface="Arial Bold"/>
                <a:cs typeface="Arial Bold"/>
                <a:sym typeface="Arial Bold"/>
              </a:rPr>
              <a:t>Trois flux distincts</a:t>
            </a:r>
            <a:r>
              <a:rPr lang="en-US" sz="2100">
                <a:solidFill>
                  <a:srgbClr val="1A1A1A"/>
                </a:solidFill>
                <a:latin typeface="Arial"/>
                <a:ea typeface="Arial"/>
                <a:cs typeface="Arial"/>
                <a:sym typeface="Arial"/>
              </a:rPr>
              <a:t> — Build (pointillé), Pull (orange), Run (bleu) : la même logique que j'applique pour déployer l'API et Chroma</a:t>
            </a:r>
          </a:p>
        </p:txBody>
      </p:sp>
      <p:grpSp>
        <p:nvGrpSpPr>
          <p:cNvPr name="Group 22" id="22"/>
          <p:cNvGrpSpPr/>
          <p:nvPr/>
        </p:nvGrpSpPr>
        <p:grpSpPr>
          <a:xfrm rot="0">
            <a:off x="6570297" y="9570577"/>
            <a:ext cx="1166774" cy="133455"/>
            <a:chOff x="0" y="0"/>
            <a:chExt cx="1555699" cy="177940"/>
          </a:xfrm>
        </p:grpSpPr>
        <p:sp>
          <p:nvSpPr>
            <p:cNvPr name="Freeform 23" id="23"/>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24" id="24"/>
          <p:cNvGrpSpPr/>
          <p:nvPr/>
        </p:nvGrpSpPr>
        <p:grpSpPr>
          <a:xfrm rot="0">
            <a:off x="7901788" y="9570577"/>
            <a:ext cx="1166774" cy="133455"/>
            <a:chOff x="0" y="0"/>
            <a:chExt cx="1555699" cy="177940"/>
          </a:xfrm>
        </p:grpSpPr>
        <p:sp>
          <p:nvSpPr>
            <p:cNvPr name="Freeform 25" id="25"/>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26" id="26"/>
          <p:cNvGrpSpPr/>
          <p:nvPr/>
        </p:nvGrpSpPr>
        <p:grpSpPr>
          <a:xfrm rot="0">
            <a:off x="9233278" y="9570577"/>
            <a:ext cx="1166774" cy="133455"/>
            <a:chOff x="0" y="0"/>
            <a:chExt cx="1555699" cy="177940"/>
          </a:xfrm>
        </p:grpSpPr>
        <p:sp>
          <p:nvSpPr>
            <p:cNvPr name="Freeform 27" id="27"/>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28" id="28"/>
          <p:cNvGrpSpPr/>
          <p:nvPr/>
        </p:nvGrpSpPr>
        <p:grpSpPr>
          <a:xfrm rot="0">
            <a:off x="10564768" y="9570577"/>
            <a:ext cx="1166774" cy="133455"/>
            <a:chOff x="0" y="0"/>
            <a:chExt cx="1555699" cy="177940"/>
          </a:xfrm>
        </p:grpSpPr>
        <p:sp>
          <p:nvSpPr>
            <p:cNvPr name="Freeform 29" id="29"/>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22705D"/>
            </a:solidFill>
          </p:spPr>
        </p:sp>
      </p:grpSp>
    </p:spTree>
  </p:cSld>
  <p:clrMapOvr>
    <a:masterClrMapping/>
  </p:clrMapOvr>
  <p:transition spd="fast">
    <p:wipe dir="r"/>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70297" y="9570577"/>
            <a:ext cx="1166774" cy="133455"/>
            <a:chOff x="0" y="0"/>
            <a:chExt cx="1555699" cy="177940"/>
          </a:xfrm>
        </p:grpSpPr>
        <p:sp>
          <p:nvSpPr>
            <p:cNvPr name="Freeform 3" id="3"/>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4" id="4"/>
          <p:cNvGrpSpPr/>
          <p:nvPr/>
        </p:nvGrpSpPr>
        <p:grpSpPr>
          <a:xfrm rot="0">
            <a:off x="7901788" y="9570577"/>
            <a:ext cx="1166774" cy="133455"/>
            <a:chOff x="0" y="0"/>
            <a:chExt cx="1555699" cy="177940"/>
          </a:xfrm>
        </p:grpSpPr>
        <p:sp>
          <p:nvSpPr>
            <p:cNvPr name="Freeform 5" id="5"/>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6" id="6"/>
          <p:cNvGrpSpPr/>
          <p:nvPr/>
        </p:nvGrpSpPr>
        <p:grpSpPr>
          <a:xfrm rot="0">
            <a:off x="9233278" y="9570577"/>
            <a:ext cx="1166774" cy="133455"/>
            <a:chOff x="0" y="0"/>
            <a:chExt cx="1555699" cy="177940"/>
          </a:xfrm>
        </p:grpSpPr>
        <p:sp>
          <p:nvSpPr>
            <p:cNvPr name="Freeform 7" id="7"/>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8" id="8"/>
          <p:cNvGrpSpPr/>
          <p:nvPr/>
        </p:nvGrpSpPr>
        <p:grpSpPr>
          <a:xfrm rot="0">
            <a:off x="6570297" y="9570577"/>
            <a:ext cx="1166774" cy="133455"/>
            <a:chOff x="0" y="0"/>
            <a:chExt cx="1555699" cy="177940"/>
          </a:xfrm>
        </p:grpSpPr>
        <p:sp>
          <p:nvSpPr>
            <p:cNvPr name="Freeform 9" id="9"/>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7A1F2B"/>
            </a:solidFill>
          </p:spPr>
        </p:sp>
      </p:grpSp>
      <p:grpSp>
        <p:nvGrpSpPr>
          <p:cNvPr name="Group 10" id="10"/>
          <p:cNvGrpSpPr/>
          <p:nvPr/>
        </p:nvGrpSpPr>
        <p:grpSpPr>
          <a:xfrm rot="0">
            <a:off x="10561977" y="9570577"/>
            <a:ext cx="1166774" cy="133455"/>
            <a:chOff x="0" y="0"/>
            <a:chExt cx="1555699" cy="177940"/>
          </a:xfrm>
        </p:grpSpPr>
        <p:sp>
          <p:nvSpPr>
            <p:cNvPr name="Freeform 11" id="11"/>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sp>
        <p:nvSpPr>
          <p:cNvPr name="Freeform 12" id="12"/>
          <p:cNvSpPr/>
          <p:nvPr/>
        </p:nvSpPr>
        <p:spPr>
          <a:xfrm flipH="false" flipV="false" rot="0">
            <a:off x="374630" y="0"/>
            <a:ext cx="17538741" cy="8949099"/>
          </a:xfrm>
          <a:custGeom>
            <a:avLst/>
            <a:gdLst/>
            <a:ahLst/>
            <a:cxnLst/>
            <a:rect r="r" b="b" t="t" l="l"/>
            <a:pathLst>
              <a:path h="8949099" w="17538741">
                <a:moveTo>
                  <a:pt x="0" y="0"/>
                </a:moveTo>
                <a:lnTo>
                  <a:pt x="17538740" y="0"/>
                </a:lnTo>
                <a:lnTo>
                  <a:pt x="17538740" y="8949099"/>
                </a:lnTo>
                <a:lnTo>
                  <a:pt x="0" y="8949099"/>
                </a:lnTo>
                <a:lnTo>
                  <a:pt x="0" y="0"/>
                </a:lnTo>
                <a:close/>
              </a:path>
            </a:pathLst>
          </a:custGeom>
          <a:blipFill>
            <a:blip r:embed="rId2"/>
            <a:stretch>
              <a:fillRect l="0" t="0" r="0" b="-10240"/>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grpSp>
        <p:nvGrpSpPr>
          <p:cNvPr name="Group 14" id="14"/>
          <p:cNvGrpSpPr/>
          <p:nvPr/>
        </p:nvGrpSpPr>
        <p:grpSpPr>
          <a:xfrm rot="0">
            <a:off x="14327303" y="215828"/>
            <a:ext cx="3225784" cy="1170034"/>
            <a:chOff x="0" y="0"/>
            <a:chExt cx="4301046" cy="1560045"/>
          </a:xfrm>
        </p:grpSpPr>
        <p:sp>
          <p:nvSpPr>
            <p:cNvPr name="Freeform 15" id="15"/>
            <p:cNvSpPr/>
            <p:nvPr/>
          </p:nvSpPr>
          <p:spPr>
            <a:xfrm flipH="false" flipV="false" rot="0">
              <a:off x="0" y="0"/>
              <a:ext cx="4300982" cy="1560045"/>
            </a:xfrm>
            <a:custGeom>
              <a:avLst/>
              <a:gdLst/>
              <a:ahLst/>
              <a:cxnLst/>
              <a:rect r="r" b="b" t="t" l="l"/>
              <a:pathLst>
                <a:path h="1560045" w="4300982">
                  <a:moveTo>
                    <a:pt x="0" y="0"/>
                  </a:moveTo>
                  <a:lnTo>
                    <a:pt x="4300982" y="0"/>
                  </a:lnTo>
                  <a:lnTo>
                    <a:pt x="4300982" y="1560045"/>
                  </a:lnTo>
                  <a:lnTo>
                    <a:pt x="0" y="1560045"/>
                  </a:lnTo>
                  <a:close/>
                </a:path>
              </a:pathLst>
            </a:custGeom>
            <a:solidFill>
              <a:srgbClr val="7B1F2A"/>
            </a:solidFill>
          </p:spPr>
        </p:sp>
        <p:sp>
          <p:nvSpPr>
            <p:cNvPr name="TextBox 16" id="16"/>
            <p:cNvSpPr txBox="true"/>
            <p:nvPr/>
          </p:nvSpPr>
          <p:spPr>
            <a:xfrm>
              <a:off x="0" y="-47625"/>
              <a:ext cx="4301046" cy="1607670"/>
            </a:xfrm>
            <a:prstGeom prst="rect">
              <a:avLst/>
            </a:prstGeom>
          </p:spPr>
          <p:txBody>
            <a:bodyPr anchor="ctr" rtlCol="false" tIns="50800" lIns="50800" bIns="50800" rIns="50800"/>
            <a:lstStyle/>
            <a:p>
              <a:pPr algn="ctr">
                <a:lnSpc>
                  <a:spcPts val="2341"/>
                </a:lnSpc>
              </a:pPr>
              <a:r>
                <a:rPr lang="en-US" sz="1951" b="true">
                  <a:solidFill>
                    <a:srgbClr val="FFFFFF"/>
                  </a:solidFill>
                  <a:latin typeface="Calibri (MS) Bold"/>
                  <a:ea typeface="Calibri (MS) Bold"/>
                  <a:cs typeface="Calibri (MS) Bold"/>
                  <a:sym typeface="Calibri (MS) Bold"/>
                </a:rPr>
                <a:t>SPRINT 4</a:t>
              </a:r>
            </a:p>
            <a:p>
              <a:pPr algn="ctr">
                <a:lnSpc>
                  <a:spcPts val="2341"/>
                </a:lnSpc>
              </a:pPr>
              <a:r>
                <a:rPr lang="en-US" sz="1951" b="true">
                  <a:solidFill>
                    <a:srgbClr val="FFFFFF"/>
                  </a:solidFill>
                  <a:latin typeface="Calibri (MS) Bold"/>
                  <a:ea typeface="Calibri (MS) Bold"/>
                  <a:cs typeface="Calibri (MS) Bold"/>
                  <a:sym typeface="Calibri (MS) Bold"/>
                </a:rPr>
                <a:t>BOUAZZA Amina</a:t>
              </a:r>
            </a:p>
          </p:txBody>
        </p:sp>
      </p:grpSp>
    </p:spTree>
  </p:cSld>
  <p:clrMapOvr>
    <a:masterClrMapping/>
  </p:clrMapOvr>
  <p:transition spd="fast">
    <p:cover dir="d"/>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70297" y="9570577"/>
            <a:ext cx="1166774" cy="133455"/>
            <a:chOff x="0" y="0"/>
            <a:chExt cx="1555699" cy="177940"/>
          </a:xfrm>
        </p:grpSpPr>
        <p:sp>
          <p:nvSpPr>
            <p:cNvPr name="Freeform 3" id="3"/>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4" id="4"/>
          <p:cNvGrpSpPr/>
          <p:nvPr/>
        </p:nvGrpSpPr>
        <p:grpSpPr>
          <a:xfrm rot="0">
            <a:off x="7901788" y="9570577"/>
            <a:ext cx="1166774" cy="133455"/>
            <a:chOff x="0" y="0"/>
            <a:chExt cx="1555699" cy="177940"/>
          </a:xfrm>
        </p:grpSpPr>
        <p:sp>
          <p:nvSpPr>
            <p:cNvPr name="Freeform 5" id="5"/>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6" id="6"/>
          <p:cNvGrpSpPr/>
          <p:nvPr/>
        </p:nvGrpSpPr>
        <p:grpSpPr>
          <a:xfrm rot="0">
            <a:off x="9233278" y="9570577"/>
            <a:ext cx="1166774" cy="133455"/>
            <a:chOff x="0" y="0"/>
            <a:chExt cx="1555699" cy="177940"/>
          </a:xfrm>
        </p:grpSpPr>
        <p:sp>
          <p:nvSpPr>
            <p:cNvPr name="Freeform 7" id="7"/>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8" id="8"/>
          <p:cNvGrpSpPr/>
          <p:nvPr/>
        </p:nvGrpSpPr>
        <p:grpSpPr>
          <a:xfrm rot="0">
            <a:off x="7901788" y="9570577"/>
            <a:ext cx="1166774" cy="133455"/>
            <a:chOff x="0" y="0"/>
            <a:chExt cx="1555699" cy="177940"/>
          </a:xfrm>
        </p:grpSpPr>
        <p:sp>
          <p:nvSpPr>
            <p:cNvPr name="Freeform 9" id="9"/>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7A1F2B"/>
            </a:solidFill>
          </p:spPr>
        </p:sp>
      </p:grpSp>
      <p:grpSp>
        <p:nvGrpSpPr>
          <p:cNvPr name="Group 10" id="10"/>
          <p:cNvGrpSpPr/>
          <p:nvPr/>
        </p:nvGrpSpPr>
        <p:grpSpPr>
          <a:xfrm rot="0">
            <a:off x="10561977" y="9570577"/>
            <a:ext cx="1166774" cy="133455"/>
            <a:chOff x="0" y="0"/>
            <a:chExt cx="1555699" cy="177940"/>
          </a:xfrm>
        </p:grpSpPr>
        <p:sp>
          <p:nvSpPr>
            <p:cNvPr name="Freeform 11" id="11"/>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sp>
        <p:nvSpPr>
          <p:cNvPr name="Freeform 12" id="12"/>
          <p:cNvSpPr/>
          <p:nvPr/>
        </p:nvSpPr>
        <p:spPr>
          <a:xfrm flipH="false" flipV="false" rot="0">
            <a:off x="203716" y="-107422"/>
            <a:ext cx="17881448" cy="9356197"/>
          </a:xfrm>
          <a:custGeom>
            <a:avLst/>
            <a:gdLst/>
            <a:ahLst/>
            <a:cxnLst/>
            <a:rect r="r" b="b" t="t" l="l"/>
            <a:pathLst>
              <a:path h="9356197" w="17881448">
                <a:moveTo>
                  <a:pt x="0" y="0"/>
                </a:moveTo>
                <a:lnTo>
                  <a:pt x="17881449" y="0"/>
                </a:lnTo>
                <a:lnTo>
                  <a:pt x="17881449" y="9356197"/>
                </a:lnTo>
                <a:lnTo>
                  <a:pt x="0" y="9356197"/>
                </a:lnTo>
                <a:lnTo>
                  <a:pt x="0" y="0"/>
                </a:lnTo>
                <a:close/>
              </a:path>
            </a:pathLst>
          </a:custGeom>
          <a:blipFill>
            <a:blip r:embed="rId2"/>
            <a:stretch>
              <a:fillRect l="0" t="0" r="0" b="-7504"/>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grpSp>
        <p:nvGrpSpPr>
          <p:cNvPr name="Group 14" id="14"/>
          <p:cNvGrpSpPr/>
          <p:nvPr/>
        </p:nvGrpSpPr>
        <p:grpSpPr>
          <a:xfrm rot="0">
            <a:off x="14477630" y="215828"/>
            <a:ext cx="3225784" cy="1170034"/>
            <a:chOff x="0" y="0"/>
            <a:chExt cx="4301046" cy="1560045"/>
          </a:xfrm>
        </p:grpSpPr>
        <p:sp>
          <p:nvSpPr>
            <p:cNvPr name="Freeform 15" id="15"/>
            <p:cNvSpPr/>
            <p:nvPr/>
          </p:nvSpPr>
          <p:spPr>
            <a:xfrm flipH="false" flipV="false" rot="0">
              <a:off x="0" y="0"/>
              <a:ext cx="4300982" cy="1560045"/>
            </a:xfrm>
            <a:custGeom>
              <a:avLst/>
              <a:gdLst/>
              <a:ahLst/>
              <a:cxnLst/>
              <a:rect r="r" b="b" t="t" l="l"/>
              <a:pathLst>
                <a:path h="1560045" w="4300982">
                  <a:moveTo>
                    <a:pt x="0" y="0"/>
                  </a:moveTo>
                  <a:lnTo>
                    <a:pt x="4300982" y="0"/>
                  </a:lnTo>
                  <a:lnTo>
                    <a:pt x="4300982" y="1560045"/>
                  </a:lnTo>
                  <a:lnTo>
                    <a:pt x="0" y="1560045"/>
                  </a:lnTo>
                  <a:close/>
                </a:path>
              </a:pathLst>
            </a:custGeom>
            <a:solidFill>
              <a:srgbClr val="7B1F2A"/>
            </a:solidFill>
          </p:spPr>
        </p:sp>
        <p:sp>
          <p:nvSpPr>
            <p:cNvPr name="TextBox 16" id="16"/>
            <p:cNvSpPr txBox="true"/>
            <p:nvPr/>
          </p:nvSpPr>
          <p:spPr>
            <a:xfrm>
              <a:off x="0" y="-47625"/>
              <a:ext cx="4301046" cy="1607670"/>
            </a:xfrm>
            <a:prstGeom prst="rect">
              <a:avLst/>
            </a:prstGeom>
          </p:spPr>
          <p:txBody>
            <a:bodyPr anchor="ctr" rtlCol="false" tIns="50800" lIns="50800" bIns="50800" rIns="50800"/>
            <a:lstStyle/>
            <a:p>
              <a:pPr algn="ctr">
                <a:lnSpc>
                  <a:spcPts val="2341"/>
                </a:lnSpc>
              </a:pPr>
              <a:r>
                <a:rPr lang="en-US" sz="1951" b="true">
                  <a:solidFill>
                    <a:srgbClr val="FFFFFF"/>
                  </a:solidFill>
                  <a:latin typeface="Calibri (MS) Bold"/>
                  <a:ea typeface="Calibri (MS) Bold"/>
                  <a:cs typeface="Calibri (MS) Bold"/>
                  <a:sym typeface="Calibri (MS) Bold"/>
                </a:rPr>
                <a:t>SPRINT 4</a:t>
              </a:r>
            </a:p>
            <a:p>
              <a:pPr algn="ctr">
                <a:lnSpc>
                  <a:spcPts val="2341"/>
                </a:lnSpc>
              </a:pPr>
              <a:r>
                <a:rPr lang="en-US" sz="1951" b="true">
                  <a:solidFill>
                    <a:srgbClr val="FFFFFF"/>
                  </a:solidFill>
                  <a:latin typeface="Calibri (MS) Bold"/>
                  <a:ea typeface="Calibri (MS) Bold"/>
                  <a:cs typeface="Calibri (MS) Bold"/>
                  <a:sym typeface="Calibri (MS) Bold"/>
                </a:rPr>
                <a:t>BOUAZZA Amina</a:t>
              </a:r>
            </a:p>
          </p:txBody>
        </p:sp>
      </p:grpSp>
    </p:spTree>
  </p:cSld>
  <p:clrMapOvr>
    <a:masterClrMapping/>
  </p:clrMapOvr>
  <p:transition spd="slow">
    <p:cover dir="rd"/>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570297" y="9570577"/>
            <a:ext cx="1166774" cy="133455"/>
            <a:chOff x="0" y="0"/>
            <a:chExt cx="1555699" cy="177940"/>
          </a:xfrm>
        </p:grpSpPr>
        <p:sp>
          <p:nvSpPr>
            <p:cNvPr name="Freeform 3" id="3"/>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4" id="4"/>
          <p:cNvGrpSpPr/>
          <p:nvPr/>
        </p:nvGrpSpPr>
        <p:grpSpPr>
          <a:xfrm rot="0">
            <a:off x="7857149" y="9570577"/>
            <a:ext cx="1166774" cy="133455"/>
            <a:chOff x="0" y="0"/>
            <a:chExt cx="1555699" cy="177940"/>
          </a:xfrm>
        </p:grpSpPr>
        <p:sp>
          <p:nvSpPr>
            <p:cNvPr name="Freeform 5" id="5"/>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grpSp>
        <p:nvGrpSpPr>
          <p:cNvPr name="Group 6" id="6"/>
          <p:cNvGrpSpPr/>
          <p:nvPr/>
        </p:nvGrpSpPr>
        <p:grpSpPr>
          <a:xfrm rot="0">
            <a:off x="9209563" y="9570577"/>
            <a:ext cx="1166774" cy="133455"/>
            <a:chOff x="0" y="0"/>
            <a:chExt cx="1555699" cy="177940"/>
          </a:xfrm>
        </p:grpSpPr>
        <p:sp>
          <p:nvSpPr>
            <p:cNvPr name="Freeform 7" id="7"/>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7A1F2B"/>
            </a:solidFill>
          </p:spPr>
        </p:sp>
      </p:grpSp>
      <p:grpSp>
        <p:nvGrpSpPr>
          <p:cNvPr name="Group 8" id="8"/>
          <p:cNvGrpSpPr/>
          <p:nvPr/>
        </p:nvGrpSpPr>
        <p:grpSpPr>
          <a:xfrm rot="0">
            <a:off x="10561977" y="9570577"/>
            <a:ext cx="1166774" cy="133455"/>
            <a:chOff x="0" y="0"/>
            <a:chExt cx="1555699" cy="177940"/>
          </a:xfrm>
        </p:grpSpPr>
        <p:sp>
          <p:nvSpPr>
            <p:cNvPr name="Freeform 9" id="9"/>
            <p:cNvSpPr/>
            <p:nvPr/>
          </p:nvSpPr>
          <p:spPr>
            <a:xfrm flipH="false" flipV="false" rot="0">
              <a:off x="0" y="0"/>
              <a:ext cx="1555750" cy="177927"/>
            </a:xfrm>
            <a:custGeom>
              <a:avLst/>
              <a:gdLst/>
              <a:ahLst/>
              <a:cxnLst/>
              <a:rect r="r" b="b" t="t" l="l"/>
              <a:pathLst>
                <a:path h="177927" w="1555750">
                  <a:moveTo>
                    <a:pt x="0" y="0"/>
                  </a:moveTo>
                  <a:lnTo>
                    <a:pt x="1555750" y="0"/>
                  </a:lnTo>
                  <a:lnTo>
                    <a:pt x="1555750" y="177927"/>
                  </a:lnTo>
                  <a:lnTo>
                    <a:pt x="0" y="177927"/>
                  </a:lnTo>
                  <a:close/>
                </a:path>
              </a:pathLst>
            </a:custGeom>
            <a:solidFill>
              <a:srgbClr val="D5D8DD"/>
            </a:solidFill>
          </p:spPr>
        </p:sp>
      </p:grpSp>
      <p:sp>
        <p:nvSpPr>
          <p:cNvPr name="Freeform 10" id="10"/>
          <p:cNvSpPr/>
          <p:nvPr/>
        </p:nvSpPr>
        <p:spPr>
          <a:xfrm flipH="false" flipV="false" rot="0">
            <a:off x="0" y="7851"/>
            <a:ext cx="18541233" cy="9240924"/>
          </a:xfrm>
          <a:custGeom>
            <a:avLst/>
            <a:gdLst/>
            <a:ahLst/>
            <a:cxnLst/>
            <a:rect r="r" b="b" t="t" l="l"/>
            <a:pathLst>
              <a:path h="9240924" w="18541233">
                <a:moveTo>
                  <a:pt x="0" y="0"/>
                </a:moveTo>
                <a:lnTo>
                  <a:pt x="18541233" y="0"/>
                </a:lnTo>
                <a:lnTo>
                  <a:pt x="18541233" y="9240924"/>
                </a:lnTo>
                <a:lnTo>
                  <a:pt x="0" y="9240924"/>
                </a:lnTo>
                <a:lnTo>
                  <a:pt x="0" y="0"/>
                </a:lnTo>
                <a:close/>
              </a:path>
            </a:pathLst>
          </a:custGeom>
          <a:blipFill>
            <a:blip r:embed="rId2"/>
            <a:stretch>
              <a:fillRect l="0" t="0" r="0" b="-12861"/>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grpSp>
        <p:nvGrpSpPr>
          <p:cNvPr name="Group 12" id="12"/>
          <p:cNvGrpSpPr/>
          <p:nvPr/>
        </p:nvGrpSpPr>
        <p:grpSpPr>
          <a:xfrm rot="0">
            <a:off x="14895681" y="267621"/>
            <a:ext cx="3225784" cy="1170034"/>
            <a:chOff x="0" y="0"/>
            <a:chExt cx="4301046" cy="1560045"/>
          </a:xfrm>
        </p:grpSpPr>
        <p:sp>
          <p:nvSpPr>
            <p:cNvPr name="Freeform 13" id="13"/>
            <p:cNvSpPr/>
            <p:nvPr/>
          </p:nvSpPr>
          <p:spPr>
            <a:xfrm flipH="false" flipV="false" rot="0">
              <a:off x="0" y="0"/>
              <a:ext cx="4300982" cy="1560045"/>
            </a:xfrm>
            <a:custGeom>
              <a:avLst/>
              <a:gdLst/>
              <a:ahLst/>
              <a:cxnLst/>
              <a:rect r="r" b="b" t="t" l="l"/>
              <a:pathLst>
                <a:path h="1560045" w="4300982">
                  <a:moveTo>
                    <a:pt x="0" y="0"/>
                  </a:moveTo>
                  <a:lnTo>
                    <a:pt x="4300982" y="0"/>
                  </a:lnTo>
                  <a:lnTo>
                    <a:pt x="4300982" y="1560045"/>
                  </a:lnTo>
                  <a:lnTo>
                    <a:pt x="0" y="1560045"/>
                  </a:lnTo>
                  <a:close/>
                </a:path>
              </a:pathLst>
            </a:custGeom>
            <a:solidFill>
              <a:srgbClr val="7B1F2A"/>
            </a:solidFill>
          </p:spPr>
        </p:sp>
        <p:sp>
          <p:nvSpPr>
            <p:cNvPr name="TextBox 14" id="14"/>
            <p:cNvSpPr txBox="true"/>
            <p:nvPr/>
          </p:nvSpPr>
          <p:spPr>
            <a:xfrm>
              <a:off x="0" y="-47625"/>
              <a:ext cx="4301046" cy="1607670"/>
            </a:xfrm>
            <a:prstGeom prst="rect">
              <a:avLst/>
            </a:prstGeom>
          </p:spPr>
          <p:txBody>
            <a:bodyPr anchor="ctr" rtlCol="false" tIns="50800" lIns="50800" bIns="50800" rIns="50800"/>
            <a:lstStyle/>
            <a:p>
              <a:pPr algn="ctr">
                <a:lnSpc>
                  <a:spcPts val="2341"/>
                </a:lnSpc>
              </a:pPr>
              <a:r>
                <a:rPr lang="en-US" sz="1951" b="true">
                  <a:solidFill>
                    <a:srgbClr val="FFFFFF"/>
                  </a:solidFill>
                  <a:latin typeface="Calibri (MS) Bold"/>
                  <a:ea typeface="Calibri (MS) Bold"/>
                  <a:cs typeface="Calibri (MS) Bold"/>
                  <a:sym typeface="Calibri (MS) Bold"/>
                </a:rPr>
                <a:t>SPRINT 4</a:t>
              </a:r>
            </a:p>
            <a:p>
              <a:pPr algn="ctr">
                <a:lnSpc>
                  <a:spcPts val="2341"/>
                </a:lnSpc>
              </a:pPr>
              <a:r>
                <a:rPr lang="en-US" sz="1951" b="true">
                  <a:solidFill>
                    <a:srgbClr val="FFFFFF"/>
                  </a:solidFill>
                  <a:latin typeface="Calibri (MS) Bold"/>
                  <a:ea typeface="Calibri (MS) Bold"/>
                  <a:cs typeface="Calibri (MS) Bold"/>
                  <a:sym typeface="Calibri (MS) Bold"/>
                </a:rPr>
                <a:t>BOUAZZA Amina</a:t>
              </a:r>
            </a:p>
          </p:txBody>
        </p:sp>
      </p:grpSp>
    </p:spTree>
  </p:cSld>
  <p:clrMapOvr>
    <a:masterClrMapping/>
  </p:clrMapOvr>
  <p:transition spd="slow">
    <p:cover dir="ld"/>
  </p:transition>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A1C26"/>
            </a:solidFill>
          </p:spPr>
        </p:sp>
      </p:grpSp>
      <p:sp>
        <p:nvSpPr>
          <p:cNvPr name="TextBox 4" id="4"/>
          <p:cNvSpPr txBox="true"/>
          <p:nvPr/>
        </p:nvSpPr>
        <p:spPr>
          <a:xfrm rot="0">
            <a:off x="586325" y="2819400"/>
            <a:ext cx="8465853" cy="3429000"/>
          </a:xfrm>
          <a:prstGeom prst="rect">
            <a:avLst/>
          </a:prstGeom>
        </p:spPr>
        <p:txBody>
          <a:bodyPr anchor="t" rtlCol="false" tIns="0" lIns="0" bIns="0" rIns="0">
            <a:spAutoFit/>
          </a:bodyPr>
          <a:lstStyle/>
          <a:p>
            <a:pPr algn="l">
              <a:lnSpc>
                <a:spcPts val="12600"/>
              </a:lnSpc>
            </a:pPr>
            <a:r>
              <a:rPr lang="en-US" sz="10500" b="true">
                <a:solidFill>
                  <a:srgbClr val="FFFFFF"/>
                </a:solidFill>
                <a:latin typeface="Calibri (MS) Bold"/>
                <a:ea typeface="Calibri (MS) Bold"/>
                <a:cs typeface="Calibri (MS) Bold"/>
                <a:sym typeface="Calibri (MS) Bold"/>
              </a:rPr>
              <a:t>Merci pour votre attention</a:t>
            </a:r>
          </a:p>
        </p:txBody>
      </p:sp>
      <p:grpSp>
        <p:nvGrpSpPr>
          <p:cNvPr name="Group 5" id="5"/>
          <p:cNvGrpSpPr/>
          <p:nvPr/>
        </p:nvGrpSpPr>
        <p:grpSpPr>
          <a:xfrm rot="0">
            <a:off x="11239500" y="571500"/>
            <a:ext cx="6134100" cy="7658100"/>
            <a:chOff x="0" y="0"/>
            <a:chExt cx="8178800" cy="10210800"/>
          </a:xfrm>
        </p:grpSpPr>
        <p:sp>
          <p:nvSpPr>
            <p:cNvPr name="Freeform 6" id="6"/>
            <p:cNvSpPr/>
            <p:nvPr/>
          </p:nvSpPr>
          <p:spPr>
            <a:xfrm flipH="false" flipV="false" rot="0">
              <a:off x="0" y="0"/>
              <a:ext cx="8178800" cy="10210800"/>
            </a:xfrm>
            <a:custGeom>
              <a:avLst/>
              <a:gdLst/>
              <a:ahLst/>
              <a:cxnLst/>
              <a:rect r="r" b="b" t="t" l="l"/>
              <a:pathLst>
                <a:path h="10210800" w="8178800">
                  <a:moveTo>
                    <a:pt x="0" y="0"/>
                  </a:moveTo>
                  <a:lnTo>
                    <a:pt x="50800" y="0"/>
                  </a:lnTo>
                  <a:lnTo>
                    <a:pt x="50800" y="50800"/>
                  </a:lnTo>
                  <a:lnTo>
                    <a:pt x="0" y="50800"/>
                  </a:lnTo>
                  <a:close/>
                  <a:moveTo>
                    <a:pt x="0" y="1016000"/>
                  </a:moveTo>
                  <a:lnTo>
                    <a:pt x="50800" y="1016000"/>
                  </a:lnTo>
                  <a:lnTo>
                    <a:pt x="50800" y="1066800"/>
                  </a:lnTo>
                  <a:lnTo>
                    <a:pt x="0" y="1066800"/>
                  </a:lnTo>
                  <a:close/>
                  <a:moveTo>
                    <a:pt x="0" y="2032000"/>
                  </a:moveTo>
                  <a:lnTo>
                    <a:pt x="50800" y="2032000"/>
                  </a:lnTo>
                  <a:lnTo>
                    <a:pt x="50800" y="2082800"/>
                  </a:lnTo>
                  <a:lnTo>
                    <a:pt x="0" y="2082800"/>
                  </a:lnTo>
                  <a:close/>
                  <a:moveTo>
                    <a:pt x="0" y="3048000"/>
                  </a:moveTo>
                  <a:lnTo>
                    <a:pt x="50800" y="3048000"/>
                  </a:lnTo>
                  <a:lnTo>
                    <a:pt x="50800" y="3098800"/>
                  </a:lnTo>
                  <a:lnTo>
                    <a:pt x="0" y="3098800"/>
                  </a:lnTo>
                  <a:close/>
                  <a:moveTo>
                    <a:pt x="0" y="4064000"/>
                  </a:moveTo>
                  <a:lnTo>
                    <a:pt x="50800" y="4064000"/>
                  </a:lnTo>
                  <a:lnTo>
                    <a:pt x="50800" y="4114800"/>
                  </a:lnTo>
                  <a:lnTo>
                    <a:pt x="0" y="4114800"/>
                  </a:lnTo>
                  <a:close/>
                  <a:moveTo>
                    <a:pt x="0" y="5080000"/>
                  </a:moveTo>
                  <a:lnTo>
                    <a:pt x="50800" y="5080000"/>
                  </a:lnTo>
                  <a:lnTo>
                    <a:pt x="50800" y="5130800"/>
                  </a:lnTo>
                  <a:lnTo>
                    <a:pt x="0" y="5130800"/>
                  </a:lnTo>
                  <a:close/>
                  <a:moveTo>
                    <a:pt x="0" y="6096000"/>
                  </a:moveTo>
                  <a:lnTo>
                    <a:pt x="50800" y="6096000"/>
                  </a:lnTo>
                  <a:lnTo>
                    <a:pt x="50800" y="6146800"/>
                  </a:lnTo>
                  <a:lnTo>
                    <a:pt x="0" y="6146800"/>
                  </a:lnTo>
                  <a:close/>
                  <a:moveTo>
                    <a:pt x="0" y="7112000"/>
                  </a:moveTo>
                  <a:lnTo>
                    <a:pt x="50800" y="7112000"/>
                  </a:lnTo>
                  <a:lnTo>
                    <a:pt x="50800" y="7162800"/>
                  </a:lnTo>
                  <a:lnTo>
                    <a:pt x="0" y="7162800"/>
                  </a:lnTo>
                  <a:close/>
                  <a:moveTo>
                    <a:pt x="0" y="8128000"/>
                  </a:moveTo>
                  <a:lnTo>
                    <a:pt x="50800" y="8128000"/>
                  </a:lnTo>
                  <a:lnTo>
                    <a:pt x="50800" y="8178800"/>
                  </a:lnTo>
                  <a:lnTo>
                    <a:pt x="0" y="8178800"/>
                  </a:lnTo>
                  <a:close/>
                  <a:moveTo>
                    <a:pt x="0" y="9144000"/>
                  </a:moveTo>
                  <a:lnTo>
                    <a:pt x="50800" y="9144000"/>
                  </a:lnTo>
                  <a:lnTo>
                    <a:pt x="50800" y="9194800"/>
                  </a:lnTo>
                  <a:lnTo>
                    <a:pt x="0" y="9194800"/>
                  </a:lnTo>
                  <a:close/>
                  <a:moveTo>
                    <a:pt x="0" y="10160000"/>
                  </a:moveTo>
                  <a:lnTo>
                    <a:pt x="50800" y="10160000"/>
                  </a:lnTo>
                  <a:lnTo>
                    <a:pt x="50800" y="10210800"/>
                  </a:lnTo>
                  <a:lnTo>
                    <a:pt x="0" y="10210800"/>
                  </a:lnTo>
                  <a:close/>
                  <a:moveTo>
                    <a:pt x="1016000" y="0"/>
                  </a:moveTo>
                  <a:lnTo>
                    <a:pt x="1066800" y="0"/>
                  </a:lnTo>
                  <a:lnTo>
                    <a:pt x="1066800" y="50800"/>
                  </a:lnTo>
                  <a:lnTo>
                    <a:pt x="1016000" y="50800"/>
                  </a:lnTo>
                  <a:close/>
                  <a:moveTo>
                    <a:pt x="1016000" y="1016000"/>
                  </a:moveTo>
                  <a:lnTo>
                    <a:pt x="1066800" y="1016000"/>
                  </a:lnTo>
                  <a:lnTo>
                    <a:pt x="1066800" y="1066800"/>
                  </a:lnTo>
                  <a:lnTo>
                    <a:pt x="1016000" y="1066800"/>
                  </a:lnTo>
                  <a:close/>
                  <a:moveTo>
                    <a:pt x="1016000" y="2032000"/>
                  </a:moveTo>
                  <a:lnTo>
                    <a:pt x="1066800" y="2032000"/>
                  </a:lnTo>
                  <a:lnTo>
                    <a:pt x="1066800" y="2082800"/>
                  </a:lnTo>
                  <a:lnTo>
                    <a:pt x="1016000" y="2082800"/>
                  </a:lnTo>
                  <a:close/>
                  <a:moveTo>
                    <a:pt x="1016000" y="3048000"/>
                  </a:moveTo>
                  <a:lnTo>
                    <a:pt x="1066800" y="3048000"/>
                  </a:lnTo>
                  <a:lnTo>
                    <a:pt x="1066800" y="3098800"/>
                  </a:lnTo>
                  <a:lnTo>
                    <a:pt x="1016000" y="3098800"/>
                  </a:lnTo>
                  <a:close/>
                  <a:moveTo>
                    <a:pt x="1016000" y="4064000"/>
                  </a:moveTo>
                  <a:lnTo>
                    <a:pt x="1066800" y="4064000"/>
                  </a:lnTo>
                  <a:lnTo>
                    <a:pt x="1066800" y="4114800"/>
                  </a:lnTo>
                  <a:lnTo>
                    <a:pt x="1016000" y="4114800"/>
                  </a:lnTo>
                  <a:close/>
                  <a:moveTo>
                    <a:pt x="1016000" y="5080000"/>
                  </a:moveTo>
                  <a:lnTo>
                    <a:pt x="1066800" y="5080000"/>
                  </a:lnTo>
                  <a:lnTo>
                    <a:pt x="1066800" y="5130800"/>
                  </a:lnTo>
                  <a:lnTo>
                    <a:pt x="1016000" y="5130800"/>
                  </a:lnTo>
                  <a:close/>
                  <a:moveTo>
                    <a:pt x="1016000" y="6096000"/>
                  </a:moveTo>
                  <a:lnTo>
                    <a:pt x="1066800" y="6096000"/>
                  </a:lnTo>
                  <a:lnTo>
                    <a:pt x="1066800" y="6146800"/>
                  </a:lnTo>
                  <a:lnTo>
                    <a:pt x="1016000" y="6146800"/>
                  </a:lnTo>
                  <a:close/>
                  <a:moveTo>
                    <a:pt x="1016000" y="7112000"/>
                  </a:moveTo>
                  <a:lnTo>
                    <a:pt x="1066800" y="7112000"/>
                  </a:lnTo>
                  <a:lnTo>
                    <a:pt x="1066800" y="7162800"/>
                  </a:lnTo>
                  <a:lnTo>
                    <a:pt x="1016000" y="7162800"/>
                  </a:lnTo>
                  <a:close/>
                  <a:moveTo>
                    <a:pt x="1016000" y="8128000"/>
                  </a:moveTo>
                  <a:lnTo>
                    <a:pt x="1066800" y="8128000"/>
                  </a:lnTo>
                  <a:lnTo>
                    <a:pt x="1066800" y="8178800"/>
                  </a:lnTo>
                  <a:lnTo>
                    <a:pt x="1016000" y="8178800"/>
                  </a:lnTo>
                  <a:close/>
                  <a:moveTo>
                    <a:pt x="1016000" y="9144000"/>
                  </a:moveTo>
                  <a:lnTo>
                    <a:pt x="1066800" y="9144000"/>
                  </a:lnTo>
                  <a:lnTo>
                    <a:pt x="1066800" y="9194800"/>
                  </a:lnTo>
                  <a:lnTo>
                    <a:pt x="1016000" y="9194800"/>
                  </a:lnTo>
                  <a:close/>
                  <a:moveTo>
                    <a:pt x="1016000" y="10160000"/>
                  </a:moveTo>
                  <a:lnTo>
                    <a:pt x="1066800" y="10160000"/>
                  </a:lnTo>
                  <a:lnTo>
                    <a:pt x="1066800" y="10210800"/>
                  </a:lnTo>
                  <a:lnTo>
                    <a:pt x="1016000" y="10210800"/>
                  </a:lnTo>
                  <a:close/>
                  <a:moveTo>
                    <a:pt x="2032000" y="0"/>
                  </a:moveTo>
                  <a:lnTo>
                    <a:pt x="2082800" y="0"/>
                  </a:lnTo>
                  <a:lnTo>
                    <a:pt x="2082800" y="50800"/>
                  </a:lnTo>
                  <a:lnTo>
                    <a:pt x="2032000" y="50800"/>
                  </a:lnTo>
                  <a:close/>
                  <a:moveTo>
                    <a:pt x="2032000" y="1016000"/>
                  </a:moveTo>
                  <a:lnTo>
                    <a:pt x="2082800" y="1016000"/>
                  </a:lnTo>
                  <a:lnTo>
                    <a:pt x="2082800" y="1066800"/>
                  </a:lnTo>
                  <a:lnTo>
                    <a:pt x="2032000" y="1066800"/>
                  </a:lnTo>
                  <a:close/>
                  <a:moveTo>
                    <a:pt x="2032000" y="2032000"/>
                  </a:moveTo>
                  <a:lnTo>
                    <a:pt x="2082800" y="2032000"/>
                  </a:lnTo>
                  <a:lnTo>
                    <a:pt x="2082800" y="2082800"/>
                  </a:lnTo>
                  <a:lnTo>
                    <a:pt x="2032000" y="2082800"/>
                  </a:lnTo>
                  <a:close/>
                  <a:moveTo>
                    <a:pt x="2032000" y="3048000"/>
                  </a:moveTo>
                  <a:lnTo>
                    <a:pt x="2082800" y="3048000"/>
                  </a:lnTo>
                  <a:lnTo>
                    <a:pt x="2082800" y="3098800"/>
                  </a:lnTo>
                  <a:lnTo>
                    <a:pt x="2032000" y="3098800"/>
                  </a:lnTo>
                  <a:close/>
                  <a:moveTo>
                    <a:pt x="2032000" y="4064000"/>
                  </a:moveTo>
                  <a:lnTo>
                    <a:pt x="2082800" y="4064000"/>
                  </a:lnTo>
                  <a:lnTo>
                    <a:pt x="2082800" y="4114800"/>
                  </a:lnTo>
                  <a:lnTo>
                    <a:pt x="2032000" y="4114800"/>
                  </a:lnTo>
                  <a:close/>
                  <a:moveTo>
                    <a:pt x="2032000" y="5080000"/>
                  </a:moveTo>
                  <a:lnTo>
                    <a:pt x="2082800" y="5080000"/>
                  </a:lnTo>
                  <a:lnTo>
                    <a:pt x="2082800" y="5130800"/>
                  </a:lnTo>
                  <a:lnTo>
                    <a:pt x="2032000" y="5130800"/>
                  </a:lnTo>
                  <a:close/>
                  <a:moveTo>
                    <a:pt x="2032000" y="6096000"/>
                  </a:moveTo>
                  <a:lnTo>
                    <a:pt x="2082800" y="6096000"/>
                  </a:lnTo>
                  <a:lnTo>
                    <a:pt x="2082800" y="6146800"/>
                  </a:lnTo>
                  <a:lnTo>
                    <a:pt x="2032000" y="6146800"/>
                  </a:lnTo>
                  <a:close/>
                  <a:moveTo>
                    <a:pt x="2032000" y="7112000"/>
                  </a:moveTo>
                  <a:lnTo>
                    <a:pt x="2082800" y="7112000"/>
                  </a:lnTo>
                  <a:lnTo>
                    <a:pt x="2082800" y="7162800"/>
                  </a:lnTo>
                  <a:lnTo>
                    <a:pt x="2032000" y="7162800"/>
                  </a:lnTo>
                  <a:close/>
                  <a:moveTo>
                    <a:pt x="2032000" y="8128000"/>
                  </a:moveTo>
                  <a:lnTo>
                    <a:pt x="2082800" y="8128000"/>
                  </a:lnTo>
                  <a:lnTo>
                    <a:pt x="2082800" y="8178800"/>
                  </a:lnTo>
                  <a:lnTo>
                    <a:pt x="2032000" y="8178800"/>
                  </a:lnTo>
                  <a:close/>
                  <a:moveTo>
                    <a:pt x="2032000" y="9144000"/>
                  </a:moveTo>
                  <a:lnTo>
                    <a:pt x="2082800" y="9144000"/>
                  </a:lnTo>
                  <a:lnTo>
                    <a:pt x="2082800" y="9194800"/>
                  </a:lnTo>
                  <a:lnTo>
                    <a:pt x="2032000" y="9194800"/>
                  </a:lnTo>
                  <a:close/>
                  <a:moveTo>
                    <a:pt x="2032000" y="10160000"/>
                  </a:moveTo>
                  <a:lnTo>
                    <a:pt x="2082800" y="10160000"/>
                  </a:lnTo>
                  <a:lnTo>
                    <a:pt x="2082800" y="10210800"/>
                  </a:lnTo>
                  <a:lnTo>
                    <a:pt x="2032000" y="10210800"/>
                  </a:lnTo>
                  <a:close/>
                  <a:moveTo>
                    <a:pt x="3048000" y="0"/>
                  </a:moveTo>
                  <a:lnTo>
                    <a:pt x="3098800" y="0"/>
                  </a:lnTo>
                  <a:lnTo>
                    <a:pt x="3098800" y="50800"/>
                  </a:lnTo>
                  <a:lnTo>
                    <a:pt x="3048000" y="50800"/>
                  </a:lnTo>
                  <a:close/>
                  <a:moveTo>
                    <a:pt x="3048000" y="1016000"/>
                  </a:moveTo>
                  <a:lnTo>
                    <a:pt x="3098800" y="1016000"/>
                  </a:lnTo>
                  <a:lnTo>
                    <a:pt x="3098800" y="1066800"/>
                  </a:lnTo>
                  <a:lnTo>
                    <a:pt x="3048000" y="1066800"/>
                  </a:lnTo>
                  <a:close/>
                  <a:moveTo>
                    <a:pt x="3048000" y="2032000"/>
                  </a:moveTo>
                  <a:lnTo>
                    <a:pt x="3098800" y="2032000"/>
                  </a:lnTo>
                  <a:lnTo>
                    <a:pt x="3098800" y="2082800"/>
                  </a:lnTo>
                  <a:lnTo>
                    <a:pt x="3048000" y="2082800"/>
                  </a:lnTo>
                  <a:close/>
                  <a:moveTo>
                    <a:pt x="3048000" y="3048000"/>
                  </a:moveTo>
                  <a:lnTo>
                    <a:pt x="3098800" y="3048000"/>
                  </a:lnTo>
                  <a:lnTo>
                    <a:pt x="3098800" y="3098800"/>
                  </a:lnTo>
                  <a:lnTo>
                    <a:pt x="3048000" y="3098800"/>
                  </a:lnTo>
                  <a:close/>
                  <a:moveTo>
                    <a:pt x="3048000" y="4064000"/>
                  </a:moveTo>
                  <a:lnTo>
                    <a:pt x="3098800" y="4064000"/>
                  </a:lnTo>
                  <a:lnTo>
                    <a:pt x="3098800" y="4114800"/>
                  </a:lnTo>
                  <a:lnTo>
                    <a:pt x="3048000" y="4114800"/>
                  </a:lnTo>
                  <a:close/>
                  <a:moveTo>
                    <a:pt x="3048000" y="5080000"/>
                  </a:moveTo>
                  <a:lnTo>
                    <a:pt x="3098800" y="5080000"/>
                  </a:lnTo>
                  <a:lnTo>
                    <a:pt x="3098800" y="5130800"/>
                  </a:lnTo>
                  <a:lnTo>
                    <a:pt x="3048000" y="5130800"/>
                  </a:lnTo>
                  <a:close/>
                  <a:moveTo>
                    <a:pt x="3048000" y="6096000"/>
                  </a:moveTo>
                  <a:lnTo>
                    <a:pt x="3098800" y="6096000"/>
                  </a:lnTo>
                  <a:lnTo>
                    <a:pt x="3098800" y="6146800"/>
                  </a:lnTo>
                  <a:lnTo>
                    <a:pt x="3048000" y="6146800"/>
                  </a:lnTo>
                  <a:close/>
                  <a:moveTo>
                    <a:pt x="3048000" y="7112000"/>
                  </a:moveTo>
                  <a:lnTo>
                    <a:pt x="3098800" y="7112000"/>
                  </a:lnTo>
                  <a:lnTo>
                    <a:pt x="3098800" y="7162800"/>
                  </a:lnTo>
                  <a:lnTo>
                    <a:pt x="3048000" y="7162800"/>
                  </a:lnTo>
                  <a:close/>
                  <a:moveTo>
                    <a:pt x="3048000" y="8128000"/>
                  </a:moveTo>
                  <a:lnTo>
                    <a:pt x="3098800" y="8128000"/>
                  </a:lnTo>
                  <a:lnTo>
                    <a:pt x="3098800" y="8178800"/>
                  </a:lnTo>
                  <a:lnTo>
                    <a:pt x="3048000" y="8178800"/>
                  </a:lnTo>
                  <a:close/>
                  <a:moveTo>
                    <a:pt x="3048000" y="9144000"/>
                  </a:moveTo>
                  <a:lnTo>
                    <a:pt x="3098800" y="9144000"/>
                  </a:lnTo>
                  <a:lnTo>
                    <a:pt x="3098800" y="9194800"/>
                  </a:lnTo>
                  <a:lnTo>
                    <a:pt x="3048000" y="9194800"/>
                  </a:lnTo>
                  <a:close/>
                  <a:moveTo>
                    <a:pt x="3048000" y="10160000"/>
                  </a:moveTo>
                  <a:lnTo>
                    <a:pt x="3098800" y="10160000"/>
                  </a:lnTo>
                  <a:lnTo>
                    <a:pt x="3098800" y="10210800"/>
                  </a:lnTo>
                  <a:lnTo>
                    <a:pt x="3048000" y="10210800"/>
                  </a:lnTo>
                  <a:close/>
                  <a:moveTo>
                    <a:pt x="4064000" y="0"/>
                  </a:moveTo>
                  <a:lnTo>
                    <a:pt x="4114800" y="0"/>
                  </a:lnTo>
                  <a:lnTo>
                    <a:pt x="4114800" y="50800"/>
                  </a:lnTo>
                  <a:lnTo>
                    <a:pt x="4064000" y="50800"/>
                  </a:lnTo>
                  <a:close/>
                  <a:moveTo>
                    <a:pt x="4064000" y="1016000"/>
                  </a:moveTo>
                  <a:lnTo>
                    <a:pt x="4114800" y="1016000"/>
                  </a:lnTo>
                  <a:lnTo>
                    <a:pt x="4114800" y="1066800"/>
                  </a:lnTo>
                  <a:lnTo>
                    <a:pt x="4064000" y="1066800"/>
                  </a:lnTo>
                  <a:close/>
                  <a:moveTo>
                    <a:pt x="4064000" y="2032000"/>
                  </a:moveTo>
                  <a:lnTo>
                    <a:pt x="4114800" y="2032000"/>
                  </a:lnTo>
                  <a:lnTo>
                    <a:pt x="4114800" y="2082800"/>
                  </a:lnTo>
                  <a:lnTo>
                    <a:pt x="4064000" y="2082800"/>
                  </a:lnTo>
                  <a:close/>
                  <a:moveTo>
                    <a:pt x="4064000" y="3048000"/>
                  </a:moveTo>
                  <a:lnTo>
                    <a:pt x="4114800" y="3048000"/>
                  </a:lnTo>
                  <a:lnTo>
                    <a:pt x="4114800" y="3098800"/>
                  </a:lnTo>
                  <a:lnTo>
                    <a:pt x="4064000" y="3098800"/>
                  </a:lnTo>
                  <a:close/>
                  <a:moveTo>
                    <a:pt x="4064000" y="4064000"/>
                  </a:moveTo>
                  <a:lnTo>
                    <a:pt x="4114800" y="4064000"/>
                  </a:lnTo>
                  <a:lnTo>
                    <a:pt x="4114800" y="4114800"/>
                  </a:lnTo>
                  <a:lnTo>
                    <a:pt x="4064000" y="4114800"/>
                  </a:lnTo>
                  <a:close/>
                  <a:moveTo>
                    <a:pt x="4064000" y="5080000"/>
                  </a:moveTo>
                  <a:lnTo>
                    <a:pt x="4114800" y="5080000"/>
                  </a:lnTo>
                  <a:lnTo>
                    <a:pt x="4114800" y="5130800"/>
                  </a:lnTo>
                  <a:lnTo>
                    <a:pt x="4064000" y="5130800"/>
                  </a:lnTo>
                  <a:close/>
                  <a:moveTo>
                    <a:pt x="4064000" y="6096000"/>
                  </a:moveTo>
                  <a:lnTo>
                    <a:pt x="4114800" y="6096000"/>
                  </a:lnTo>
                  <a:lnTo>
                    <a:pt x="4114800" y="6146800"/>
                  </a:lnTo>
                  <a:lnTo>
                    <a:pt x="4064000" y="6146800"/>
                  </a:lnTo>
                  <a:close/>
                  <a:moveTo>
                    <a:pt x="4064000" y="7112000"/>
                  </a:moveTo>
                  <a:lnTo>
                    <a:pt x="4114800" y="7112000"/>
                  </a:lnTo>
                  <a:lnTo>
                    <a:pt x="4114800" y="7162800"/>
                  </a:lnTo>
                  <a:lnTo>
                    <a:pt x="4064000" y="7162800"/>
                  </a:lnTo>
                  <a:close/>
                  <a:moveTo>
                    <a:pt x="4064000" y="8128000"/>
                  </a:moveTo>
                  <a:lnTo>
                    <a:pt x="4114800" y="8128000"/>
                  </a:lnTo>
                  <a:lnTo>
                    <a:pt x="4114800" y="8178800"/>
                  </a:lnTo>
                  <a:lnTo>
                    <a:pt x="4064000" y="8178800"/>
                  </a:lnTo>
                  <a:close/>
                  <a:moveTo>
                    <a:pt x="4064000" y="9144000"/>
                  </a:moveTo>
                  <a:lnTo>
                    <a:pt x="4114800" y="9144000"/>
                  </a:lnTo>
                  <a:lnTo>
                    <a:pt x="4114800" y="9194800"/>
                  </a:lnTo>
                  <a:lnTo>
                    <a:pt x="4064000" y="9194800"/>
                  </a:lnTo>
                  <a:close/>
                  <a:moveTo>
                    <a:pt x="4064000" y="10160000"/>
                  </a:moveTo>
                  <a:lnTo>
                    <a:pt x="4114800" y="10160000"/>
                  </a:lnTo>
                  <a:lnTo>
                    <a:pt x="4114800" y="10210800"/>
                  </a:lnTo>
                  <a:lnTo>
                    <a:pt x="4064000" y="10210800"/>
                  </a:lnTo>
                  <a:close/>
                  <a:moveTo>
                    <a:pt x="5080000" y="0"/>
                  </a:moveTo>
                  <a:lnTo>
                    <a:pt x="5130800" y="0"/>
                  </a:lnTo>
                  <a:lnTo>
                    <a:pt x="5130800" y="50800"/>
                  </a:lnTo>
                  <a:lnTo>
                    <a:pt x="5080000" y="50800"/>
                  </a:lnTo>
                  <a:close/>
                  <a:moveTo>
                    <a:pt x="5080000" y="1016000"/>
                  </a:moveTo>
                  <a:lnTo>
                    <a:pt x="5130800" y="1016000"/>
                  </a:lnTo>
                  <a:lnTo>
                    <a:pt x="5130800" y="1066800"/>
                  </a:lnTo>
                  <a:lnTo>
                    <a:pt x="5080000" y="1066800"/>
                  </a:lnTo>
                  <a:close/>
                  <a:moveTo>
                    <a:pt x="5080000" y="2032000"/>
                  </a:moveTo>
                  <a:lnTo>
                    <a:pt x="5130800" y="2032000"/>
                  </a:lnTo>
                  <a:lnTo>
                    <a:pt x="5130800" y="2082800"/>
                  </a:lnTo>
                  <a:lnTo>
                    <a:pt x="5080000" y="2082800"/>
                  </a:lnTo>
                  <a:close/>
                  <a:moveTo>
                    <a:pt x="5080000" y="3048000"/>
                  </a:moveTo>
                  <a:lnTo>
                    <a:pt x="5130800" y="3048000"/>
                  </a:lnTo>
                  <a:lnTo>
                    <a:pt x="5130800" y="3098800"/>
                  </a:lnTo>
                  <a:lnTo>
                    <a:pt x="5080000" y="3098800"/>
                  </a:lnTo>
                  <a:close/>
                  <a:moveTo>
                    <a:pt x="5080000" y="4064000"/>
                  </a:moveTo>
                  <a:lnTo>
                    <a:pt x="5130800" y="4064000"/>
                  </a:lnTo>
                  <a:lnTo>
                    <a:pt x="5130800" y="4114800"/>
                  </a:lnTo>
                  <a:lnTo>
                    <a:pt x="5080000" y="4114800"/>
                  </a:lnTo>
                  <a:close/>
                  <a:moveTo>
                    <a:pt x="5080000" y="5080000"/>
                  </a:moveTo>
                  <a:lnTo>
                    <a:pt x="5130800" y="5080000"/>
                  </a:lnTo>
                  <a:lnTo>
                    <a:pt x="5130800" y="5130800"/>
                  </a:lnTo>
                  <a:lnTo>
                    <a:pt x="5080000" y="5130800"/>
                  </a:lnTo>
                  <a:close/>
                  <a:moveTo>
                    <a:pt x="5080000" y="6096000"/>
                  </a:moveTo>
                  <a:lnTo>
                    <a:pt x="5130800" y="6096000"/>
                  </a:lnTo>
                  <a:lnTo>
                    <a:pt x="5130800" y="6146800"/>
                  </a:lnTo>
                  <a:lnTo>
                    <a:pt x="5080000" y="6146800"/>
                  </a:lnTo>
                  <a:close/>
                  <a:moveTo>
                    <a:pt x="5080000" y="7112000"/>
                  </a:moveTo>
                  <a:lnTo>
                    <a:pt x="5130800" y="7112000"/>
                  </a:lnTo>
                  <a:lnTo>
                    <a:pt x="5130800" y="7162800"/>
                  </a:lnTo>
                  <a:lnTo>
                    <a:pt x="5080000" y="7162800"/>
                  </a:lnTo>
                  <a:close/>
                  <a:moveTo>
                    <a:pt x="5080000" y="8128000"/>
                  </a:moveTo>
                  <a:lnTo>
                    <a:pt x="5130800" y="8128000"/>
                  </a:lnTo>
                  <a:lnTo>
                    <a:pt x="5130800" y="8178800"/>
                  </a:lnTo>
                  <a:lnTo>
                    <a:pt x="5080000" y="8178800"/>
                  </a:lnTo>
                  <a:close/>
                  <a:moveTo>
                    <a:pt x="5080000" y="9144000"/>
                  </a:moveTo>
                  <a:lnTo>
                    <a:pt x="5130800" y="9144000"/>
                  </a:lnTo>
                  <a:lnTo>
                    <a:pt x="5130800" y="9194800"/>
                  </a:lnTo>
                  <a:lnTo>
                    <a:pt x="5080000" y="9194800"/>
                  </a:lnTo>
                  <a:close/>
                  <a:moveTo>
                    <a:pt x="5080000" y="10160000"/>
                  </a:moveTo>
                  <a:lnTo>
                    <a:pt x="5130800" y="10160000"/>
                  </a:lnTo>
                  <a:lnTo>
                    <a:pt x="5130800" y="10210800"/>
                  </a:lnTo>
                  <a:lnTo>
                    <a:pt x="5080000" y="10210800"/>
                  </a:lnTo>
                  <a:close/>
                  <a:moveTo>
                    <a:pt x="6096000" y="0"/>
                  </a:moveTo>
                  <a:lnTo>
                    <a:pt x="6146800" y="0"/>
                  </a:lnTo>
                  <a:lnTo>
                    <a:pt x="6146800" y="50800"/>
                  </a:lnTo>
                  <a:lnTo>
                    <a:pt x="6096000" y="50800"/>
                  </a:lnTo>
                  <a:close/>
                  <a:moveTo>
                    <a:pt x="6096000" y="1016000"/>
                  </a:moveTo>
                  <a:lnTo>
                    <a:pt x="6146800" y="1016000"/>
                  </a:lnTo>
                  <a:lnTo>
                    <a:pt x="6146800" y="1066800"/>
                  </a:lnTo>
                  <a:lnTo>
                    <a:pt x="6096000" y="1066800"/>
                  </a:lnTo>
                  <a:close/>
                  <a:moveTo>
                    <a:pt x="6096000" y="2032000"/>
                  </a:moveTo>
                  <a:lnTo>
                    <a:pt x="6146800" y="2032000"/>
                  </a:lnTo>
                  <a:lnTo>
                    <a:pt x="6146800" y="2082800"/>
                  </a:lnTo>
                  <a:lnTo>
                    <a:pt x="6096000" y="2082800"/>
                  </a:lnTo>
                  <a:close/>
                  <a:moveTo>
                    <a:pt x="6096000" y="3048000"/>
                  </a:moveTo>
                  <a:lnTo>
                    <a:pt x="6146800" y="3048000"/>
                  </a:lnTo>
                  <a:lnTo>
                    <a:pt x="6146800" y="3098800"/>
                  </a:lnTo>
                  <a:lnTo>
                    <a:pt x="6096000" y="3098800"/>
                  </a:lnTo>
                  <a:close/>
                  <a:moveTo>
                    <a:pt x="6096000" y="4064000"/>
                  </a:moveTo>
                  <a:lnTo>
                    <a:pt x="6146800" y="4064000"/>
                  </a:lnTo>
                  <a:lnTo>
                    <a:pt x="6146800" y="4114800"/>
                  </a:lnTo>
                  <a:lnTo>
                    <a:pt x="6096000" y="4114800"/>
                  </a:lnTo>
                  <a:close/>
                  <a:moveTo>
                    <a:pt x="6096000" y="5080000"/>
                  </a:moveTo>
                  <a:lnTo>
                    <a:pt x="6146800" y="5080000"/>
                  </a:lnTo>
                  <a:lnTo>
                    <a:pt x="6146800" y="5130800"/>
                  </a:lnTo>
                  <a:lnTo>
                    <a:pt x="6096000" y="5130800"/>
                  </a:lnTo>
                  <a:close/>
                  <a:moveTo>
                    <a:pt x="6096000" y="6096000"/>
                  </a:moveTo>
                  <a:lnTo>
                    <a:pt x="6146800" y="6096000"/>
                  </a:lnTo>
                  <a:lnTo>
                    <a:pt x="6146800" y="6146800"/>
                  </a:lnTo>
                  <a:lnTo>
                    <a:pt x="6096000" y="6146800"/>
                  </a:lnTo>
                  <a:close/>
                  <a:moveTo>
                    <a:pt x="6096000" y="7112000"/>
                  </a:moveTo>
                  <a:lnTo>
                    <a:pt x="6146800" y="7112000"/>
                  </a:lnTo>
                  <a:lnTo>
                    <a:pt x="6146800" y="7162800"/>
                  </a:lnTo>
                  <a:lnTo>
                    <a:pt x="6096000" y="7162800"/>
                  </a:lnTo>
                  <a:close/>
                  <a:moveTo>
                    <a:pt x="6096000" y="8128000"/>
                  </a:moveTo>
                  <a:lnTo>
                    <a:pt x="6146800" y="8128000"/>
                  </a:lnTo>
                  <a:lnTo>
                    <a:pt x="6146800" y="8178800"/>
                  </a:lnTo>
                  <a:lnTo>
                    <a:pt x="6096000" y="8178800"/>
                  </a:lnTo>
                  <a:close/>
                  <a:moveTo>
                    <a:pt x="6096000" y="9144000"/>
                  </a:moveTo>
                  <a:lnTo>
                    <a:pt x="6146800" y="9144000"/>
                  </a:lnTo>
                  <a:lnTo>
                    <a:pt x="6146800" y="9194800"/>
                  </a:lnTo>
                  <a:lnTo>
                    <a:pt x="6096000" y="9194800"/>
                  </a:lnTo>
                  <a:close/>
                  <a:moveTo>
                    <a:pt x="6096000" y="10160000"/>
                  </a:moveTo>
                  <a:lnTo>
                    <a:pt x="6146800" y="10160000"/>
                  </a:lnTo>
                  <a:lnTo>
                    <a:pt x="6146800" y="10210800"/>
                  </a:lnTo>
                  <a:lnTo>
                    <a:pt x="6096000" y="10210800"/>
                  </a:lnTo>
                  <a:close/>
                  <a:moveTo>
                    <a:pt x="7112000" y="0"/>
                  </a:moveTo>
                  <a:lnTo>
                    <a:pt x="7162800" y="0"/>
                  </a:lnTo>
                  <a:lnTo>
                    <a:pt x="7162800" y="50800"/>
                  </a:lnTo>
                  <a:lnTo>
                    <a:pt x="7112000" y="50800"/>
                  </a:lnTo>
                  <a:close/>
                  <a:moveTo>
                    <a:pt x="7112000" y="1016000"/>
                  </a:moveTo>
                  <a:lnTo>
                    <a:pt x="7162800" y="1016000"/>
                  </a:lnTo>
                  <a:lnTo>
                    <a:pt x="7162800" y="1066800"/>
                  </a:lnTo>
                  <a:lnTo>
                    <a:pt x="7112000" y="1066800"/>
                  </a:lnTo>
                  <a:close/>
                  <a:moveTo>
                    <a:pt x="7112000" y="2032000"/>
                  </a:moveTo>
                  <a:lnTo>
                    <a:pt x="7162800" y="2032000"/>
                  </a:lnTo>
                  <a:lnTo>
                    <a:pt x="7162800" y="2082800"/>
                  </a:lnTo>
                  <a:lnTo>
                    <a:pt x="7112000" y="2082800"/>
                  </a:lnTo>
                  <a:close/>
                  <a:moveTo>
                    <a:pt x="7112000" y="3048000"/>
                  </a:moveTo>
                  <a:lnTo>
                    <a:pt x="7162800" y="3048000"/>
                  </a:lnTo>
                  <a:lnTo>
                    <a:pt x="7162800" y="3098800"/>
                  </a:lnTo>
                  <a:lnTo>
                    <a:pt x="7112000" y="3098800"/>
                  </a:lnTo>
                  <a:close/>
                  <a:moveTo>
                    <a:pt x="7112000" y="4064000"/>
                  </a:moveTo>
                  <a:lnTo>
                    <a:pt x="7162800" y="4064000"/>
                  </a:lnTo>
                  <a:lnTo>
                    <a:pt x="7162800" y="4114800"/>
                  </a:lnTo>
                  <a:lnTo>
                    <a:pt x="7112000" y="4114800"/>
                  </a:lnTo>
                  <a:close/>
                  <a:moveTo>
                    <a:pt x="7112000" y="5080000"/>
                  </a:moveTo>
                  <a:lnTo>
                    <a:pt x="7162800" y="5080000"/>
                  </a:lnTo>
                  <a:lnTo>
                    <a:pt x="7162800" y="5130800"/>
                  </a:lnTo>
                  <a:lnTo>
                    <a:pt x="7112000" y="5130800"/>
                  </a:lnTo>
                  <a:close/>
                  <a:moveTo>
                    <a:pt x="7112000" y="6096000"/>
                  </a:moveTo>
                  <a:lnTo>
                    <a:pt x="7162800" y="6096000"/>
                  </a:lnTo>
                  <a:lnTo>
                    <a:pt x="7162800" y="6146800"/>
                  </a:lnTo>
                  <a:lnTo>
                    <a:pt x="7112000" y="6146800"/>
                  </a:lnTo>
                  <a:close/>
                  <a:moveTo>
                    <a:pt x="7112000" y="7112000"/>
                  </a:moveTo>
                  <a:lnTo>
                    <a:pt x="7162800" y="7112000"/>
                  </a:lnTo>
                  <a:lnTo>
                    <a:pt x="7162800" y="7162800"/>
                  </a:lnTo>
                  <a:lnTo>
                    <a:pt x="7112000" y="7162800"/>
                  </a:lnTo>
                  <a:close/>
                  <a:moveTo>
                    <a:pt x="7112000" y="8128000"/>
                  </a:moveTo>
                  <a:lnTo>
                    <a:pt x="7162800" y="8128000"/>
                  </a:lnTo>
                  <a:lnTo>
                    <a:pt x="7162800" y="8178800"/>
                  </a:lnTo>
                  <a:lnTo>
                    <a:pt x="7112000" y="8178800"/>
                  </a:lnTo>
                  <a:close/>
                  <a:moveTo>
                    <a:pt x="7112000" y="9144000"/>
                  </a:moveTo>
                  <a:lnTo>
                    <a:pt x="7162800" y="9144000"/>
                  </a:lnTo>
                  <a:lnTo>
                    <a:pt x="7162800" y="9194800"/>
                  </a:lnTo>
                  <a:lnTo>
                    <a:pt x="7112000" y="9194800"/>
                  </a:lnTo>
                  <a:close/>
                  <a:moveTo>
                    <a:pt x="7112000" y="10160000"/>
                  </a:moveTo>
                  <a:lnTo>
                    <a:pt x="7162800" y="10160000"/>
                  </a:lnTo>
                  <a:lnTo>
                    <a:pt x="7162800" y="10210800"/>
                  </a:lnTo>
                  <a:lnTo>
                    <a:pt x="7112000" y="10210800"/>
                  </a:lnTo>
                  <a:close/>
                  <a:moveTo>
                    <a:pt x="8128000" y="0"/>
                  </a:moveTo>
                  <a:lnTo>
                    <a:pt x="8178800" y="0"/>
                  </a:lnTo>
                  <a:lnTo>
                    <a:pt x="8178800" y="50800"/>
                  </a:lnTo>
                  <a:lnTo>
                    <a:pt x="8128000" y="50800"/>
                  </a:lnTo>
                  <a:close/>
                  <a:moveTo>
                    <a:pt x="8128000" y="1016000"/>
                  </a:moveTo>
                  <a:lnTo>
                    <a:pt x="8178800" y="1016000"/>
                  </a:lnTo>
                  <a:lnTo>
                    <a:pt x="8178800" y="1066800"/>
                  </a:lnTo>
                  <a:lnTo>
                    <a:pt x="8128000" y="1066800"/>
                  </a:lnTo>
                  <a:close/>
                  <a:moveTo>
                    <a:pt x="8128000" y="2032000"/>
                  </a:moveTo>
                  <a:lnTo>
                    <a:pt x="8178800" y="2032000"/>
                  </a:lnTo>
                  <a:lnTo>
                    <a:pt x="8178800" y="2082800"/>
                  </a:lnTo>
                  <a:lnTo>
                    <a:pt x="8128000" y="2082800"/>
                  </a:lnTo>
                  <a:close/>
                  <a:moveTo>
                    <a:pt x="8128000" y="3048000"/>
                  </a:moveTo>
                  <a:lnTo>
                    <a:pt x="8178800" y="3048000"/>
                  </a:lnTo>
                  <a:lnTo>
                    <a:pt x="8178800" y="3098800"/>
                  </a:lnTo>
                  <a:lnTo>
                    <a:pt x="8128000" y="3098800"/>
                  </a:lnTo>
                  <a:close/>
                  <a:moveTo>
                    <a:pt x="8128000" y="4064000"/>
                  </a:moveTo>
                  <a:lnTo>
                    <a:pt x="8178800" y="4064000"/>
                  </a:lnTo>
                  <a:lnTo>
                    <a:pt x="8178800" y="4114800"/>
                  </a:lnTo>
                  <a:lnTo>
                    <a:pt x="8128000" y="4114800"/>
                  </a:lnTo>
                  <a:close/>
                  <a:moveTo>
                    <a:pt x="8128000" y="5080000"/>
                  </a:moveTo>
                  <a:lnTo>
                    <a:pt x="8178800" y="5080000"/>
                  </a:lnTo>
                  <a:lnTo>
                    <a:pt x="8178800" y="5130800"/>
                  </a:lnTo>
                  <a:lnTo>
                    <a:pt x="8128000" y="5130800"/>
                  </a:lnTo>
                  <a:close/>
                  <a:moveTo>
                    <a:pt x="8128000" y="6096000"/>
                  </a:moveTo>
                  <a:lnTo>
                    <a:pt x="8178800" y="6096000"/>
                  </a:lnTo>
                  <a:lnTo>
                    <a:pt x="8178800" y="6146800"/>
                  </a:lnTo>
                  <a:lnTo>
                    <a:pt x="8128000" y="6146800"/>
                  </a:lnTo>
                  <a:close/>
                  <a:moveTo>
                    <a:pt x="8128000" y="7112000"/>
                  </a:moveTo>
                  <a:lnTo>
                    <a:pt x="8178800" y="7112000"/>
                  </a:lnTo>
                  <a:lnTo>
                    <a:pt x="8178800" y="7162800"/>
                  </a:lnTo>
                  <a:lnTo>
                    <a:pt x="8128000" y="7162800"/>
                  </a:lnTo>
                  <a:close/>
                  <a:moveTo>
                    <a:pt x="8128000" y="8128000"/>
                  </a:moveTo>
                  <a:lnTo>
                    <a:pt x="8178800" y="8128000"/>
                  </a:lnTo>
                  <a:lnTo>
                    <a:pt x="8178800" y="8178800"/>
                  </a:lnTo>
                  <a:lnTo>
                    <a:pt x="8128000" y="8178800"/>
                  </a:lnTo>
                  <a:close/>
                  <a:moveTo>
                    <a:pt x="8128000" y="9144000"/>
                  </a:moveTo>
                  <a:lnTo>
                    <a:pt x="8178800" y="9144000"/>
                  </a:lnTo>
                  <a:lnTo>
                    <a:pt x="8178800" y="9194800"/>
                  </a:lnTo>
                  <a:lnTo>
                    <a:pt x="8128000" y="9194800"/>
                  </a:lnTo>
                  <a:close/>
                  <a:moveTo>
                    <a:pt x="8128000" y="10160000"/>
                  </a:moveTo>
                  <a:lnTo>
                    <a:pt x="8178800" y="10160000"/>
                  </a:lnTo>
                  <a:lnTo>
                    <a:pt x="8178800" y="10210800"/>
                  </a:lnTo>
                  <a:lnTo>
                    <a:pt x="8128000" y="10210800"/>
                  </a:lnTo>
                  <a:close/>
                </a:path>
              </a:pathLst>
            </a:custGeom>
            <a:solidFill>
              <a:srgbClr val="5EC6B8">
                <a:alpha val="19608"/>
              </a:srgbClr>
            </a:solidFill>
          </p:spPr>
        </p:sp>
        <p:sp>
          <p:nvSpPr>
            <p:cNvPr name="TextBox 7" id="7"/>
            <p:cNvSpPr txBox="true"/>
            <p:nvPr/>
          </p:nvSpPr>
          <p:spPr>
            <a:xfrm>
              <a:off x="0" y="-38100"/>
              <a:ext cx="8178800" cy="102489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1239500" y="1428750"/>
            <a:ext cx="6096000" cy="6096000"/>
            <a:chOff x="0" y="0"/>
            <a:chExt cx="8128000" cy="8128000"/>
          </a:xfrm>
        </p:grpSpPr>
        <p:sp>
          <p:nvSpPr>
            <p:cNvPr name="Freeform 9" id="9"/>
            <p:cNvSpPr/>
            <p:nvPr/>
          </p:nvSpPr>
          <p:spPr>
            <a:xfrm flipH="false" flipV="false" rot="0">
              <a:off x="0" y="0"/>
              <a:ext cx="8128000" cy="8128000"/>
            </a:xfrm>
            <a:custGeom>
              <a:avLst/>
              <a:gdLst/>
              <a:ahLst/>
              <a:cxnLst/>
              <a:rect r="r" b="b" t="t" l="l"/>
              <a:pathLst>
                <a:path h="8128000" w="8128000">
                  <a:moveTo>
                    <a:pt x="0" y="4064000"/>
                  </a:moveTo>
                  <a:cubicBezTo>
                    <a:pt x="0" y="1819515"/>
                    <a:pt x="1819515" y="0"/>
                    <a:pt x="4064000" y="0"/>
                  </a:cubicBezTo>
                  <a:cubicBezTo>
                    <a:pt x="6308485" y="0"/>
                    <a:pt x="8128000" y="1819515"/>
                    <a:pt x="8128000" y="4064000"/>
                  </a:cubicBezTo>
                  <a:cubicBezTo>
                    <a:pt x="8128000" y="6308485"/>
                    <a:pt x="6308485" y="8128000"/>
                    <a:pt x="4064000" y="8128000"/>
                  </a:cubicBezTo>
                  <a:cubicBezTo>
                    <a:pt x="1819515" y="8128000"/>
                    <a:pt x="0" y="6308485"/>
                    <a:pt x="0" y="4064000"/>
                  </a:cubicBezTo>
                  <a:close/>
                </a:path>
              </a:pathLst>
            </a:custGeom>
            <a:solidFill>
              <a:srgbClr val="FFE45C">
                <a:alpha val="3922"/>
              </a:srgbClr>
            </a:solidFill>
          </p:spPr>
        </p:sp>
        <p:sp>
          <p:nvSpPr>
            <p:cNvPr name="TextBox 10" id="10"/>
            <p:cNvSpPr txBox="true"/>
            <p:nvPr/>
          </p:nvSpPr>
          <p:spPr>
            <a:xfrm>
              <a:off x="0" y="-38100"/>
              <a:ext cx="8128000" cy="8166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12049125" y="2238375"/>
            <a:ext cx="4476750" cy="4476750"/>
            <a:chOff x="0" y="0"/>
            <a:chExt cx="5969000" cy="5969000"/>
          </a:xfrm>
        </p:grpSpPr>
        <p:sp>
          <p:nvSpPr>
            <p:cNvPr name="Freeform 12" id="12"/>
            <p:cNvSpPr/>
            <p:nvPr/>
          </p:nvSpPr>
          <p:spPr>
            <a:xfrm flipH="false" flipV="false" rot="0">
              <a:off x="0" y="0"/>
              <a:ext cx="5969000" cy="5969000"/>
            </a:xfrm>
            <a:custGeom>
              <a:avLst/>
              <a:gdLst/>
              <a:ahLst/>
              <a:cxnLst/>
              <a:rect r="r" b="b" t="t" l="l"/>
              <a:pathLst>
                <a:path h="5969000" w="5969000">
                  <a:moveTo>
                    <a:pt x="0" y="2984500"/>
                  </a:moveTo>
                  <a:cubicBezTo>
                    <a:pt x="0" y="1336206"/>
                    <a:pt x="1336206" y="0"/>
                    <a:pt x="2984500" y="0"/>
                  </a:cubicBezTo>
                  <a:cubicBezTo>
                    <a:pt x="4632794" y="0"/>
                    <a:pt x="5969000" y="1336206"/>
                    <a:pt x="5969000" y="2984500"/>
                  </a:cubicBezTo>
                  <a:cubicBezTo>
                    <a:pt x="5969000" y="4632794"/>
                    <a:pt x="4632794" y="5969000"/>
                    <a:pt x="2984500" y="5969000"/>
                  </a:cubicBezTo>
                  <a:cubicBezTo>
                    <a:pt x="1336206" y="5969000"/>
                    <a:pt x="0" y="4632794"/>
                    <a:pt x="0" y="2984500"/>
                  </a:cubicBezTo>
                  <a:close/>
                </a:path>
              </a:pathLst>
            </a:custGeom>
            <a:solidFill>
              <a:srgbClr val="FFE45C">
                <a:alpha val="5490"/>
              </a:srgbClr>
            </a:solidFill>
          </p:spPr>
        </p:sp>
        <p:sp>
          <p:nvSpPr>
            <p:cNvPr name="TextBox 13" id="13"/>
            <p:cNvSpPr txBox="true"/>
            <p:nvPr/>
          </p:nvSpPr>
          <p:spPr>
            <a:xfrm>
              <a:off x="0" y="-38100"/>
              <a:ext cx="5969000" cy="60071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12715875" y="2905125"/>
            <a:ext cx="3143250" cy="3143250"/>
            <a:chOff x="0" y="0"/>
            <a:chExt cx="4191000" cy="4191000"/>
          </a:xfrm>
        </p:grpSpPr>
        <p:sp>
          <p:nvSpPr>
            <p:cNvPr name="Freeform 15" id="15"/>
            <p:cNvSpPr/>
            <p:nvPr/>
          </p:nvSpPr>
          <p:spPr>
            <a:xfrm flipH="false" flipV="false" rot="0">
              <a:off x="0" y="0"/>
              <a:ext cx="4191000" cy="4191000"/>
            </a:xfrm>
            <a:custGeom>
              <a:avLst/>
              <a:gdLst/>
              <a:ahLst/>
              <a:cxnLst/>
              <a:rect r="r" b="b" t="t" l="l"/>
              <a:pathLst>
                <a:path h="4191000" w="4191000">
                  <a:moveTo>
                    <a:pt x="0" y="2095500"/>
                  </a:moveTo>
                  <a:cubicBezTo>
                    <a:pt x="0" y="938187"/>
                    <a:pt x="938187" y="0"/>
                    <a:pt x="2095500" y="0"/>
                  </a:cubicBezTo>
                  <a:cubicBezTo>
                    <a:pt x="3252813" y="0"/>
                    <a:pt x="4191000" y="938187"/>
                    <a:pt x="4191000" y="2095500"/>
                  </a:cubicBezTo>
                  <a:cubicBezTo>
                    <a:pt x="4191000" y="3252813"/>
                    <a:pt x="3252813" y="4191000"/>
                    <a:pt x="2095500" y="4191000"/>
                  </a:cubicBezTo>
                  <a:cubicBezTo>
                    <a:pt x="938187" y="4191000"/>
                    <a:pt x="0" y="3252813"/>
                    <a:pt x="0" y="2095500"/>
                  </a:cubicBezTo>
                  <a:close/>
                </a:path>
              </a:pathLst>
            </a:custGeom>
            <a:solidFill>
              <a:srgbClr val="FFE45C">
                <a:alpha val="8235"/>
              </a:srgbClr>
            </a:solidFill>
          </p:spPr>
        </p:sp>
        <p:sp>
          <p:nvSpPr>
            <p:cNvPr name="TextBox 16" id="16"/>
            <p:cNvSpPr txBox="true"/>
            <p:nvPr/>
          </p:nvSpPr>
          <p:spPr>
            <a:xfrm>
              <a:off x="0" y="-38100"/>
              <a:ext cx="4191000" cy="4229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1415712" y="1604962"/>
            <a:ext cx="5743575" cy="5743575"/>
            <a:chOff x="0" y="0"/>
            <a:chExt cx="7658100" cy="7658100"/>
          </a:xfrm>
        </p:grpSpPr>
        <p:sp>
          <p:nvSpPr>
            <p:cNvPr name="Freeform 18" id="18"/>
            <p:cNvSpPr/>
            <p:nvPr/>
          </p:nvSpPr>
          <p:spPr>
            <a:xfrm flipH="false" flipV="false" rot="0">
              <a:off x="0" y="0"/>
              <a:ext cx="7658100" cy="7658100"/>
            </a:xfrm>
            <a:custGeom>
              <a:avLst/>
              <a:gdLst/>
              <a:ahLst/>
              <a:cxnLst/>
              <a:rect r="r" b="b" t="t" l="l"/>
              <a:pathLst>
                <a:path h="7658100" w="7658100">
                  <a:moveTo>
                    <a:pt x="0" y="3829050"/>
                  </a:moveTo>
                  <a:cubicBezTo>
                    <a:pt x="0" y="1714324"/>
                    <a:pt x="1714324" y="0"/>
                    <a:pt x="3829050" y="0"/>
                  </a:cubicBezTo>
                  <a:cubicBezTo>
                    <a:pt x="5943776" y="0"/>
                    <a:pt x="7658100" y="1714324"/>
                    <a:pt x="7658100" y="3829050"/>
                  </a:cubicBezTo>
                  <a:cubicBezTo>
                    <a:pt x="7658100" y="5943776"/>
                    <a:pt x="5943776" y="7658100"/>
                    <a:pt x="3829050" y="7658100"/>
                  </a:cubicBezTo>
                  <a:cubicBezTo>
                    <a:pt x="1714324" y="7658100"/>
                    <a:pt x="0" y="5943776"/>
                    <a:pt x="0" y="3829050"/>
                  </a:cubicBezTo>
                  <a:close/>
                  <a:moveTo>
                    <a:pt x="38100" y="3829050"/>
                  </a:moveTo>
                  <a:cubicBezTo>
                    <a:pt x="38100" y="5922734"/>
                    <a:pt x="1735366" y="7620000"/>
                    <a:pt x="3829050" y="7620000"/>
                  </a:cubicBezTo>
                  <a:cubicBezTo>
                    <a:pt x="5922734" y="7620000"/>
                    <a:pt x="7620000" y="5922734"/>
                    <a:pt x="7620000" y="3829050"/>
                  </a:cubicBezTo>
                  <a:cubicBezTo>
                    <a:pt x="7620000" y="1735366"/>
                    <a:pt x="5922734" y="38100"/>
                    <a:pt x="3829050" y="38100"/>
                  </a:cubicBezTo>
                  <a:cubicBezTo>
                    <a:pt x="1735366" y="38100"/>
                    <a:pt x="38100" y="1735366"/>
                    <a:pt x="38100" y="3829050"/>
                  </a:cubicBezTo>
                  <a:close/>
                  <a:moveTo>
                    <a:pt x="1466850" y="3829050"/>
                  </a:moveTo>
                  <a:cubicBezTo>
                    <a:pt x="1466850" y="2524443"/>
                    <a:pt x="2524443" y="1466850"/>
                    <a:pt x="3829050" y="1466850"/>
                  </a:cubicBezTo>
                  <a:cubicBezTo>
                    <a:pt x="5133657" y="1466850"/>
                    <a:pt x="6191250" y="2524443"/>
                    <a:pt x="6191250" y="3829050"/>
                  </a:cubicBezTo>
                  <a:cubicBezTo>
                    <a:pt x="6191250" y="5133657"/>
                    <a:pt x="5133657" y="6191250"/>
                    <a:pt x="3829050" y="6191250"/>
                  </a:cubicBezTo>
                  <a:cubicBezTo>
                    <a:pt x="2524443" y="6191250"/>
                    <a:pt x="1466850" y="5133657"/>
                    <a:pt x="1466850" y="3829050"/>
                  </a:cubicBezTo>
                  <a:close/>
                  <a:moveTo>
                    <a:pt x="1492250" y="3829050"/>
                  </a:moveTo>
                  <a:cubicBezTo>
                    <a:pt x="1492250" y="5119629"/>
                    <a:pt x="2538471" y="6165850"/>
                    <a:pt x="3829050" y="6165850"/>
                  </a:cubicBezTo>
                  <a:cubicBezTo>
                    <a:pt x="5119629" y="6165850"/>
                    <a:pt x="6165850" y="5119629"/>
                    <a:pt x="6165850" y="3829050"/>
                  </a:cubicBezTo>
                  <a:cubicBezTo>
                    <a:pt x="6165850" y="2538471"/>
                    <a:pt x="5119629" y="1492250"/>
                    <a:pt x="3829050" y="1492250"/>
                  </a:cubicBezTo>
                  <a:cubicBezTo>
                    <a:pt x="2538471" y="1492250"/>
                    <a:pt x="1492250" y="2538471"/>
                    <a:pt x="1492250" y="3829050"/>
                  </a:cubicBezTo>
                  <a:close/>
                </a:path>
              </a:pathLst>
            </a:custGeom>
            <a:solidFill>
              <a:srgbClr val="5EC6B8">
                <a:alpha val="31765"/>
              </a:srgbClr>
            </a:solidFill>
          </p:spPr>
        </p:sp>
        <p:sp>
          <p:nvSpPr>
            <p:cNvPr name="TextBox 19" id="19"/>
            <p:cNvSpPr txBox="true"/>
            <p:nvPr/>
          </p:nvSpPr>
          <p:spPr>
            <a:xfrm>
              <a:off x="0" y="-38100"/>
              <a:ext cx="7658100" cy="76962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12813982" y="2362200"/>
            <a:ext cx="3588067" cy="4229100"/>
            <a:chOff x="0" y="0"/>
            <a:chExt cx="4784090" cy="5638800"/>
          </a:xfrm>
        </p:grpSpPr>
        <p:sp>
          <p:nvSpPr>
            <p:cNvPr name="Freeform 21" id="21"/>
            <p:cNvSpPr/>
            <p:nvPr/>
          </p:nvSpPr>
          <p:spPr>
            <a:xfrm flipH="false" flipV="false" rot="0">
              <a:off x="0" y="0"/>
              <a:ext cx="4784090" cy="5638800"/>
            </a:xfrm>
            <a:custGeom>
              <a:avLst/>
              <a:gdLst/>
              <a:ahLst/>
              <a:cxnLst/>
              <a:rect r="r" b="b" t="t" l="l"/>
              <a:pathLst>
                <a:path h="5638800" w="4784090">
                  <a:moveTo>
                    <a:pt x="339090" y="165100"/>
                  </a:moveTo>
                  <a:lnTo>
                    <a:pt x="3463290" y="165100"/>
                  </a:lnTo>
                  <a:lnTo>
                    <a:pt x="3463290" y="88900"/>
                  </a:lnTo>
                  <a:lnTo>
                    <a:pt x="339090" y="88900"/>
                  </a:lnTo>
                  <a:close/>
                  <a:moveTo>
                    <a:pt x="3691890" y="127000"/>
                  </a:moveTo>
                  <a:lnTo>
                    <a:pt x="3463290" y="254000"/>
                  </a:lnTo>
                  <a:lnTo>
                    <a:pt x="3463290" y="0"/>
                  </a:lnTo>
                  <a:close/>
                  <a:moveTo>
                    <a:pt x="4618990" y="1193800"/>
                  </a:moveTo>
                  <a:lnTo>
                    <a:pt x="4618990" y="4318000"/>
                  </a:lnTo>
                  <a:lnTo>
                    <a:pt x="4695190" y="4318000"/>
                  </a:lnTo>
                  <a:lnTo>
                    <a:pt x="4695190" y="1193800"/>
                  </a:lnTo>
                  <a:close/>
                  <a:moveTo>
                    <a:pt x="4657090" y="4546600"/>
                  </a:moveTo>
                  <a:lnTo>
                    <a:pt x="4530090" y="4318000"/>
                  </a:lnTo>
                  <a:lnTo>
                    <a:pt x="4784090" y="4318000"/>
                  </a:lnTo>
                  <a:close/>
                  <a:moveTo>
                    <a:pt x="3590290" y="5473700"/>
                  </a:moveTo>
                  <a:lnTo>
                    <a:pt x="466090" y="5473700"/>
                  </a:lnTo>
                  <a:lnTo>
                    <a:pt x="466090" y="5549900"/>
                  </a:lnTo>
                  <a:lnTo>
                    <a:pt x="3590290" y="5549900"/>
                  </a:lnTo>
                  <a:close/>
                  <a:moveTo>
                    <a:pt x="237490" y="5511800"/>
                  </a:moveTo>
                  <a:lnTo>
                    <a:pt x="466090" y="5384800"/>
                  </a:lnTo>
                  <a:lnTo>
                    <a:pt x="466090" y="5638800"/>
                  </a:lnTo>
                  <a:close/>
                  <a:moveTo>
                    <a:pt x="53340" y="4784090"/>
                  </a:moveTo>
                  <a:lnTo>
                    <a:pt x="572770" y="4264660"/>
                  </a:lnTo>
                  <a:lnTo>
                    <a:pt x="519430" y="4211320"/>
                  </a:lnTo>
                  <a:lnTo>
                    <a:pt x="0" y="4730750"/>
                  </a:lnTo>
                  <a:close/>
                  <a:moveTo>
                    <a:pt x="707390" y="4076700"/>
                  </a:moveTo>
                  <a:lnTo>
                    <a:pt x="636270" y="4328160"/>
                  </a:lnTo>
                  <a:lnTo>
                    <a:pt x="455930" y="4149090"/>
                  </a:lnTo>
                  <a:close/>
                </a:path>
              </a:pathLst>
            </a:custGeom>
            <a:solidFill>
              <a:srgbClr val="DFE9EE">
                <a:alpha val="54902"/>
              </a:srgbClr>
            </a:solidFill>
          </p:spPr>
        </p:sp>
        <p:sp>
          <p:nvSpPr>
            <p:cNvPr name="TextBox 22" id="22"/>
            <p:cNvSpPr txBox="true"/>
            <p:nvPr/>
          </p:nvSpPr>
          <p:spPr>
            <a:xfrm>
              <a:off x="0" y="-38100"/>
              <a:ext cx="4784090" cy="5676900"/>
            </a:xfrm>
            <a:prstGeom prst="rect">
              <a:avLst/>
            </a:prstGeom>
          </p:spPr>
          <p:txBody>
            <a:bodyPr anchor="ctr" rtlCol="false" tIns="50800" lIns="50800" bIns="50800" rIns="50800"/>
            <a:lstStyle/>
            <a:p>
              <a:pPr algn="l">
                <a:lnSpc>
                  <a:spcPts val="1679"/>
                </a:lnSpc>
              </a:pPr>
            </a:p>
          </p:txBody>
        </p:sp>
      </p:grpSp>
      <p:grpSp>
        <p:nvGrpSpPr>
          <p:cNvPr name="Group 23" id="23"/>
          <p:cNvGrpSpPr/>
          <p:nvPr/>
        </p:nvGrpSpPr>
        <p:grpSpPr>
          <a:xfrm rot="0">
            <a:off x="11661457" y="1757362"/>
            <a:ext cx="5251132" cy="5438775"/>
            <a:chOff x="0" y="0"/>
            <a:chExt cx="7001510" cy="7251700"/>
          </a:xfrm>
        </p:grpSpPr>
        <p:sp>
          <p:nvSpPr>
            <p:cNvPr name="Freeform 24" id="24"/>
            <p:cNvSpPr/>
            <p:nvPr/>
          </p:nvSpPr>
          <p:spPr>
            <a:xfrm flipH="false" flipV="false" rot="0">
              <a:off x="0" y="0"/>
              <a:ext cx="7001510" cy="7251700"/>
            </a:xfrm>
            <a:custGeom>
              <a:avLst/>
              <a:gdLst/>
              <a:ahLst/>
              <a:cxnLst/>
              <a:rect r="r" b="b" t="t" l="l"/>
              <a:pathLst>
                <a:path h="7251700" w="7001510">
                  <a:moveTo>
                    <a:pt x="808990" y="0"/>
                  </a:moveTo>
                  <a:lnTo>
                    <a:pt x="1616710" y="467360"/>
                  </a:lnTo>
                  <a:lnTo>
                    <a:pt x="1616710" y="1399540"/>
                  </a:lnTo>
                  <a:lnTo>
                    <a:pt x="808990" y="1866900"/>
                  </a:lnTo>
                  <a:lnTo>
                    <a:pt x="0" y="1399540"/>
                  </a:lnTo>
                  <a:lnTo>
                    <a:pt x="0" y="467360"/>
                  </a:lnTo>
                  <a:close/>
                  <a:moveTo>
                    <a:pt x="33020" y="485140"/>
                  </a:moveTo>
                  <a:lnTo>
                    <a:pt x="33020" y="1381760"/>
                  </a:lnTo>
                  <a:lnTo>
                    <a:pt x="808990" y="1828800"/>
                  </a:lnTo>
                  <a:lnTo>
                    <a:pt x="1583690" y="1381760"/>
                  </a:lnTo>
                  <a:lnTo>
                    <a:pt x="1583690" y="485140"/>
                  </a:lnTo>
                  <a:lnTo>
                    <a:pt x="808990" y="38100"/>
                  </a:lnTo>
                  <a:close/>
                  <a:moveTo>
                    <a:pt x="6193790" y="0"/>
                  </a:moveTo>
                  <a:lnTo>
                    <a:pt x="7001510" y="467360"/>
                  </a:lnTo>
                  <a:lnTo>
                    <a:pt x="7001510" y="1399540"/>
                  </a:lnTo>
                  <a:lnTo>
                    <a:pt x="6193790" y="1866900"/>
                  </a:lnTo>
                  <a:lnTo>
                    <a:pt x="5384800" y="1399540"/>
                  </a:lnTo>
                  <a:lnTo>
                    <a:pt x="5384800" y="467360"/>
                  </a:lnTo>
                  <a:close/>
                  <a:moveTo>
                    <a:pt x="5417820" y="485140"/>
                  </a:moveTo>
                  <a:lnTo>
                    <a:pt x="5417820" y="1381760"/>
                  </a:lnTo>
                  <a:lnTo>
                    <a:pt x="6193790" y="1828800"/>
                  </a:lnTo>
                  <a:lnTo>
                    <a:pt x="6968490" y="1381760"/>
                  </a:lnTo>
                  <a:lnTo>
                    <a:pt x="6968490" y="485140"/>
                  </a:lnTo>
                  <a:lnTo>
                    <a:pt x="6193790" y="38100"/>
                  </a:lnTo>
                  <a:close/>
                  <a:moveTo>
                    <a:pt x="6193790" y="5384800"/>
                  </a:moveTo>
                  <a:lnTo>
                    <a:pt x="7001510" y="5852160"/>
                  </a:lnTo>
                  <a:lnTo>
                    <a:pt x="7001510" y="6784340"/>
                  </a:lnTo>
                  <a:lnTo>
                    <a:pt x="6193790" y="7251700"/>
                  </a:lnTo>
                  <a:lnTo>
                    <a:pt x="5384800" y="6784340"/>
                  </a:lnTo>
                  <a:lnTo>
                    <a:pt x="5384800" y="5852160"/>
                  </a:lnTo>
                  <a:close/>
                  <a:moveTo>
                    <a:pt x="5417820" y="5869940"/>
                  </a:moveTo>
                  <a:lnTo>
                    <a:pt x="5417820" y="6766560"/>
                  </a:lnTo>
                  <a:lnTo>
                    <a:pt x="6193790" y="7213600"/>
                  </a:lnTo>
                  <a:lnTo>
                    <a:pt x="6968490" y="6766560"/>
                  </a:lnTo>
                  <a:lnTo>
                    <a:pt x="6968490" y="5869940"/>
                  </a:lnTo>
                  <a:lnTo>
                    <a:pt x="6193790" y="5422900"/>
                  </a:lnTo>
                  <a:close/>
                  <a:moveTo>
                    <a:pt x="808990" y="5384800"/>
                  </a:moveTo>
                  <a:lnTo>
                    <a:pt x="1616710" y="5852160"/>
                  </a:lnTo>
                  <a:lnTo>
                    <a:pt x="1616710" y="6784340"/>
                  </a:lnTo>
                  <a:lnTo>
                    <a:pt x="808990" y="7251700"/>
                  </a:lnTo>
                  <a:lnTo>
                    <a:pt x="0" y="6784340"/>
                  </a:lnTo>
                  <a:lnTo>
                    <a:pt x="0" y="5852160"/>
                  </a:lnTo>
                  <a:close/>
                  <a:moveTo>
                    <a:pt x="33020" y="5869940"/>
                  </a:moveTo>
                  <a:lnTo>
                    <a:pt x="33020" y="6766560"/>
                  </a:lnTo>
                  <a:lnTo>
                    <a:pt x="808990" y="7213600"/>
                  </a:lnTo>
                  <a:lnTo>
                    <a:pt x="1583690" y="6766560"/>
                  </a:lnTo>
                  <a:lnTo>
                    <a:pt x="1583690" y="5869940"/>
                  </a:lnTo>
                  <a:lnTo>
                    <a:pt x="808990" y="5422900"/>
                  </a:lnTo>
                  <a:close/>
                </a:path>
              </a:pathLst>
            </a:custGeom>
            <a:solidFill>
              <a:srgbClr val="DFE9EE">
                <a:alpha val="44706"/>
              </a:srgbClr>
            </a:solidFill>
          </p:spPr>
        </p:sp>
        <p:sp>
          <p:nvSpPr>
            <p:cNvPr name="TextBox 25" id="25"/>
            <p:cNvSpPr txBox="true"/>
            <p:nvPr/>
          </p:nvSpPr>
          <p:spPr>
            <a:xfrm>
              <a:off x="0" y="-38100"/>
              <a:ext cx="7001510" cy="72898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11756707" y="1866900"/>
            <a:ext cx="1022985" cy="1181100"/>
            <a:chOff x="0" y="0"/>
            <a:chExt cx="1363980" cy="1574800"/>
          </a:xfrm>
        </p:grpSpPr>
        <p:sp>
          <p:nvSpPr>
            <p:cNvPr name="Freeform 27" id="27"/>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0D8F83"/>
            </a:solidFill>
          </p:spPr>
        </p:sp>
        <p:sp>
          <p:nvSpPr>
            <p:cNvPr name="TextBox 28" id="28"/>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15795307" y="1866900"/>
            <a:ext cx="1022985" cy="1181100"/>
            <a:chOff x="0" y="0"/>
            <a:chExt cx="1363980" cy="1574800"/>
          </a:xfrm>
        </p:grpSpPr>
        <p:sp>
          <p:nvSpPr>
            <p:cNvPr name="Freeform 30" id="30"/>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E8B44C"/>
            </a:solidFill>
          </p:spPr>
        </p:sp>
        <p:sp>
          <p:nvSpPr>
            <p:cNvPr name="TextBox 31" id="31"/>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15795307" y="5905500"/>
            <a:ext cx="1022985" cy="1181100"/>
            <a:chOff x="0" y="0"/>
            <a:chExt cx="1363980" cy="1574800"/>
          </a:xfrm>
        </p:grpSpPr>
        <p:sp>
          <p:nvSpPr>
            <p:cNvPr name="Freeform 33" id="33"/>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5B59E0"/>
            </a:solidFill>
          </p:spPr>
        </p:sp>
        <p:sp>
          <p:nvSpPr>
            <p:cNvPr name="TextBox 34" id="34"/>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11756707" y="5905500"/>
            <a:ext cx="1022985" cy="1181100"/>
            <a:chOff x="0" y="0"/>
            <a:chExt cx="1363980" cy="1574800"/>
          </a:xfrm>
        </p:grpSpPr>
        <p:sp>
          <p:nvSpPr>
            <p:cNvPr name="Freeform 36" id="36"/>
            <p:cNvSpPr/>
            <p:nvPr/>
          </p:nvSpPr>
          <p:spPr>
            <a:xfrm flipH="false" flipV="false" rot="0">
              <a:off x="0" y="0"/>
              <a:ext cx="1363980" cy="1574800"/>
            </a:xfrm>
            <a:custGeom>
              <a:avLst/>
              <a:gdLst/>
              <a:ahLst/>
              <a:cxnLst/>
              <a:rect r="r" b="b" t="t" l="l"/>
              <a:pathLst>
                <a:path h="1574800" w="1363980">
                  <a:moveTo>
                    <a:pt x="681990" y="0"/>
                  </a:moveTo>
                  <a:lnTo>
                    <a:pt x="1363980" y="393700"/>
                  </a:lnTo>
                  <a:lnTo>
                    <a:pt x="1363980" y="1181100"/>
                  </a:lnTo>
                  <a:lnTo>
                    <a:pt x="681990" y="1574800"/>
                  </a:lnTo>
                  <a:lnTo>
                    <a:pt x="0" y="1181100"/>
                  </a:lnTo>
                  <a:lnTo>
                    <a:pt x="0" y="393700"/>
                  </a:lnTo>
                  <a:close/>
                </a:path>
              </a:pathLst>
            </a:custGeom>
            <a:solidFill>
              <a:srgbClr val="C2374F"/>
            </a:solidFill>
          </p:spPr>
        </p:sp>
        <p:sp>
          <p:nvSpPr>
            <p:cNvPr name="TextBox 37" id="37"/>
            <p:cNvSpPr txBox="true"/>
            <p:nvPr/>
          </p:nvSpPr>
          <p:spPr>
            <a:xfrm>
              <a:off x="0" y="-38100"/>
              <a:ext cx="1363980" cy="16129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12044362" y="2233612"/>
            <a:ext cx="4505325" cy="4486275"/>
            <a:chOff x="0" y="0"/>
            <a:chExt cx="6007100" cy="5981700"/>
          </a:xfrm>
        </p:grpSpPr>
        <p:sp>
          <p:nvSpPr>
            <p:cNvPr name="Freeform 39" id="39"/>
            <p:cNvSpPr/>
            <p:nvPr/>
          </p:nvSpPr>
          <p:spPr>
            <a:xfrm flipH="false" flipV="false" rot="0">
              <a:off x="0" y="0"/>
              <a:ext cx="6007100" cy="5981700"/>
            </a:xfrm>
            <a:custGeom>
              <a:avLst/>
              <a:gdLst/>
              <a:ahLst/>
              <a:cxnLst/>
              <a:rect r="r" b="b" t="t" l="l"/>
              <a:pathLst>
                <a:path h="5981700" w="6007100">
                  <a:moveTo>
                    <a:pt x="215900" y="298450"/>
                  </a:moveTo>
                  <a:cubicBezTo>
                    <a:pt x="215900" y="252859"/>
                    <a:pt x="252859" y="215900"/>
                    <a:pt x="298450" y="215900"/>
                  </a:cubicBezTo>
                  <a:cubicBezTo>
                    <a:pt x="344041" y="215900"/>
                    <a:pt x="381000" y="252859"/>
                    <a:pt x="381000" y="298450"/>
                  </a:cubicBezTo>
                  <a:cubicBezTo>
                    <a:pt x="381000" y="344041"/>
                    <a:pt x="344041" y="381000"/>
                    <a:pt x="298450" y="381000"/>
                  </a:cubicBezTo>
                  <a:cubicBezTo>
                    <a:pt x="252859" y="381000"/>
                    <a:pt x="215900" y="344041"/>
                    <a:pt x="215900" y="298450"/>
                  </a:cubicBezTo>
                  <a:close/>
                  <a:moveTo>
                    <a:pt x="5384800" y="82550"/>
                  </a:moveTo>
                  <a:cubicBezTo>
                    <a:pt x="5384800" y="36959"/>
                    <a:pt x="5421759" y="0"/>
                    <a:pt x="5467350" y="0"/>
                  </a:cubicBezTo>
                  <a:cubicBezTo>
                    <a:pt x="5512941" y="0"/>
                    <a:pt x="5549900" y="36959"/>
                    <a:pt x="5549900" y="82550"/>
                  </a:cubicBezTo>
                  <a:cubicBezTo>
                    <a:pt x="5549900" y="128141"/>
                    <a:pt x="5512941" y="165100"/>
                    <a:pt x="5467350" y="165100"/>
                  </a:cubicBezTo>
                  <a:cubicBezTo>
                    <a:pt x="5421759" y="165100"/>
                    <a:pt x="5384800" y="128141"/>
                    <a:pt x="5384800" y="82550"/>
                  </a:cubicBezTo>
                  <a:close/>
                  <a:moveTo>
                    <a:pt x="5816600" y="514350"/>
                  </a:moveTo>
                  <a:cubicBezTo>
                    <a:pt x="5816600" y="468759"/>
                    <a:pt x="5853559" y="431800"/>
                    <a:pt x="5899150" y="431800"/>
                  </a:cubicBezTo>
                  <a:cubicBezTo>
                    <a:pt x="5944741" y="431800"/>
                    <a:pt x="5981700" y="468759"/>
                    <a:pt x="5981700" y="514350"/>
                  </a:cubicBezTo>
                  <a:cubicBezTo>
                    <a:pt x="5981700" y="559941"/>
                    <a:pt x="5944741" y="596900"/>
                    <a:pt x="5899150" y="596900"/>
                  </a:cubicBezTo>
                  <a:cubicBezTo>
                    <a:pt x="5853559" y="596900"/>
                    <a:pt x="5816600" y="559941"/>
                    <a:pt x="5816600" y="514350"/>
                  </a:cubicBezTo>
                  <a:close/>
                  <a:moveTo>
                    <a:pt x="5359400" y="5861050"/>
                  </a:moveTo>
                  <a:cubicBezTo>
                    <a:pt x="5359400" y="5815459"/>
                    <a:pt x="5396359" y="5778500"/>
                    <a:pt x="5441950" y="5778500"/>
                  </a:cubicBezTo>
                  <a:cubicBezTo>
                    <a:pt x="5487541" y="5778500"/>
                    <a:pt x="5524500" y="5815459"/>
                    <a:pt x="5524500" y="5861050"/>
                  </a:cubicBezTo>
                  <a:cubicBezTo>
                    <a:pt x="5524500" y="5906641"/>
                    <a:pt x="5487541" y="5943600"/>
                    <a:pt x="5441950" y="5943600"/>
                  </a:cubicBezTo>
                  <a:cubicBezTo>
                    <a:pt x="5396359" y="5943600"/>
                    <a:pt x="5359400" y="5906641"/>
                    <a:pt x="5359400" y="5861050"/>
                  </a:cubicBezTo>
                  <a:close/>
                  <a:moveTo>
                    <a:pt x="5600700" y="5454650"/>
                  </a:moveTo>
                  <a:cubicBezTo>
                    <a:pt x="5600700" y="5409059"/>
                    <a:pt x="5637659" y="5372100"/>
                    <a:pt x="5683250" y="5372100"/>
                  </a:cubicBezTo>
                  <a:cubicBezTo>
                    <a:pt x="5728841" y="5372100"/>
                    <a:pt x="5765800" y="5409059"/>
                    <a:pt x="5765800" y="5454650"/>
                  </a:cubicBezTo>
                  <a:cubicBezTo>
                    <a:pt x="5765800" y="5500241"/>
                    <a:pt x="5728841" y="5537200"/>
                    <a:pt x="5683250" y="5537200"/>
                  </a:cubicBezTo>
                  <a:cubicBezTo>
                    <a:pt x="5637659" y="5537200"/>
                    <a:pt x="5600700" y="5500241"/>
                    <a:pt x="5600700" y="5454650"/>
                  </a:cubicBezTo>
                  <a:close/>
                  <a:moveTo>
                    <a:pt x="5842000" y="5861050"/>
                  </a:moveTo>
                  <a:cubicBezTo>
                    <a:pt x="5842000" y="5815459"/>
                    <a:pt x="5878959" y="5778500"/>
                    <a:pt x="5924550" y="5778500"/>
                  </a:cubicBezTo>
                  <a:cubicBezTo>
                    <a:pt x="5970141" y="5778500"/>
                    <a:pt x="6007100" y="5815459"/>
                    <a:pt x="6007100" y="5861050"/>
                  </a:cubicBezTo>
                  <a:cubicBezTo>
                    <a:pt x="6007100" y="5906641"/>
                    <a:pt x="5970141" y="5943600"/>
                    <a:pt x="5924550" y="5943600"/>
                  </a:cubicBezTo>
                  <a:cubicBezTo>
                    <a:pt x="5878959" y="5943600"/>
                    <a:pt x="5842000" y="5906641"/>
                    <a:pt x="5842000" y="5861050"/>
                  </a:cubicBezTo>
                  <a:close/>
                  <a:moveTo>
                    <a:pt x="0" y="5467350"/>
                  </a:moveTo>
                  <a:cubicBezTo>
                    <a:pt x="0" y="5421759"/>
                    <a:pt x="36959" y="5384800"/>
                    <a:pt x="82550" y="5384800"/>
                  </a:cubicBezTo>
                  <a:cubicBezTo>
                    <a:pt x="128141" y="5384800"/>
                    <a:pt x="165100" y="5421759"/>
                    <a:pt x="165100" y="5467350"/>
                  </a:cubicBezTo>
                  <a:cubicBezTo>
                    <a:pt x="165100" y="5512941"/>
                    <a:pt x="128141" y="5549900"/>
                    <a:pt x="82550" y="5549900"/>
                  </a:cubicBezTo>
                  <a:cubicBezTo>
                    <a:pt x="36959" y="5549900"/>
                    <a:pt x="0" y="5512941"/>
                    <a:pt x="0" y="5467350"/>
                  </a:cubicBezTo>
                  <a:close/>
                  <a:moveTo>
                    <a:pt x="431800" y="5467350"/>
                  </a:moveTo>
                  <a:cubicBezTo>
                    <a:pt x="431800" y="5421759"/>
                    <a:pt x="468759" y="5384800"/>
                    <a:pt x="514350" y="5384800"/>
                  </a:cubicBezTo>
                  <a:cubicBezTo>
                    <a:pt x="559941" y="5384800"/>
                    <a:pt x="596900" y="5421759"/>
                    <a:pt x="596900" y="5467350"/>
                  </a:cubicBezTo>
                  <a:cubicBezTo>
                    <a:pt x="596900" y="5512941"/>
                    <a:pt x="559941" y="5549900"/>
                    <a:pt x="514350" y="5549900"/>
                  </a:cubicBezTo>
                  <a:cubicBezTo>
                    <a:pt x="468759" y="5549900"/>
                    <a:pt x="431800" y="5512941"/>
                    <a:pt x="431800" y="5467350"/>
                  </a:cubicBezTo>
                  <a:close/>
                  <a:moveTo>
                    <a:pt x="0" y="5899150"/>
                  </a:moveTo>
                  <a:cubicBezTo>
                    <a:pt x="0" y="5853559"/>
                    <a:pt x="36959" y="5816600"/>
                    <a:pt x="82550" y="5816600"/>
                  </a:cubicBezTo>
                  <a:cubicBezTo>
                    <a:pt x="128141" y="5816600"/>
                    <a:pt x="165100" y="5853559"/>
                    <a:pt x="165100" y="5899150"/>
                  </a:cubicBezTo>
                  <a:cubicBezTo>
                    <a:pt x="165100" y="5944741"/>
                    <a:pt x="128141" y="5981700"/>
                    <a:pt x="82550" y="5981700"/>
                  </a:cubicBezTo>
                  <a:cubicBezTo>
                    <a:pt x="36959" y="5981700"/>
                    <a:pt x="0" y="5944741"/>
                    <a:pt x="0" y="5899150"/>
                  </a:cubicBezTo>
                  <a:close/>
                  <a:moveTo>
                    <a:pt x="431800" y="5899150"/>
                  </a:moveTo>
                  <a:cubicBezTo>
                    <a:pt x="431800" y="5853559"/>
                    <a:pt x="468759" y="5816600"/>
                    <a:pt x="514350" y="5816600"/>
                  </a:cubicBezTo>
                  <a:cubicBezTo>
                    <a:pt x="559941" y="5816600"/>
                    <a:pt x="596900" y="5853559"/>
                    <a:pt x="596900" y="5899150"/>
                  </a:cubicBezTo>
                  <a:cubicBezTo>
                    <a:pt x="596900" y="5944741"/>
                    <a:pt x="559941" y="5981700"/>
                    <a:pt x="514350" y="5981700"/>
                  </a:cubicBezTo>
                  <a:cubicBezTo>
                    <a:pt x="468759" y="5981700"/>
                    <a:pt x="431800" y="5944741"/>
                    <a:pt x="431800" y="5899150"/>
                  </a:cubicBezTo>
                  <a:close/>
                </a:path>
              </a:pathLst>
            </a:custGeom>
            <a:solidFill>
              <a:srgbClr val="FFFFFF"/>
            </a:solidFill>
          </p:spPr>
        </p:sp>
        <p:sp>
          <p:nvSpPr>
            <p:cNvPr name="TextBox 40" id="40"/>
            <p:cNvSpPr txBox="true"/>
            <p:nvPr/>
          </p:nvSpPr>
          <p:spPr>
            <a:xfrm>
              <a:off x="0" y="-38100"/>
              <a:ext cx="6007100" cy="6019800"/>
            </a:xfrm>
            <a:prstGeom prst="rect">
              <a:avLst/>
            </a:prstGeom>
          </p:spPr>
          <p:txBody>
            <a:bodyPr anchor="ctr" rtlCol="false" tIns="50800" lIns="50800" bIns="50800" rIns="50800"/>
            <a:lstStyle/>
            <a:p>
              <a:pPr algn="l">
                <a:lnSpc>
                  <a:spcPts val="1679"/>
                </a:lnSpc>
              </a:pPr>
            </a:p>
          </p:txBody>
        </p:sp>
      </p:grpSp>
      <p:grpSp>
        <p:nvGrpSpPr>
          <p:cNvPr name="Group 41" id="41"/>
          <p:cNvGrpSpPr/>
          <p:nvPr/>
        </p:nvGrpSpPr>
        <p:grpSpPr>
          <a:xfrm rot="0">
            <a:off x="13413105" y="3467100"/>
            <a:ext cx="1748790" cy="2019300"/>
            <a:chOff x="0" y="0"/>
            <a:chExt cx="2331720" cy="2692400"/>
          </a:xfrm>
        </p:grpSpPr>
        <p:sp>
          <p:nvSpPr>
            <p:cNvPr name="Freeform 42" id="42"/>
            <p:cNvSpPr/>
            <p:nvPr/>
          </p:nvSpPr>
          <p:spPr>
            <a:xfrm flipH="false" flipV="false" rot="0">
              <a:off x="0" y="0"/>
              <a:ext cx="2331720" cy="2692400"/>
            </a:xfrm>
            <a:custGeom>
              <a:avLst/>
              <a:gdLst/>
              <a:ahLst/>
              <a:cxnLst/>
              <a:rect r="r" b="b" t="t" l="l"/>
              <a:pathLst>
                <a:path h="2692400" w="2331720">
                  <a:moveTo>
                    <a:pt x="1165860" y="0"/>
                  </a:moveTo>
                  <a:lnTo>
                    <a:pt x="2331720" y="673100"/>
                  </a:lnTo>
                  <a:lnTo>
                    <a:pt x="2331720" y="2019300"/>
                  </a:lnTo>
                  <a:lnTo>
                    <a:pt x="1165860" y="2692400"/>
                  </a:lnTo>
                  <a:lnTo>
                    <a:pt x="0" y="2019300"/>
                  </a:lnTo>
                  <a:lnTo>
                    <a:pt x="0" y="673100"/>
                  </a:lnTo>
                  <a:close/>
                </a:path>
              </a:pathLst>
            </a:custGeom>
            <a:solidFill>
              <a:srgbClr val="0A2530"/>
            </a:solidFill>
          </p:spPr>
        </p:sp>
        <p:sp>
          <p:nvSpPr>
            <p:cNvPr name="TextBox 43" id="43"/>
            <p:cNvSpPr txBox="true"/>
            <p:nvPr/>
          </p:nvSpPr>
          <p:spPr>
            <a:xfrm>
              <a:off x="0" y="-38100"/>
              <a:ext cx="2331720" cy="2730500"/>
            </a:xfrm>
            <a:prstGeom prst="rect">
              <a:avLst/>
            </a:prstGeom>
          </p:spPr>
          <p:txBody>
            <a:bodyPr anchor="ctr" rtlCol="false" tIns="50800" lIns="50800" bIns="50800" rIns="50800"/>
            <a:lstStyle/>
            <a:p>
              <a:pPr algn="l">
                <a:lnSpc>
                  <a:spcPts val="1679"/>
                </a:lnSpc>
              </a:pPr>
            </a:p>
          </p:txBody>
        </p:sp>
      </p:grpSp>
      <p:grpSp>
        <p:nvGrpSpPr>
          <p:cNvPr name="Group 44" id="44"/>
          <p:cNvGrpSpPr/>
          <p:nvPr/>
        </p:nvGrpSpPr>
        <p:grpSpPr>
          <a:xfrm rot="0">
            <a:off x="13379768" y="3429000"/>
            <a:ext cx="1814512" cy="2095500"/>
            <a:chOff x="0" y="0"/>
            <a:chExt cx="2419350" cy="2794000"/>
          </a:xfrm>
        </p:grpSpPr>
        <p:sp>
          <p:nvSpPr>
            <p:cNvPr name="Freeform 45" id="45"/>
            <p:cNvSpPr/>
            <p:nvPr/>
          </p:nvSpPr>
          <p:spPr>
            <a:xfrm flipH="false" flipV="false" rot="0">
              <a:off x="0" y="0"/>
              <a:ext cx="2419350" cy="2794000"/>
            </a:xfrm>
            <a:custGeom>
              <a:avLst/>
              <a:gdLst/>
              <a:ahLst/>
              <a:cxnLst/>
              <a:rect r="r" b="b" t="t" l="l"/>
              <a:pathLst>
                <a:path h="2794000" w="2419350">
                  <a:moveTo>
                    <a:pt x="1210310" y="0"/>
                  </a:moveTo>
                  <a:lnTo>
                    <a:pt x="2419350" y="698500"/>
                  </a:lnTo>
                  <a:lnTo>
                    <a:pt x="2419350" y="2095500"/>
                  </a:lnTo>
                  <a:lnTo>
                    <a:pt x="1210310" y="2794000"/>
                  </a:lnTo>
                  <a:lnTo>
                    <a:pt x="0" y="2095500"/>
                  </a:lnTo>
                  <a:lnTo>
                    <a:pt x="0" y="698500"/>
                  </a:lnTo>
                  <a:close/>
                  <a:moveTo>
                    <a:pt x="44450" y="723900"/>
                  </a:moveTo>
                  <a:lnTo>
                    <a:pt x="44450" y="2070100"/>
                  </a:lnTo>
                  <a:lnTo>
                    <a:pt x="1210310" y="2743200"/>
                  </a:lnTo>
                  <a:lnTo>
                    <a:pt x="2376170" y="2070100"/>
                  </a:lnTo>
                  <a:lnTo>
                    <a:pt x="2376170" y="723900"/>
                  </a:lnTo>
                  <a:lnTo>
                    <a:pt x="1210310" y="50800"/>
                  </a:lnTo>
                  <a:close/>
                </a:path>
              </a:pathLst>
            </a:custGeom>
            <a:solidFill>
              <a:srgbClr val="5EC6B8"/>
            </a:solidFill>
          </p:spPr>
        </p:sp>
        <p:sp>
          <p:nvSpPr>
            <p:cNvPr name="TextBox 46" id="46"/>
            <p:cNvSpPr txBox="true"/>
            <p:nvPr/>
          </p:nvSpPr>
          <p:spPr>
            <a:xfrm>
              <a:off x="0" y="-38100"/>
              <a:ext cx="2419350" cy="28321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13190220" y="3209925"/>
            <a:ext cx="2194560" cy="2533650"/>
            <a:chOff x="0" y="0"/>
            <a:chExt cx="2926080" cy="3378200"/>
          </a:xfrm>
        </p:grpSpPr>
        <p:sp>
          <p:nvSpPr>
            <p:cNvPr name="Freeform 48" id="48"/>
            <p:cNvSpPr/>
            <p:nvPr/>
          </p:nvSpPr>
          <p:spPr>
            <a:xfrm flipH="false" flipV="false" rot="0">
              <a:off x="0" y="0"/>
              <a:ext cx="2926080" cy="3378200"/>
            </a:xfrm>
            <a:custGeom>
              <a:avLst/>
              <a:gdLst/>
              <a:ahLst/>
              <a:cxnLst/>
              <a:rect r="r" b="b" t="t" l="l"/>
              <a:pathLst>
                <a:path h="3378200" w="2926080">
                  <a:moveTo>
                    <a:pt x="1463040" y="0"/>
                  </a:moveTo>
                  <a:lnTo>
                    <a:pt x="2926080" y="844550"/>
                  </a:lnTo>
                  <a:lnTo>
                    <a:pt x="2926080" y="2533650"/>
                  </a:lnTo>
                  <a:lnTo>
                    <a:pt x="1463040" y="3378200"/>
                  </a:lnTo>
                  <a:lnTo>
                    <a:pt x="0" y="2533650"/>
                  </a:lnTo>
                  <a:lnTo>
                    <a:pt x="0" y="844550"/>
                  </a:lnTo>
                  <a:close/>
                  <a:moveTo>
                    <a:pt x="21590" y="857250"/>
                  </a:moveTo>
                  <a:lnTo>
                    <a:pt x="21590" y="2520950"/>
                  </a:lnTo>
                  <a:lnTo>
                    <a:pt x="1463040" y="3352800"/>
                  </a:lnTo>
                  <a:lnTo>
                    <a:pt x="2903220" y="2520950"/>
                  </a:lnTo>
                  <a:lnTo>
                    <a:pt x="2903220" y="857250"/>
                  </a:lnTo>
                  <a:lnTo>
                    <a:pt x="1463040" y="25400"/>
                  </a:lnTo>
                  <a:close/>
                </a:path>
              </a:pathLst>
            </a:custGeom>
            <a:solidFill>
              <a:srgbClr val="5EC6B8">
                <a:alpha val="40000"/>
              </a:srgbClr>
            </a:solidFill>
          </p:spPr>
        </p:sp>
        <p:sp>
          <p:nvSpPr>
            <p:cNvPr name="TextBox 49" id="49"/>
            <p:cNvSpPr txBox="true"/>
            <p:nvPr/>
          </p:nvSpPr>
          <p:spPr>
            <a:xfrm>
              <a:off x="0" y="-38100"/>
              <a:ext cx="2926080" cy="3416300"/>
            </a:xfrm>
            <a:prstGeom prst="rect">
              <a:avLst/>
            </a:prstGeom>
          </p:spPr>
          <p:txBody>
            <a:bodyPr anchor="ctr" rtlCol="false" tIns="50800" lIns="50800" bIns="50800" rIns="50800"/>
            <a:lstStyle/>
            <a:p>
              <a:pPr algn="l">
                <a:lnSpc>
                  <a:spcPts val="1679"/>
                </a:lnSpc>
              </a:pPr>
            </a:p>
          </p:txBody>
        </p:sp>
      </p:grpSp>
      <p:grpSp>
        <p:nvGrpSpPr>
          <p:cNvPr name="Group 50" id="50"/>
          <p:cNvGrpSpPr/>
          <p:nvPr/>
        </p:nvGrpSpPr>
        <p:grpSpPr>
          <a:xfrm rot="0">
            <a:off x="13874115" y="4103370"/>
            <a:ext cx="844868" cy="747712"/>
            <a:chOff x="0" y="0"/>
            <a:chExt cx="1126490" cy="996950"/>
          </a:xfrm>
        </p:grpSpPr>
        <p:sp>
          <p:nvSpPr>
            <p:cNvPr name="Freeform 51" id="51"/>
            <p:cNvSpPr/>
            <p:nvPr/>
          </p:nvSpPr>
          <p:spPr>
            <a:xfrm flipH="false" flipV="false" rot="0">
              <a:off x="0" y="0"/>
              <a:ext cx="1126490" cy="996950"/>
            </a:xfrm>
            <a:custGeom>
              <a:avLst/>
              <a:gdLst/>
              <a:ahLst/>
              <a:cxnLst/>
              <a:rect r="r" b="b" t="t" l="l"/>
              <a:pathLst>
                <a:path h="996950" w="1126490">
                  <a:moveTo>
                    <a:pt x="0" y="82550"/>
                  </a:moveTo>
                  <a:lnTo>
                    <a:pt x="1092200" y="539750"/>
                  </a:lnTo>
                  <a:lnTo>
                    <a:pt x="1126490" y="457200"/>
                  </a:lnTo>
                  <a:lnTo>
                    <a:pt x="34290" y="0"/>
                  </a:lnTo>
                  <a:close/>
                  <a:moveTo>
                    <a:pt x="34290" y="996950"/>
                  </a:moveTo>
                  <a:lnTo>
                    <a:pt x="1126490" y="539750"/>
                  </a:lnTo>
                  <a:lnTo>
                    <a:pt x="1092200" y="457200"/>
                  </a:lnTo>
                  <a:lnTo>
                    <a:pt x="0" y="914400"/>
                  </a:lnTo>
                  <a:close/>
                </a:path>
              </a:pathLst>
            </a:custGeom>
            <a:solidFill>
              <a:srgbClr val="5EC6B8"/>
            </a:solidFill>
          </p:spPr>
        </p:sp>
        <p:sp>
          <p:nvSpPr>
            <p:cNvPr name="TextBox 52" id="52"/>
            <p:cNvSpPr txBox="true"/>
            <p:nvPr/>
          </p:nvSpPr>
          <p:spPr>
            <a:xfrm>
              <a:off x="0" y="-38100"/>
              <a:ext cx="1126490" cy="1035050"/>
            </a:xfrm>
            <a:prstGeom prst="rect">
              <a:avLst/>
            </a:prstGeom>
          </p:spPr>
          <p:txBody>
            <a:bodyPr anchor="ctr" rtlCol="false" tIns="50800" lIns="50800" bIns="50800" rIns="50800"/>
            <a:lstStyle/>
            <a:p>
              <a:pPr algn="l">
                <a:lnSpc>
                  <a:spcPts val="1679"/>
                </a:lnSpc>
              </a:pPr>
            </a:p>
          </p:txBody>
        </p:sp>
      </p:grpSp>
      <p:grpSp>
        <p:nvGrpSpPr>
          <p:cNvPr name="Group 53" id="53"/>
          <p:cNvGrpSpPr/>
          <p:nvPr/>
        </p:nvGrpSpPr>
        <p:grpSpPr>
          <a:xfrm rot="0">
            <a:off x="13773150" y="4019550"/>
            <a:ext cx="228600" cy="914400"/>
            <a:chOff x="0" y="0"/>
            <a:chExt cx="304800" cy="1219200"/>
          </a:xfrm>
        </p:grpSpPr>
        <p:sp>
          <p:nvSpPr>
            <p:cNvPr name="Freeform 54" id="54"/>
            <p:cNvSpPr/>
            <p:nvPr/>
          </p:nvSpPr>
          <p:spPr>
            <a:xfrm flipH="false" flipV="false" rot="0">
              <a:off x="0" y="0"/>
              <a:ext cx="304800" cy="1219200"/>
            </a:xfrm>
            <a:custGeom>
              <a:avLst/>
              <a:gdLst/>
              <a:ahLst/>
              <a:cxnLst/>
              <a:rect r="r" b="b" t="t" l="l"/>
              <a:pathLst>
                <a:path h="1219200" w="304800">
                  <a:moveTo>
                    <a:pt x="0" y="152400"/>
                  </a:moveTo>
                  <a:cubicBezTo>
                    <a:pt x="0" y="68232"/>
                    <a:pt x="68232" y="0"/>
                    <a:pt x="152400" y="0"/>
                  </a:cubicBezTo>
                  <a:cubicBezTo>
                    <a:pt x="236568" y="0"/>
                    <a:pt x="304800" y="68232"/>
                    <a:pt x="304800" y="152400"/>
                  </a:cubicBezTo>
                  <a:cubicBezTo>
                    <a:pt x="304800" y="236568"/>
                    <a:pt x="236568" y="304800"/>
                    <a:pt x="152400" y="304800"/>
                  </a:cubicBezTo>
                  <a:cubicBezTo>
                    <a:pt x="68232" y="304800"/>
                    <a:pt x="0" y="236568"/>
                    <a:pt x="0" y="152400"/>
                  </a:cubicBezTo>
                  <a:close/>
                  <a:moveTo>
                    <a:pt x="0" y="1066800"/>
                  </a:moveTo>
                  <a:cubicBezTo>
                    <a:pt x="0" y="982632"/>
                    <a:pt x="68232" y="914400"/>
                    <a:pt x="152400" y="914400"/>
                  </a:cubicBezTo>
                  <a:cubicBezTo>
                    <a:pt x="236568" y="914400"/>
                    <a:pt x="304800" y="982632"/>
                    <a:pt x="304800" y="1066800"/>
                  </a:cubicBezTo>
                  <a:cubicBezTo>
                    <a:pt x="304800" y="1150968"/>
                    <a:pt x="236568" y="1219200"/>
                    <a:pt x="152400" y="1219200"/>
                  </a:cubicBezTo>
                  <a:cubicBezTo>
                    <a:pt x="68232" y="1219200"/>
                    <a:pt x="0" y="1150968"/>
                    <a:pt x="0" y="1066800"/>
                  </a:cubicBezTo>
                  <a:close/>
                </a:path>
              </a:pathLst>
            </a:custGeom>
            <a:solidFill>
              <a:srgbClr val="5EC6B8"/>
            </a:solidFill>
          </p:spPr>
        </p:sp>
        <p:sp>
          <p:nvSpPr>
            <p:cNvPr name="TextBox 55" id="55"/>
            <p:cNvSpPr txBox="true"/>
            <p:nvPr/>
          </p:nvSpPr>
          <p:spPr>
            <a:xfrm>
              <a:off x="0" y="-38100"/>
              <a:ext cx="304800" cy="1257300"/>
            </a:xfrm>
            <a:prstGeom prst="rect">
              <a:avLst/>
            </a:prstGeom>
          </p:spPr>
          <p:txBody>
            <a:bodyPr anchor="ctr" rtlCol="false" tIns="50800" lIns="50800" bIns="50800" rIns="50800"/>
            <a:lstStyle/>
            <a:p>
              <a:pPr algn="l">
                <a:lnSpc>
                  <a:spcPts val="1679"/>
                </a:lnSpc>
              </a:pPr>
            </a:p>
          </p:txBody>
        </p:sp>
      </p:grpSp>
      <p:grpSp>
        <p:nvGrpSpPr>
          <p:cNvPr name="Group 56" id="56"/>
          <p:cNvGrpSpPr/>
          <p:nvPr/>
        </p:nvGrpSpPr>
        <p:grpSpPr>
          <a:xfrm rot="0">
            <a:off x="14397038" y="4167188"/>
            <a:ext cx="619125" cy="619125"/>
            <a:chOff x="0" y="0"/>
            <a:chExt cx="825500" cy="825500"/>
          </a:xfrm>
        </p:grpSpPr>
        <p:sp>
          <p:nvSpPr>
            <p:cNvPr name="Freeform 57" id="57"/>
            <p:cNvSpPr/>
            <p:nvPr/>
          </p:nvSpPr>
          <p:spPr>
            <a:xfrm flipH="false" flipV="false" rot="0">
              <a:off x="0" y="0"/>
              <a:ext cx="825500" cy="825500"/>
            </a:xfrm>
            <a:custGeom>
              <a:avLst/>
              <a:gdLst/>
              <a:ahLst/>
              <a:cxnLst/>
              <a:rect r="r" b="b" t="t" l="l"/>
              <a:pathLst>
                <a:path h="825500" w="825500">
                  <a:moveTo>
                    <a:pt x="0" y="412750"/>
                  </a:moveTo>
                  <a:cubicBezTo>
                    <a:pt x="0" y="184794"/>
                    <a:pt x="184794" y="0"/>
                    <a:pt x="412750" y="0"/>
                  </a:cubicBezTo>
                  <a:cubicBezTo>
                    <a:pt x="640706" y="0"/>
                    <a:pt x="825500" y="184794"/>
                    <a:pt x="825500" y="412750"/>
                  </a:cubicBezTo>
                  <a:cubicBezTo>
                    <a:pt x="825500" y="640706"/>
                    <a:pt x="640706" y="825500"/>
                    <a:pt x="412750" y="825500"/>
                  </a:cubicBezTo>
                  <a:cubicBezTo>
                    <a:pt x="184794" y="825500"/>
                    <a:pt x="0" y="640706"/>
                    <a:pt x="0" y="412750"/>
                  </a:cubicBezTo>
                  <a:close/>
                  <a:moveTo>
                    <a:pt x="38100" y="412750"/>
                  </a:moveTo>
                  <a:cubicBezTo>
                    <a:pt x="38100" y="619663"/>
                    <a:pt x="205837" y="787400"/>
                    <a:pt x="412750" y="787400"/>
                  </a:cubicBezTo>
                  <a:cubicBezTo>
                    <a:pt x="619663" y="787400"/>
                    <a:pt x="787400" y="619663"/>
                    <a:pt x="787400" y="412750"/>
                  </a:cubicBezTo>
                  <a:cubicBezTo>
                    <a:pt x="787400" y="205837"/>
                    <a:pt x="619663" y="38100"/>
                    <a:pt x="412750" y="38100"/>
                  </a:cubicBezTo>
                  <a:cubicBezTo>
                    <a:pt x="205837" y="38100"/>
                    <a:pt x="38100" y="205837"/>
                    <a:pt x="38100" y="412750"/>
                  </a:cubicBezTo>
                  <a:close/>
                </a:path>
              </a:pathLst>
            </a:custGeom>
            <a:solidFill>
              <a:srgbClr val="FFE45C">
                <a:alpha val="54902"/>
              </a:srgbClr>
            </a:solidFill>
          </p:spPr>
        </p:sp>
        <p:sp>
          <p:nvSpPr>
            <p:cNvPr name="TextBox 58" id="58"/>
            <p:cNvSpPr txBox="true"/>
            <p:nvPr/>
          </p:nvSpPr>
          <p:spPr>
            <a:xfrm>
              <a:off x="0" y="-38100"/>
              <a:ext cx="825500" cy="863600"/>
            </a:xfrm>
            <a:prstGeom prst="rect">
              <a:avLst/>
            </a:prstGeom>
          </p:spPr>
          <p:txBody>
            <a:bodyPr anchor="ctr" rtlCol="false" tIns="50800" lIns="50800" bIns="50800" rIns="50800"/>
            <a:lstStyle/>
            <a:p>
              <a:pPr algn="l">
                <a:lnSpc>
                  <a:spcPts val="1679"/>
                </a:lnSpc>
              </a:pPr>
            </a:p>
          </p:txBody>
        </p:sp>
      </p:grpSp>
      <p:grpSp>
        <p:nvGrpSpPr>
          <p:cNvPr name="Group 59" id="59"/>
          <p:cNvGrpSpPr/>
          <p:nvPr/>
        </p:nvGrpSpPr>
        <p:grpSpPr>
          <a:xfrm rot="0">
            <a:off x="14535150" y="4305300"/>
            <a:ext cx="342900" cy="342900"/>
            <a:chOff x="0" y="0"/>
            <a:chExt cx="457200" cy="457200"/>
          </a:xfrm>
        </p:grpSpPr>
        <p:sp>
          <p:nvSpPr>
            <p:cNvPr name="Freeform 60" id="60"/>
            <p:cNvSpPr/>
            <p:nvPr/>
          </p:nvSpPr>
          <p:spPr>
            <a:xfrm flipH="false" flipV="false" rot="0">
              <a:off x="0" y="0"/>
              <a:ext cx="457200" cy="457200"/>
            </a:xfrm>
            <a:custGeom>
              <a:avLst/>
              <a:gdLst/>
              <a:ahLst/>
              <a:cxnLst/>
              <a:rect r="r" b="b" t="t" l="l"/>
              <a:pathLst>
                <a:path h="457200" w="457200">
                  <a:moveTo>
                    <a:pt x="0" y="228600"/>
                  </a:moveTo>
                  <a:cubicBezTo>
                    <a:pt x="0" y="102348"/>
                    <a:pt x="102348" y="0"/>
                    <a:pt x="228600" y="0"/>
                  </a:cubicBezTo>
                  <a:cubicBezTo>
                    <a:pt x="354852" y="0"/>
                    <a:pt x="457200" y="102348"/>
                    <a:pt x="457200" y="228600"/>
                  </a:cubicBezTo>
                  <a:cubicBezTo>
                    <a:pt x="457200" y="354852"/>
                    <a:pt x="354852" y="457200"/>
                    <a:pt x="228600" y="457200"/>
                  </a:cubicBezTo>
                  <a:cubicBezTo>
                    <a:pt x="102348" y="457200"/>
                    <a:pt x="0" y="354852"/>
                    <a:pt x="0" y="228600"/>
                  </a:cubicBezTo>
                  <a:close/>
                </a:path>
              </a:pathLst>
            </a:custGeom>
            <a:solidFill>
              <a:srgbClr val="FFE45C"/>
            </a:solidFill>
          </p:spPr>
        </p:sp>
        <p:sp>
          <p:nvSpPr>
            <p:cNvPr name="TextBox 61" id="61"/>
            <p:cNvSpPr txBox="true"/>
            <p:nvPr/>
          </p:nvSpPr>
          <p:spPr>
            <a:xfrm>
              <a:off x="0" y="-38100"/>
              <a:ext cx="457200" cy="495300"/>
            </a:xfrm>
            <a:prstGeom prst="rect">
              <a:avLst/>
            </a:prstGeom>
          </p:spPr>
          <p:txBody>
            <a:bodyPr anchor="ctr" rtlCol="false" tIns="50800" lIns="50800" bIns="50800" rIns="50800"/>
            <a:lstStyle/>
            <a:p>
              <a:pPr algn="l">
                <a:lnSpc>
                  <a:spcPts val="1679"/>
                </a:lnSpc>
              </a:pPr>
            </a:p>
          </p:txBody>
        </p:sp>
      </p:grpSp>
      <p:grpSp>
        <p:nvGrpSpPr>
          <p:cNvPr name="Group 62" id="62"/>
          <p:cNvGrpSpPr/>
          <p:nvPr/>
        </p:nvGrpSpPr>
        <p:grpSpPr>
          <a:xfrm rot="0">
            <a:off x="586325" y="6657975"/>
            <a:ext cx="7848600" cy="57150"/>
            <a:chOff x="0" y="0"/>
            <a:chExt cx="10464800" cy="76200"/>
          </a:xfrm>
        </p:grpSpPr>
        <p:grpSp>
          <p:nvGrpSpPr>
            <p:cNvPr name="Group 63" id="63"/>
            <p:cNvGrpSpPr/>
            <p:nvPr/>
          </p:nvGrpSpPr>
          <p:grpSpPr>
            <a:xfrm rot="0">
              <a:off x="0" y="0"/>
              <a:ext cx="2540000" cy="76200"/>
              <a:chOff x="0" y="0"/>
              <a:chExt cx="2540000" cy="76200"/>
            </a:xfrm>
          </p:grpSpPr>
          <p:sp>
            <p:nvSpPr>
              <p:cNvPr name="Freeform 64" id="64"/>
              <p:cNvSpPr/>
              <p:nvPr/>
            </p:nvSpPr>
            <p:spPr>
              <a:xfrm flipH="false" flipV="false" rot="0">
                <a:off x="0" y="0"/>
                <a:ext cx="2539997" cy="76200"/>
              </a:xfrm>
              <a:custGeom>
                <a:avLst/>
                <a:gdLst/>
                <a:ahLst/>
                <a:cxnLst/>
                <a:rect r="r" b="b" t="t" l="l"/>
                <a:pathLst>
                  <a:path h="76200" w="2539997">
                    <a:moveTo>
                      <a:pt x="0" y="0"/>
                    </a:moveTo>
                    <a:lnTo>
                      <a:pt x="2539997" y="0"/>
                    </a:lnTo>
                    <a:lnTo>
                      <a:pt x="2539997" y="76200"/>
                    </a:lnTo>
                    <a:lnTo>
                      <a:pt x="0" y="76200"/>
                    </a:lnTo>
                    <a:close/>
                  </a:path>
                </a:pathLst>
              </a:custGeom>
              <a:solidFill>
                <a:srgbClr val="0D8F83"/>
              </a:solidFill>
            </p:spPr>
          </p:sp>
        </p:grpSp>
        <p:grpSp>
          <p:nvGrpSpPr>
            <p:cNvPr name="Group 65" id="65"/>
            <p:cNvGrpSpPr/>
            <p:nvPr/>
          </p:nvGrpSpPr>
          <p:grpSpPr>
            <a:xfrm rot="0">
              <a:off x="2641600" y="0"/>
              <a:ext cx="2540000" cy="76200"/>
              <a:chOff x="0" y="0"/>
              <a:chExt cx="2540000" cy="76200"/>
            </a:xfrm>
          </p:grpSpPr>
          <p:sp>
            <p:nvSpPr>
              <p:cNvPr name="Freeform 66" id="66"/>
              <p:cNvSpPr/>
              <p:nvPr/>
            </p:nvSpPr>
            <p:spPr>
              <a:xfrm flipH="false" flipV="false" rot="0">
                <a:off x="0" y="0"/>
                <a:ext cx="2540000" cy="76200"/>
              </a:xfrm>
              <a:custGeom>
                <a:avLst/>
                <a:gdLst/>
                <a:ahLst/>
                <a:cxnLst/>
                <a:rect r="r" b="b" t="t" l="l"/>
                <a:pathLst>
                  <a:path h="76200" w="2540000">
                    <a:moveTo>
                      <a:pt x="0" y="0"/>
                    </a:moveTo>
                    <a:lnTo>
                      <a:pt x="2540000" y="0"/>
                    </a:lnTo>
                    <a:lnTo>
                      <a:pt x="2540000" y="76200"/>
                    </a:lnTo>
                    <a:lnTo>
                      <a:pt x="0" y="76200"/>
                    </a:lnTo>
                    <a:close/>
                  </a:path>
                </a:pathLst>
              </a:custGeom>
              <a:solidFill>
                <a:srgbClr val="E8B44C"/>
              </a:solidFill>
            </p:spPr>
          </p:sp>
          <p:sp>
            <p:nvSpPr>
              <p:cNvPr name="TextBox 67" id="67"/>
              <p:cNvSpPr txBox="true"/>
              <p:nvPr/>
            </p:nvSpPr>
            <p:spPr>
              <a:xfrm>
                <a:off x="0" y="-38100"/>
                <a:ext cx="2540000" cy="114300"/>
              </a:xfrm>
              <a:prstGeom prst="rect">
                <a:avLst/>
              </a:prstGeom>
            </p:spPr>
            <p:txBody>
              <a:bodyPr anchor="ctr" rtlCol="false" tIns="50800" lIns="50800" bIns="50800" rIns="50800"/>
              <a:lstStyle/>
              <a:p>
                <a:pPr algn="l">
                  <a:lnSpc>
                    <a:spcPts val="1679"/>
                  </a:lnSpc>
                </a:pPr>
              </a:p>
            </p:txBody>
          </p:sp>
        </p:grpSp>
        <p:grpSp>
          <p:nvGrpSpPr>
            <p:cNvPr name="Group 68" id="68"/>
            <p:cNvGrpSpPr/>
            <p:nvPr/>
          </p:nvGrpSpPr>
          <p:grpSpPr>
            <a:xfrm rot="0">
              <a:off x="5283200" y="0"/>
              <a:ext cx="2540000" cy="76200"/>
              <a:chOff x="0" y="0"/>
              <a:chExt cx="2540000" cy="76200"/>
            </a:xfrm>
          </p:grpSpPr>
          <p:sp>
            <p:nvSpPr>
              <p:cNvPr name="Freeform 69" id="69"/>
              <p:cNvSpPr/>
              <p:nvPr/>
            </p:nvSpPr>
            <p:spPr>
              <a:xfrm flipH="false" flipV="false" rot="0">
                <a:off x="0" y="0"/>
                <a:ext cx="2540000" cy="76200"/>
              </a:xfrm>
              <a:custGeom>
                <a:avLst/>
                <a:gdLst/>
                <a:ahLst/>
                <a:cxnLst/>
                <a:rect r="r" b="b" t="t" l="l"/>
                <a:pathLst>
                  <a:path h="76200" w="2540000">
                    <a:moveTo>
                      <a:pt x="0" y="0"/>
                    </a:moveTo>
                    <a:lnTo>
                      <a:pt x="2540000" y="0"/>
                    </a:lnTo>
                    <a:lnTo>
                      <a:pt x="2540000" y="76200"/>
                    </a:lnTo>
                    <a:lnTo>
                      <a:pt x="0" y="76200"/>
                    </a:lnTo>
                    <a:close/>
                  </a:path>
                </a:pathLst>
              </a:custGeom>
              <a:solidFill>
                <a:srgbClr val="5B59E0"/>
              </a:solidFill>
            </p:spPr>
          </p:sp>
          <p:sp>
            <p:nvSpPr>
              <p:cNvPr name="TextBox 70" id="70"/>
              <p:cNvSpPr txBox="true"/>
              <p:nvPr/>
            </p:nvSpPr>
            <p:spPr>
              <a:xfrm>
                <a:off x="0" y="-38100"/>
                <a:ext cx="2540000" cy="114300"/>
              </a:xfrm>
              <a:prstGeom prst="rect">
                <a:avLst/>
              </a:prstGeom>
            </p:spPr>
            <p:txBody>
              <a:bodyPr anchor="ctr" rtlCol="false" tIns="50800" lIns="50800" bIns="50800" rIns="50800"/>
              <a:lstStyle/>
              <a:p>
                <a:pPr algn="l">
                  <a:lnSpc>
                    <a:spcPts val="1679"/>
                  </a:lnSpc>
                </a:pPr>
              </a:p>
            </p:txBody>
          </p:sp>
        </p:grpSp>
        <p:grpSp>
          <p:nvGrpSpPr>
            <p:cNvPr name="Group 71" id="71"/>
            <p:cNvGrpSpPr/>
            <p:nvPr/>
          </p:nvGrpSpPr>
          <p:grpSpPr>
            <a:xfrm rot="0">
              <a:off x="7924800" y="0"/>
              <a:ext cx="2540000" cy="76200"/>
              <a:chOff x="0" y="0"/>
              <a:chExt cx="2540000" cy="76200"/>
            </a:xfrm>
          </p:grpSpPr>
          <p:sp>
            <p:nvSpPr>
              <p:cNvPr name="Freeform 72" id="72"/>
              <p:cNvSpPr/>
              <p:nvPr/>
            </p:nvSpPr>
            <p:spPr>
              <a:xfrm flipH="false" flipV="false" rot="0">
                <a:off x="0" y="0"/>
                <a:ext cx="2540000" cy="76200"/>
              </a:xfrm>
              <a:custGeom>
                <a:avLst/>
                <a:gdLst/>
                <a:ahLst/>
                <a:cxnLst/>
                <a:rect r="r" b="b" t="t" l="l"/>
                <a:pathLst>
                  <a:path h="76200" w="2540000">
                    <a:moveTo>
                      <a:pt x="0" y="0"/>
                    </a:moveTo>
                    <a:lnTo>
                      <a:pt x="2540000" y="0"/>
                    </a:lnTo>
                    <a:lnTo>
                      <a:pt x="2540000" y="76200"/>
                    </a:lnTo>
                    <a:lnTo>
                      <a:pt x="0" y="76200"/>
                    </a:lnTo>
                    <a:close/>
                  </a:path>
                </a:pathLst>
              </a:custGeom>
              <a:solidFill>
                <a:srgbClr val="C2374F"/>
              </a:solidFill>
            </p:spPr>
          </p:sp>
          <p:sp>
            <p:nvSpPr>
              <p:cNvPr name="TextBox 73" id="73"/>
              <p:cNvSpPr txBox="true"/>
              <p:nvPr/>
            </p:nvSpPr>
            <p:spPr>
              <a:xfrm>
                <a:off x="0" y="-38100"/>
                <a:ext cx="2540000" cy="114300"/>
              </a:xfrm>
              <a:prstGeom prst="rect">
                <a:avLst/>
              </a:prstGeom>
            </p:spPr>
            <p:txBody>
              <a:bodyPr anchor="ctr" rtlCol="false" tIns="50800" lIns="50800" bIns="50800" rIns="50800"/>
              <a:lstStyle/>
              <a:p>
                <a:pPr algn="l">
                  <a:lnSpc>
                    <a:spcPts val="1679"/>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DAHVvmhv-zM</dc:identifier>
  <dcterms:modified xsi:type="dcterms:W3CDTF">2011-08-01T06:04:30Z</dcterms:modified>
  <cp:revision>1</cp:revision>
  <dc:title>PipelineForge_Soutenance_MLOps.pptx</dc:title>
</cp:coreProperties>
</file>